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jpg" ContentType="image/jp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5540" y="239394"/>
            <a:ext cx="4450715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6071" y="1824058"/>
            <a:ext cx="10577195" cy="3444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5" Type="http://schemas.openxmlformats.org/officeDocument/2006/relationships/image" Target="../media/image10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xplorestaging.ieee.org/document/11634690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599" y="265163"/>
            <a:ext cx="4461510" cy="6300470"/>
            <a:chOff x="274599" y="265163"/>
            <a:chExt cx="4461510" cy="6300470"/>
          </a:xfrm>
        </p:grpSpPr>
        <p:sp>
          <p:nvSpPr>
            <p:cNvPr id="3" name="object 3"/>
            <p:cNvSpPr/>
            <p:nvPr/>
          </p:nvSpPr>
          <p:spPr>
            <a:xfrm>
              <a:off x="338137" y="328701"/>
              <a:ext cx="4333875" cy="6173470"/>
            </a:xfrm>
            <a:custGeom>
              <a:avLst/>
              <a:gdLst/>
              <a:ahLst/>
              <a:cxnLst/>
              <a:rect l="l" t="t" r="r" b="b"/>
              <a:pathLst>
                <a:path w="4333875" h="6173470">
                  <a:moveTo>
                    <a:pt x="4333875" y="0"/>
                  </a:moveTo>
                  <a:lnTo>
                    <a:pt x="0" y="0"/>
                  </a:lnTo>
                  <a:lnTo>
                    <a:pt x="0" y="6172962"/>
                  </a:lnTo>
                  <a:lnTo>
                    <a:pt x="4333875" y="6172962"/>
                  </a:lnTo>
                  <a:lnTo>
                    <a:pt x="4333875" y="0"/>
                  </a:lnTo>
                  <a:close/>
                </a:path>
              </a:pathLst>
            </a:custGeom>
            <a:solidFill>
              <a:srgbClr val="404040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38137" y="328701"/>
              <a:ext cx="4333875" cy="6173470"/>
            </a:xfrm>
            <a:custGeom>
              <a:avLst/>
              <a:gdLst/>
              <a:ahLst/>
              <a:cxnLst/>
              <a:rect l="l" t="t" r="r" b="b"/>
              <a:pathLst>
                <a:path w="4333875" h="6173470">
                  <a:moveTo>
                    <a:pt x="0" y="6172962"/>
                  </a:moveTo>
                  <a:lnTo>
                    <a:pt x="4333875" y="6172962"/>
                  </a:lnTo>
                  <a:lnTo>
                    <a:pt x="4333875" y="0"/>
                  </a:lnTo>
                  <a:lnTo>
                    <a:pt x="0" y="0"/>
                  </a:lnTo>
                  <a:lnTo>
                    <a:pt x="0" y="6172962"/>
                  </a:lnTo>
                  <a:close/>
                </a:path>
              </a:pathLst>
            </a:custGeom>
            <a:ln w="127076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90624" y="3410331"/>
              <a:ext cx="2590800" cy="10160"/>
            </a:xfrm>
            <a:custGeom>
              <a:avLst/>
              <a:gdLst/>
              <a:ahLst/>
              <a:cxnLst/>
              <a:rect l="l" t="t" r="r" b="b"/>
              <a:pathLst>
                <a:path w="2590800" h="10160">
                  <a:moveTo>
                    <a:pt x="0" y="0"/>
                  </a:moveTo>
                  <a:lnTo>
                    <a:pt x="2590800" y="9652"/>
                  </a:lnTo>
                </a:path>
              </a:pathLst>
            </a:custGeom>
            <a:ln w="2232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3578" y="1207239"/>
            <a:ext cx="6101122" cy="16189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7712" y="3962927"/>
            <a:ext cx="4882555" cy="1848082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79425" y="155321"/>
            <a:ext cx="3488690" cy="28308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53200"/>
              </a:lnSpc>
              <a:spcBef>
                <a:spcPts val="120"/>
              </a:spcBef>
            </a:pPr>
            <a:r>
              <a:rPr dirty="0">
                <a:solidFill>
                  <a:srgbClr val="FFFFFF"/>
                </a:solidFill>
                <a:latin typeface="Cambria"/>
                <a:cs typeface="Cambria"/>
              </a:rPr>
              <a:t>Multilingual</a:t>
            </a:r>
            <a:r>
              <a:rPr dirty="0" spc="-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pc="-10">
                <a:solidFill>
                  <a:srgbClr val="FFFFFF"/>
                </a:solidFill>
                <a:latin typeface="Cambria"/>
                <a:cs typeface="Cambria"/>
              </a:rPr>
              <a:t>Stuttering </a:t>
            </a:r>
            <a:r>
              <a:rPr dirty="0">
                <a:solidFill>
                  <a:srgbClr val="FFFFFF"/>
                </a:solidFill>
                <a:latin typeface="Cambria"/>
                <a:cs typeface="Cambria"/>
              </a:rPr>
              <a:t>Speech</a:t>
            </a:r>
            <a:r>
              <a:rPr dirty="0" spc="-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FFFFFF"/>
                </a:solidFill>
                <a:latin typeface="Cambria"/>
                <a:cs typeface="Cambria"/>
              </a:rPr>
              <a:t>Detection</a:t>
            </a:r>
            <a:r>
              <a:rPr dirty="0" spc="-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pc="-25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dirty="0" spc="-20">
                <a:solidFill>
                  <a:srgbClr val="FFFFFF"/>
                </a:solidFill>
                <a:latin typeface="Cambria"/>
                <a:cs typeface="Cambria"/>
              </a:rPr>
              <a:t>Transcription</a:t>
            </a:r>
            <a:r>
              <a:rPr dirty="0" spc="-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pc="-20">
                <a:solidFill>
                  <a:srgbClr val="FFFFFF"/>
                </a:solidFill>
                <a:latin typeface="Cambria"/>
                <a:cs typeface="Cambria"/>
              </a:rPr>
              <a:t>Using </a:t>
            </a:r>
            <a:r>
              <a:rPr dirty="0" spc="-10">
                <a:solidFill>
                  <a:srgbClr val="FFFFFF"/>
                </a:solidFill>
                <a:latin typeface="Cambria"/>
                <a:cs typeface="Cambria"/>
              </a:rPr>
              <a:t>Advanced</a:t>
            </a:r>
            <a:r>
              <a:rPr dirty="0" spc="-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FFFFFF"/>
                </a:solidFill>
                <a:latin typeface="Cambria"/>
                <a:cs typeface="Cambria"/>
              </a:rPr>
              <a:t>Deep</a:t>
            </a:r>
            <a:r>
              <a:rPr dirty="0" spc="-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pc="-10">
                <a:solidFill>
                  <a:srgbClr val="FFFFFF"/>
                </a:solidFill>
                <a:latin typeface="Cambria"/>
                <a:cs typeface="Cambria"/>
              </a:rPr>
              <a:t>Learning Techniques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2475" y="3541966"/>
            <a:ext cx="2752090" cy="217233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u="heavy" sz="1250" b="1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imes New Roman"/>
                <a:cs typeface="Times New Roman"/>
              </a:rPr>
              <a:t>SCHOLAR</a:t>
            </a:r>
            <a:r>
              <a:rPr dirty="0" u="heavy" sz="1250" spc="185" b="1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250" spc="-20" b="1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imes New Roman"/>
                <a:cs typeface="Times New Roman"/>
              </a:rPr>
              <a:t>NAME</a:t>
            </a:r>
            <a:endParaRPr sz="1250">
              <a:latin typeface="Times New Roman"/>
              <a:cs typeface="Times New Roman"/>
            </a:endParaRPr>
          </a:p>
          <a:p>
            <a:pPr marL="12700" marR="949960">
              <a:lnSpc>
                <a:spcPct val="140200"/>
              </a:lnSpc>
            </a:pPr>
            <a:r>
              <a:rPr dirty="0" sz="1250" b="1">
                <a:solidFill>
                  <a:srgbClr val="FFFFFF"/>
                </a:solidFill>
                <a:latin typeface="Times New Roman"/>
                <a:cs typeface="Times New Roman"/>
              </a:rPr>
              <a:t>Mr.</a:t>
            </a:r>
            <a:r>
              <a:rPr dirty="0" sz="1250" spc="1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FFFFF"/>
                </a:solidFill>
                <a:latin typeface="Times New Roman"/>
                <a:cs typeface="Times New Roman"/>
              </a:rPr>
              <a:t>MOHANKUMAR</a:t>
            </a:r>
            <a:r>
              <a:rPr dirty="0" sz="1250" spc="1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60" b="1">
                <a:solidFill>
                  <a:srgbClr val="FFFFFF"/>
                </a:solidFill>
                <a:latin typeface="Times New Roman"/>
                <a:cs typeface="Times New Roman"/>
              </a:rPr>
              <a:t>M </a:t>
            </a:r>
            <a:r>
              <a:rPr dirty="0" sz="1250" spc="-10" b="1">
                <a:solidFill>
                  <a:srgbClr val="FFFFFF"/>
                </a:solidFill>
                <a:latin typeface="Times New Roman"/>
                <a:cs typeface="Times New Roman"/>
              </a:rPr>
              <a:t>RA2513003011012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090"/>
              </a:lnSpc>
            </a:pP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Ph.D-Computer</a:t>
            </a:r>
            <a:r>
              <a:rPr dirty="0" sz="125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dirty="0" sz="125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5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390"/>
              </a:lnSpc>
            </a:pP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Category:</a:t>
            </a:r>
            <a:r>
              <a:rPr dirty="0" sz="125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Full</a:t>
            </a:r>
            <a:r>
              <a:rPr dirty="0" sz="125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endParaRPr sz="1250">
              <a:latin typeface="Times New Roman"/>
              <a:cs typeface="Times New Roman"/>
            </a:endParaRPr>
          </a:p>
          <a:p>
            <a:pPr marL="12700" marR="719455">
              <a:lnSpc>
                <a:spcPct val="155300"/>
              </a:lnSpc>
              <a:spcBef>
                <a:spcPts val="150"/>
              </a:spcBef>
            </a:pPr>
            <a:r>
              <a:rPr dirty="0" u="heavy" sz="1250" b="1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heavy" sz="1250" spc="170" b="1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250" spc="-10" b="1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imes New Roman"/>
                <a:cs typeface="Times New Roman"/>
              </a:rPr>
              <a:t>SUPERVISOR</a:t>
            </a:r>
            <a:r>
              <a:rPr dirty="0" sz="1250" spc="-10" b="1">
                <a:solidFill>
                  <a:srgbClr val="D9D9D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FFFFF"/>
                </a:solidFill>
                <a:latin typeface="Times New Roman"/>
                <a:cs typeface="Times New Roman"/>
              </a:rPr>
              <a:t>Dr.</a:t>
            </a:r>
            <a:r>
              <a:rPr dirty="0" sz="125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FFFFF"/>
                </a:solidFill>
                <a:latin typeface="Times New Roman"/>
                <a:cs typeface="Times New Roman"/>
              </a:rPr>
              <a:t>SASIKALA</a:t>
            </a:r>
            <a:r>
              <a:rPr dirty="0" sz="125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940"/>
              </a:lnSpc>
            </a:pPr>
            <a:r>
              <a:rPr dirty="0" sz="1250" spc="-10">
                <a:solidFill>
                  <a:srgbClr val="FFFFFF"/>
                </a:solidFill>
                <a:latin typeface="Times New Roman"/>
                <a:cs typeface="Times New Roman"/>
              </a:rPr>
              <a:t>Professor,DSBS</a:t>
            </a:r>
            <a:endParaRPr sz="1250">
              <a:latin typeface="Times New Roman"/>
              <a:cs typeface="Times New Roman"/>
            </a:endParaRPr>
          </a:p>
          <a:p>
            <a:pPr marL="12700" marR="83820">
              <a:lnSpc>
                <a:spcPct val="70200"/>
              </a:lnSpc>
              <a:spcBef>
                <a:spcPts val="259"/>
              </a:spcBef>
            </a:pP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Faculty</a:t>
            </a:r>
            <a:r>
              <a:rPr dirty="0" sz="125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25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125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5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imes New Roman"/>
                <a:cs typeface="Times New Roman"/>
              </a:rPr>
              <a:t>Technology, Kattankulathur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1621" y="6193790"/>
            <a:ext cx="655002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336165" marR="5080" indent="-232410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and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2613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0254" y="6230302"/>
            <a:ext cx="104965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r>
              <a:rPr dirty="0" sz="15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Aug</a:t>
            </a:r>
            <a:r>
              <a:rPr dirty="0" sz="15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0375" y="2953385"/>
            <a:ext cx="565467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b="1">
                <a:latin typeface="Times New Roman"/>
                <a:cs typeface="Times New Roman"/>
              </a:rPr>
              <a:t>Comprehensive</a:t>
            </a:r>
            <a:r>
              <a:rPr dirty="0" sz="3950" spc="-130" b="1">
                <a:latin typeface="Times New Roman"/>
                <a:cs typeface="Times New Roman"/>
              </a:rPr>
              <a:t> </a:t>
            </a:r>
            <a:r>
              <a:rPr dirty="0" sz="3950" b="1">
                <a:latin typeface="Times New Roman"/>
                <a:cs typeface="Times New Roman"/>
              </a:rPr>
              <a:t>Viva</a:t>
            </a:r>
            <a:r>
              <a:rPr dirty="0" sz="3950" spc="-125" b="1">
                <a:latin typeface="Times New Roman"/>
                <a:cs typeface="Times New Roman"/>
              </a:rPr>
              <a:t> </a:t>
            </a:r>
            <a:r>
              <a:rPr dirty="0" sz="3950" spc="-20" b="1">
                <a:latin typeface="Times New Roman"/>
                <a:cs typeface="Times New Roman"/>
              </a:rPr>
              <a:t>Voce</a:t>
            </a:r>
            <a:endParaRPr sz="3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5095" y="392811"/>
            <a:ext cx="1791970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10"/>
              <a:t>AGENDA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155440" y="6343015"/>
            <a:ext cx="585533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625600" marR="5080" indent="-161353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3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and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 Advanced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 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942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86635" y="840041"/>
            <a:ext cx="2525395" cy="5018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b="1">
                <a:solidFill>
                  <a:srgbClr val="44536A"/>
                </a:solidFill>
                <a:latin typeface="Times New Roman"/>
                <a:cs typeface="Times New Roman"/>
              </a:rPr>
              <a:t>Course</a:t>
            </a:r>
            <a:r>
              <a:rPr dirty="0" sz="2000" spc="-114" b="1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Work</a:t>
            </a:r>
            <a:r>
              <a:rPr dirty="0" sz="2000" spc="-50" b="1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Details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Introduction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22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b="1">
                <a:solidFill>
                  <a:srgbClr val="44536A"/>
                </a:solidFill>
                <a:latin typeface="Times New Roman"/>
                <a:cs typeface="Times New Roman"/>
              </a:rPr>
              <a:t>Literature</a:t>
            </a:r>
            <a:r>
              <a:rPr dirty="0" sz="2000" spc="-60" b="1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Survey</a:t>
            </a:r>
            <a:endParaRPr sz="20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1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Research</a:t>
            </a:r>
            <a:r>
              <a:rPr dirty="0" sz="2000" spc="-55" b="1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44536A"/>
                </a:solidFill>
                <a:latin typeface="Times New Roman"/>
                <a:cs typeface="Times New Roman"/>
              </a:rPr>
              <a:t>Gap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b="1">
                <a:solidFill>
                  <a:srgbClr val="44536A"/>
                </a:solidFill>
                <a:latin typeface="Times New Roman"/>
                <a:cs typeface="Times New Roman"/>
              </a:rPr>
              <a:t>Problem</a:t>
            </a:r>
            <a:r>
              <a:rPr dirty="0" sz="2000" spc="-75" b="1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22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Objectives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Publications</a:t>
            </a:r>
            <a:endParaRPr sz="20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1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000" b="1">
                <a:solidFill>
                  <a:srgbClr val="44536A"/>
                </a:solidFill>
                <a:latin typeface="Times New Roman"/>
                <a:cs typeface="Times New Roman"/>
              </a:rPr>
              <a:t>Timeline</a:t>
            </a:r>
            <a:r>
              <a:rPr dirty="0" sz="2000" spc="-80" b="1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Layout</a:t>
            </a:r>
            <a:endParaRPr sz="20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25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000" spc="-10" b="1">
                <a:solidFill>
                  <a:srgbClr val="44536A"/>
                </a:solidFill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14165" y="411861"/>
            <a:ext cx="5008880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/>
              <a:t>COURSE</a:t>
            </a:r>
            <a:r>
              <a:rPr dirty="0" sz="3200" spc="-145"/>
              <a:t> </a:t>
            </a:r>
            <a:r>
              <a:rPr dirty="0" sz="3200"/>
              <a:t>WORK</a:t>
            </a:r>
            <a:r>
              <a:rPr dirty="0" sz="3200" spc="-125"/>
              <a:t> </a:t>
            </a:r>
            <a:r>
              <a:rPr dirty="0" sz="3200" spc="-10"/>
              <a:t>DETAILS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4171" y="1824058"/>
          <a:ext cx="10577195" cy="344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8275"/>
                <a:gridCol w="4253230"/>
                <a:gridCol w="1566545"/>
                <a:gridCol w="1136015"/>
                <a:gridCol w="2103120"/>
              </a:tblGrid>
              <a:tr h="7016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Course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Code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dirty="0" sz="20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Title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2000" spc="-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Study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Regular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Grade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dirty="0" sz="2000" spc="-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20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2000" spc="3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 b="1">
                          <a:latin typeface="Times New Roman"/>
                          <a:cs typeface="Times New Roman"/>
                        </a:rPr>
                        <a:t>of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completion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21IPC501J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Research</a:t>
                      </a:r>
                      <a:r>
                        <a:rPr dirty="0" sz="18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Methodology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Regular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NOV-2025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RPE17001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Research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Publication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Ethics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Regular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B+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NOV-2025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21CSE637T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2544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Deep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Learning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Application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2544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Regular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2544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B+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2544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800" spc="-45">
                          <a:latin typeface="Calibri"/>
                          <a:cs typeface="Calibri"/>
                        </a:rPr>
                        <a:t>MAY-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2544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21CSE583T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817244">
                        <a:lnSpc>
                          <a:spcPct val="100899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Natural</a:t>
                      </a:r>
                      <a:r>
                        <a:rPr dirty="0" sz="18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Language</a:t>
                      </a:r>
                      <a:r>
                        <a:rPr dirty="0" sz="18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Processing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its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Application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Regular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B+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800" spc="-45">
                          <a:latin typeface="Calibri"/>
                          <a:cs typeface="Calibri"/>
                        </a:rPr>
                        <a:t>MAY-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278376" y="6343015"/>
            <a:ext cx="541782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00150" marR="5080" indent="-118745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and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Deep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942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8078" y="6343015"/>
            <a:ext cx="543560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00150" marR="5080" indent="-118745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3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and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Deep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942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5987" y="956055"/>
            <a:ext cx="10643235" cy="31877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marR="525145" indent="-227329">
              <a:lnSpc>
                <a:spcPct val="76900"/>
              </a:lnSpc>
              <a:spcBef>
                <a:spcPts val="770"/>
              </a:spcBef>
              <a:buClr>
                <a:srgbClr val="000000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Stuttering</a:t>
            </a:r>
            <a:r>
              <a:rPr dirty="0" sz="24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is</a:t>
            </a:r>
            <a:r>
              <a:rPr dirty="0" sz="2400" spc="-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24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neuro-developmental</a:t>
            </a:r>
            <a:r>
              <a:rPr dirty="0" sz="24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speech</a:t>
            </a:r>
            <a:r>
              <a:rPr dirty="0" sz="24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disorder</a:t>
            </a:r>
            <a:r>
              <a:rPr dirty="0" sz="2400" spc="-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affecting</a:t>
            </a:r>
            <a:r>
              <a:rPr dirty="0" sz="24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fluency</a:t>
            </a:r>
            <a:r>
              <a:rPr dirty="0" sz="24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through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repetitions,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prolongations,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blocks.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It</a:t>
            </a:r>
            <a:r>
              <a:rPr dirty="0" sz="2400" spc="-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disrupts</a:t>
            </a:r>
            <a:r>
              <a:rPr dirty="0" sz="24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communication,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education,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and 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employment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outcomes</a:t>
            </a:r>
            <a:r>
              <a:rPr dirty="0" sz="24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for</a:t>
            </a:r>
            <a:r>
              <a:rPr dirty="0" sz="24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millions</a:t>
            </a:r>
            <a:r>
              <a:rPr dirty="0" sz="24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of</a:t>
            </a:r>
            <a:r>
              <a:rPr dirty="0" sz="2400" spc="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speakers</a:t>
            </a:r>
            <a:r>
              <a:rPr dirty="0" sz="2400" spc="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worldwide.</a:t>
            </a:r>
            <a:endParaRPr sz="2400">
              <a:latin typeface="Times New Roman"/>
              <a:cs typeface="Times New Roman"/>
            </a:endParaRPr>
          </a:p>
          <a:p>
            <a:pPr marL="227965" indent="-215265">
              <a:lnSpc>
                <a:spcPts val="2565"/>
              </a:lnSpc>
              <a:spcBef>
                <a:spcPts val="1475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27965" algn="l"/>
              </a:tabLst>
            </a:pP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Automated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stuttering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can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power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scalable</a:t>
            </a:r>
            <a:r>
              <a:rPr dirty="0" sz="24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speech-language</a:t>
            </a:r>
            <a:endParaRPr sz="2400">
              <a:latin typeface="Times New Roman"/>
              <a:cs typeface="Times New Roman"/>
            </a:endParaRPr>
          </a:p>
          <a:p>
            <a:pPr marL="228600">
              <a:lnSpc>
                <a:spcPts val="2215"/>
              </a:lnSpc>
            </a:pP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pathology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tools</a:t>
            </a:r>
            <a:r>
              <a:rPr dirty="0" sz="2400" spc="-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but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almost</a:t>
            </a:r>
            <a:r>
              <a:rPr dirty="0" sz="2400" spc="-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all</a:t>
            </a:r>
            <a:r>
              <a:rPr dirty="0" sz="2400" spc="-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existing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systems</a:t>
            </a:r>
            <a:r>
              <a:rPr dirty="0" sz="24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are</a:t>
            </a:r>
            <a:r>
              <a:rPr dirty="0" sz="24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built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validated</a:t>
            </a:r>
            <a:r>
              <a:rPr dirty="0" sz="2400" spc="-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only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on</a:t>
            </a:r>
            <a:endParaRPr sz="2400">
              <a:latin typeface="Times New Roman"/>
              <a:cs typeface="Times New Roman"/>
            </a:endParaRPr>
          </a:p>
          <a:p>
            <a:pPr marL="228600">
              <a:lnSpc>
                <a:spcPts val="2530"/>
              </a:lnSpc>
            </a:pP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English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 speech.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530"/>
              </a:lnSpc>
              <a:spcBef>
                <a:spcPts val="1555"/>
              </a:spcBef>
              <a:buClr>
                <a:srgbClr val="000000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India's</a:t>
            </a:r>
            <a:r>
              <a:rPr dirty="0" sz="2400" spc="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linguistic</a:t>
            </a:r>
            <a:r>
              <a:rPr dirty="0" sz="2400" spc="-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diversity</a:t>
            </a:r>
            <a:r>
              <a:rPr dirty="0" sz="2400" spc="-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2400" spc="-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Tamil,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Hindi,</a:t>
            </a:r>
            <a:r>
              <a:rPr dirty="0" sz="24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Indian-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accented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English</a:t>
            </a:r>
            <a:r>
              <a:rPr dirty="0" sz="2400" spc="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remains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180"/>
              </a:lnSpc>
            </a:pP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largely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unaddressed,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leaving</a:t>
            </a:r>
            <a:r>
              <a:rPr dirty="0" sz="24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24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critical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gap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accessible,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clinically</a:t>
            </a:r>
            <a:r>
              <a:rPr dirty="0" sz="24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usable</a:t>
            </a:r>
            <a:r>
              <a:rPr dirty="0" sz="2400" spc="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speech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530"/>
              </a:lnSpc>
            </a:pP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technology.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85495">
              <a:lnSpc>
                <a:spcPct val="100000"/>
              </a:lnSpc>
              <a:spcBef>
                <a:spcPts val="130"/>
              </a:spcBef>
            </a:pPr>
            <a:r>
              <a:rPr dirty="0" sz="3200" spc="-10"/>
              <a:t>INTRODUCTION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5987" y="6435090"/>
            <a:ext cx="721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Aug</a:t>
            </a:r>
            <a:r>
              <a:rPr dirty="0" sz="1200" spc="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2046" y="6480175"/>
            <a:ext cx="5417185" cy="3994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00150" marR="5080" indent="-1187450">
              <a:lnSpc>
                <a:spcPct val="104299"/>
              </a:lnSpc>
              <a:spcBef>
                <a:spcPts val="35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1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and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942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70098" y="882734"/>
          <a:ext cx="11443970" cy="5073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50" b="1">
                          <a:latin typeface="Times New Roman"/>
                          <a:cs typeface="Times New Roman"/>
                        </a:rPr>
                        <a:t>L.</a:t>
                      </a:r>
                      <a:r>
                        <a:rPr dirty="0" sz="1550" spc="10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Chee,</a:t>
                      </a:r>
                      <a:r>
                        <a:rPr dirty="0" sz="1550" spc="1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O.</a:t>
                      </a:r>
                      <a:r>
                        <a:rPr dirty="0" sz="1550" spc="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C.</a:t>
                      </a:r>
                      <a:r>
                        <a:rPr dirty="0" sz="155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Ai,</a:t>
                      </a:r>
                      <a:r>
                        <a:rPr dirty="0" sz="1550" spc="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550" spc="1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Hariharan,</a:t>
                      </a:r>
                      <a:r>
                        <a:rPr dirty="0" sz="1550" spc="1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 b="1">
                          <a:latin typeface="Times New Roman"/>
                          <a:cs typeface="Times New Roman"/>
                        </a:rPr>
                        <a:t>Yaacob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68910" marR="167640" indent="10160">
                        <a:lnSpc>
                          <a:spcPct val="1090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6200">
                        <a:lnSpc>
                          <a:spcPct val="100899"/>
                        </a:lnSpc>
                        <a:spcBef>
                          <a:spcPts val="39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“MFCC</a:t>
                      </a:r>
                      <a:r>
                        <a:rPr dirty="0" sz="155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55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Recognition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Repetitions</a:t>
                      </a:r>
                      <a:r>
                        <a:rPr dirty="0" sz="15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Prolongations</a:t>
                      </a:r>
                      <a:r>
                        <a:rPr dirty="0" sz="155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Stuttered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k-NN</a:t>
                      </a:r>
                      <a:r>
                        <a:rPr dirty="0" sz="155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LDA,”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Proc.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(SCOReD),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Malaysia,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146–149,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Nov.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2009.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22680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64184">
                        <a:lnSpc>
                          <a:spcPct val="103000"/>
                        </a:lnSpc>
                        <a:spcBef>
                          <a:spcPts val="36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Extracts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Mel-Frequency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Cepstral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Coefficient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(MFCC)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stuttered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segments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classifies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repetitions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prolongations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k-Nearest</a:t>
                      </a:r>
                      <a:r>
                        <a:rPr dirty="0" sz="15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Neighbour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(k-NN)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Discriminant</a:t>
                      </a:r>
                      <a:r>
                        <a:rPr dirty="0" sz="15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(LDA) classifiers.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35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08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68910">
                        <a:lnSpc>
                          <a:spcPct val="121100"/>
                        </a:lnSpc>
                        <a:spcBef>
                          <a:spcPts val="114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Handcrafted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spectral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extraction;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classical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requiring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corpus;</a:t>
                      </a:r>
                      <a:r>
                        <a:rPr dirty="0" sz="1550" spc="50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targets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dysfluency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(repetitions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prolongations)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well-established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descriptors.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61315">
                        <a:lnSpc>
                          <a:spcPct val="121100"/>
                        </a:lnSpc>
                        <a:spcBef>
                          <a:spcPts val="12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LDA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MFCC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NN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alone,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indicating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spectral-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envelope</a:t>
                      </a:r>
                      <a:r>
                        <a:rPr dirty="0" sz="155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discriminative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certain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even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classifiers.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monolingual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(English)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dataset;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generalization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unseen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speakers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languages;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latin typeface="Times New Roman"/>
                          <a:cs typeface="Times New Roman"/>
                        </a:rPr>
                        <a:t>of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blocks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interjections;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purely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acoustic,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linguistic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contextual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modeling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transcription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capability.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67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5987" y="6435090"/>
            <a:ext cx="721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Aug</a:t>
            </a:r>
            <a:r>
              <a:rPr dirty="0" sz="1200" spc="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8376" y="6343015"/>
            <a:ext cx="541782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00150" marR="5080" indent="-118745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and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Deep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942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62110" y="901784"/>
          <a:ext cx="11443970" cy="5297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50" b="1">
                          <a:latin typeface="Times New Roman"/>
                          <a:cs typeface="Times New Roman"/>
                        </a:rPr>
                        <a:t>K.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550" spc="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Ravikumar,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dirty="0" sz="1550" spc="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Rajagopal,</a:t>
                      </a:r>
                      <a:r>
                        <a:rPr dirty="0" sz="1550" spc="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8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H.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C.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 b="1">
                          <a:latin typeface="Times New Roman"/>
                          <a:cs typeface="Times New Roman"/>
                        </a:rPr>
                        <a:t>Nagaraj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68275" marR="161290" indent="1270">
                        <a:lnSpc>
                          <a:spcPct val="1090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582295" indent="50800">
                        <a:lnSpc>
                          <a:spcPct val="100899"/>
                        </a:lnSpc>
                        <a:spcBef>
                          <a:spcPts val="39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“An</a:t>
                      </a:r>
                      <a:r>
                        <a:rPr dirty="0" sz="15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Objective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Assessment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Stuttered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MFCC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Features,”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ICGST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International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(DSP),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9,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19–24,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2009.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 marR="979169">
                        <a:lnSpc>
                          <a:spcPct val="121100"/>
                        </a:lnSpc>
                      </a:pPr>
                      <a:r>
                        <a:rPr dirty="0" sz="1550" spc="1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MFCC-based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dirty="0" sz="15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vectors</a:t>
                      </a:r>
                      <a:r>
                        <a:rPr dirty="0" sz="15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together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classical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statistical/discriminant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objectively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distinguish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fluent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stuttered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(dysfluent)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segments.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2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57200">
                        <a:lnSpc>
                          <a:spcPct val="121100"/>
                        </a:lnSpc>
                        <a:spcBef>
                          <a:spcPts val="114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objective,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quantitative</a:t>
                      </a:r>
                      <a:r>
                        <a:rPr dirty="0" sz="15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severity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assessment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detection;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cepstral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modeling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interpretability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cost.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7918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54000">
                        <a:lnSpc>
                          <a:spcPct val="121200"/>
                        </a:lnSpc>
                        <a:spcBef>
                          <a:spcPts val="12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Demonstrated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5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MFCC-derived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reliably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separate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fluent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dysfluent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segments,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supporting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latin typeface="Times New Roman"/>
                          <a:cs typeface="Times New Roman"/>
                        </a:rPr>
                        <a:t>use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low-cost,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interpretable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screening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tool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black-box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classifier.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918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39065">
                        <a:lnSpc>
                          <a:spcPct val="121100"/>
                        </a:lnSpc>
                        <a:spcBef>
                          <a:spcPts val="13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rule-based/statistical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dirty="0" sz="15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sub-types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speech;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sensitive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speaker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variability;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assessment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only,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transcription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output.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5987" y="6435090"/>
            <a:ext cx="721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Aug</a:t>
            </a:r>
            <a:r>
              <a:rPr dirty="0" sz="1200" spc="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942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2110" y="901784"/>
          <a:ext cx="11443970" cy="538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50" b="1">
                          <a:latin typeface="Times New Roman"/>
                          <a:cs typeface="Times New Roman"/>
                        </a:rPr>
                        <a:t>Kourkounakis</a:t>
                      </a:r>
                      <a:r>
                        <a:rPr dirty="0" sz="1550" spc="1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550" spc="1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35" b="1">
                          <a:latin typeface="Times New Roman"/>
                          <a:cs typeface="Times New Roman"/>
                        </a:rPr>
                        <a:t>al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ctr" marL="168275" marR="161290" indent="1270">
                        <a:lnSpc>
                          <a:spcPct val="1090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960119">
                        <a:lnSpc>
                          <a:spcPct val="121100"/>
                        </a:lnSpc>
                        <a:spcBef>
                          <a:spcPts val="8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“FluentNet: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End-to-End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Stuttered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Disfluencies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Learning,”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IEEE/ACM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Transactions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Audio,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Speech,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55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Processing,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29,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2986–2999,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2021.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21640">
                        <a:lnSpc>
                          <a:spcPct val="102899"/>
                        </a:lnSpc>
                        <a:spcBef>
                          <a:spcPts val="36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Proposes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end-to-end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combining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Squeeze-and-Excitation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Residual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blocks</a:t>
                      </a:r>
                      <a:r>
                        <a:rPr dirty="0" sz="1550" spc="2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spectral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550" spc="14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Bidirectional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LSTM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dirty="0" sz="1550" spc="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temporal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modeling,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plus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mechanism,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spectrograms.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35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710" marR="283210">
                        <a:lnSpc>
                          <a:spcPct val="121200"/>
                        </a:lnSpc>
                        <a:spcBef>
                          <a:spcPts val="110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Fully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end-to-end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handcrafted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features);</a:t>
                      </a:r>
                      <a:r>
                        <a:rPr dirty="0" sz="1550" spc="229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mechanism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highlights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salient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regions;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UCLASS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authors'</a:t>
                      </a:r>
                      <a:r>
                        <a:rPr dirty="0" sz="1550" spc="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own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synthetic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LibriStutter</a:t>
                      </a:r>
                      <a:r>
                        <a:rPr dirty="0" sz="1550" spc="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dataset;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detects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disfluency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types jointly.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03225">
                        <a:lnSpc>
                          <a:spcPct val="121200"/>
                        </a:lnSpc>
                        <a:spcBef>
                          <a:spcPts val="120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state-of-the-art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(~91.75%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UCLASS,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~9.35%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miss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rate),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550" spc="21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learned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spectral-temporal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representations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outperform</a:t>
                      </a:r>
                      <a:r>
                        <a:rPr dirty="0" sz="1550" spc="24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classical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handcrafted</a:t>
                      </a:r>
                      <a:r>
                        <a:rPr dirty="0" sz="1550" spc="229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dirty="0" sz="1550" spc="2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550" spc="2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multi-type</a:t>
                      </a:r>
                      <a:r>
                        <a:rPr dirty="0" sz="1550" spc="25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 detection.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71450">
                        <a:lnSpc>
                          <a:spcPct val="121100"/>
                        </a:lnSpc>
                        <a:spcBef>
                          <a:spcPts val="13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English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(real</a:t>
                      </a:r>
                      <a:r>
                        <a:rPr dirty="0" sz="1550" spc="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550" spc="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synthetic)</a:t>
                      </a:r>
                      <a:r>
                        <a:rPr dirty="0" sz="1550" spc="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datasets;</a:t>
                      </a:r>
                      <a:r>
                        <a:rPr dirty="0" sz="1550" spc="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performs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only,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transcription;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dirty="0" sz="1550" spc="14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fairly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labeled/synthetic</a:t>
                      </a:r>
                      <a:r>
                        <a:rPr dirty="0" sz="1550" spc="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corpus;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untested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multilingual,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accented,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speech.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179429" y="643509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3305" y="776181"/>
          <a:ext cx="11443970" cy="5771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Sheikh,</a:t>
                      </a:r>
                      <a:r>
                        <a:rPr dirty="0" sz="1550" spc="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55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Sahidullah,</a:t>
                      </a:r>
                      <a:r>
                        <a:rPr dirty="0" sz="1550" spc="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5" b="1">
                          <a:latin typeface="Times New Roman"/>
                          <a:cs typeface="Times New Roman"/>
                        </a:rPr>
                        <a:t>F.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Hirsch,</a:t>
                      </a:r>
                      <a:r>
                        <a:rPr dirty="0" sz="1550" spc="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0" b="1">
                          <a:latin typeface="Times New Roman"/>
                          <a:cs typeface="Times New Roman"/>
                        </a:rPr>
                        <a:t>Ouni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274445">
                <a:tc>
                  <a:txBody>
                    <a:bodyPr/>
                    <a:lstStyle/>
                    <a:p>
                      <a:pPr algn="ctr" marL="168910" marR="167640" indent="7620">
                        <a:lnSpc>
                          <a:spcPct val="1090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“StutterNet: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Delay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Network,”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arXiv:2105.05599,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2021.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274445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77495">
                        <a:lnSpc>
                          <a:spcPct val="121100"/>
                        </a:lnSpc>
                        <a:spcBef>
                          <a:spcPts val="10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Introduces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Time-Delay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(TDNN)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dirty="0" sz="15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originally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popular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speaker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verification</a:t>
                      </a:r>
                      <a:r>
                        <a:rPr dirty="0" sz="155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50">
                          <a:latin typeface="Times New Roman"/>
                          <a:cs typeface="Times New Roman"/>
                        </a:rPr>
                        <a:t>—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adapted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short-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long-range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temporal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dependencies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stutter-type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08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530860">
                        <a:lnSpc>
                          <a:spcPct val="121100"/>
                        </a:lnSpc>
                        <a:spcBef>
                          <a:spcPts val="114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Compact,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parameter-efficient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CNN-BiLSTM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pipelines;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dilated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temporal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convolutions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recurrence;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benchmarked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SEP-28k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podcast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dataset.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06375">
                        <a:lnSpc>
                          <a:spcPct val="121200"/>
                        </a:lnSpc>
                        <a:spcBef>
                          <a:spcPts val="12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TDNN-based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modeling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competitive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substantially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fewer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parameters,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indicating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temporal-context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architectures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viable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heavier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CNN/RNN pipelines.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689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English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podcast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(SEP-28k);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imbalance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affects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minority-class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performance;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dirty="0" sz="15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transcription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evaluation.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8240" y="296761"/>
            <a:ext cx="4425315" cy="4546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520"/>
              </a:lnSpc>
            </a:pPr>
            <a:r>
              <a:rPr dirty="0" sz="3200" spc="-30" b="1">
                <a:latin typeface="Times New Roman"/>
                <a:cs typeface="Times New Roman"/>
              </a:rPr>
              <a:t>LITERATURE</a:t>
            </a:r>
            <a:r>
              <a:rPr dirty="0" sz="3200" spc="-125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SURVEY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87675" y="377655"/>
          <a:ext cx="11443970" cy="571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622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550" b="1">
                          <a:latin typeface="Times New Roman"/>
                          <a:cs typeface="Times New Roman"/>
                        </a:rPr>
                        <a:t>S. P.</a:t>
                      </a:r>
                      <a:r>
                        <a:rPr dirty="0" sz="155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Bayerl, D.</a:t>
                      </a:r>
                      <a:r>
                        <a:rPr dirty="0" sz="155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 b="1">
                          <a:latin typeface="Times New Roman"/>
                          <a:cs typeface="Times New Roman"/>
                        </a:rPr>
                        <a:t>Wagner,</a:t>
                      </a:r>
                      <a:r>
                        <a:rPr dirty="0" sz="1550" spc="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E.</a:t>
                      </a:r>
                      <a:r>
                        <a:rPr dirty="0" sz="1550" spc="8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Nöth,</a:t>
                      </a:r>
                      <a:r>
                        <a:rPr dirty="0" sz="155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K.</a:t>
                      </a:r>
                      <a:r>
                        <a:rPr dirty="0" sz="155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 b="1">
                          <a:latin typeface="Times New Roman"/>
                          <a:cs typeface="Times New Roman"/>
                        </a:rPr>
                        <a:t>Riedhammer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ctr" marL="168910" marR="167640" indent="7620">
                        <a:lnSpc>
                          <a:spcPct val="109000"/>
                        </a:lnSpc>
                        <a:spcBef>
                          <a:spcPts val="229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“Detecting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Dysfluencies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Therapy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wav2vec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2.0,”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Proc.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Interspeech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2022,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2868</a:t>
                      </a:r>
                      <a:r>
                        <a:rPr dirty="0" sz="1550" spc="-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2872.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300480">
                <a:tc>
                  <a:txBody>
                    <a:bodyPr/>
                    <a:lstStyle/>
                    <a:p>
                      <a:pPr algn="ctr" marL="110489" marR="106045">
                        <a:lnSpc>
                          <a:spcPct val="109000"/>
                        </a:lnSpc>
                        <a:spcBef>
                          <a:spcPts val="24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 marR="172085">
                        <a:lnSpc>
                          <a:spcPct val="121200"/>
                        </a:lnSpc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Fine-tunes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self-supervised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wav2vec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stuttered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multi-task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learning,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trains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latin typeface="Times New Roman"/>
                          <a:cs typeface="Times New Roman"/>
                        </a:rPr>
                        <a:t>SVM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extracted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six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stutter-event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plus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therapy-specific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speech-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modification techniques.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63550">
                        <a:lnSpc>
                          <a:spcPct val="121200"/>
                        </a:lnSpc>
                        <a:spcBef>
                          <a:spcPts val="11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Leverages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large-scale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self-supervised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pretraining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instead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handcrafted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purely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supervised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features;</a:t>
                      </a:r>
                      <a:r>
                        <a:rPr dirty="0" sz="15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cross</a:t>
                      </a:r>
                      <a:r>
                        <a:rPr dirty="0" sz="1550" spc="-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corpus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(English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FluencyBank)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cross-lingual</a:t>
                      </a:r>
                      <a:r>
                        <a:rPr dirty="0" sz="15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(German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KSoF)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evaluation;</a:t>
                      </a:r>
                      <a:r>
                        <a:rPr dirty="0" sz="15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therapy-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technique detection.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Fine-tuned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wav2vec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yielded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27%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relative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F1-score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improvement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generic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embeddings,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self-supervised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representations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dirty="0" sz="15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dirty="0" sz="15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languages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clinical/therapy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contexts.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7089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17830">
                        <a:lnSpc>
                          <a:spcPct val="121100"/>
                        </a:lnSpc>
                        <a:spcBef>
                          <a:spcPts val="13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wav2vec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computationally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heavy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edge/real-time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deployment;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multi-task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fine-tuning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requires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carefully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balanced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task;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natively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dysfluency-aware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transcription.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16501" y="6533832"/>
            <a:ext cx="40201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9590" y="6363320"/>
            <a:ext cx="6927850" cy="275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25"/>
              </a:lnSpc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1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</a:t>
            </a:r>
            <a:endParaRPr sz="1200">
              <a:latin typeface="Cambria"/>
              <a:cs typeface="Cambria"/>
            </a:endParaRPr>
          </a:p>
          <a:p>
            <a:pPr algn="r">
              <a:lnSpc>
                <a:spcPts val="1080"/>
              </a:lnSpc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2110" y="866859"/>
          <a:ext cx="11443970" cy="5729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Sheikh,</a:t>
                      </a:r>
                      <a:r>
                        <a:rPr dirty="0" sz="1550" spc="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55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Sahidullah,</a:t>
                      </a:r>
                      <a:r>
                        <a:rPr dirty="0" sz="1550" spc="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5" b="1">
                          <a:latin typeface="Times New Roman"/>
                          <a:cs typeface="Times New Roman"/>
                        </a:rPr>
                        <a:t>F.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Hirsch,</a:t>
                      </a:r>
                      <a:r>
                        <a:rPr dirty="0" sz="1550" spc="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0" b="1">
                          <a:latin typeface="Times New Roman"/>
                          <a:cs typeface="Times New Roman"/>
                        </a:rPr>
                        <a:t>Ouni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68275" marR="161290" indent="1270">
                        <a:lnSpc>
                          <a:spcPct val="1090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“Introducing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ECAPA-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TDNN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Wav2Vec2.0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Detection,”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arXiv:2204.01564,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2022.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 marR="324485">
                        <a:lnSpc>
                          <a:spcPct val="121200"/>
                        </a:lnSpc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Extracts</a:t>
                      </a:r>
                      <a:r>
                        <a:rPr dirty="0" sz="15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pretrained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ECAPA-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TDNN</a:t>
                      </a:r>
                      <a:r>
                        <a:rPr dirty="0" sz="155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(trained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VoxCeleb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speaker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verification)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Wav2Vec2.0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(trained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LibriSpeech)</a:t>
                      </a:r>
                      <a:r>
                        <a:rPr dirty="0" sz="155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benchmarks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(k-NN,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Gaussian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Bayes,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network)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top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detection.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2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23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522605">
                        <a:lnSpc>
                          <a:spcPct val="121200"/>
                        </a:lnSpc>
                        <a:spcBef>
                          <a:spcPts val="11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Compares</a:t>
                      </a:r>
                      <a:r>
                        <a:rPr dirty="0" sz="1550" spc="3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speaker-verification-oriented</a:t>
                      </a:r>
                      <a:r>
                        <a:rPr dirty="0" sz="155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55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against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ASR-oriented</a:t>
                      </a:r>
                      <a:r>
                        <a:rPr dirty="0" sz="155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self-supervised</a:t>
                      </a:r>
                      <a:r>
                        <a:rPr dirty="0" sz="155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embeddings;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addresses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stuttering-dataset</a:t>
                      </a:r>
                      <a:r>
                        <a:rPr dirty="0" sz="15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transferring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representations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learned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5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massive</a:t>
                      </a:r>
                      <a:r>
                        <a:rPr dirty="0" sz="15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out-of-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domain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corpora.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73380">
                        <a:lnSpc>
                          <a:spcPct val="121200"/>
                        </a:lnSpc>
                        <a:spcBef>
                          <a:spcPts val="12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Pretrained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16.74%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relative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SEP-28k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dataset,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confirming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5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self-supervised/speaker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mitigates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scarcity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detection.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93395">
                        <a:lnSpc>
                          <a:spcPct val="121200"/>
                        </a:lnSpc>
                        <a:spcBef>
                          <a:spcPts val="13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5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55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English/speaker-verification-oriented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55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dysfluency-tuned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multilingual;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simple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downstream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fully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exploit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rich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embedding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space;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transcription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edge-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deployment consideration.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7845" y="834092"/>
          <a:ext cx="11443970" cy="572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56540">
                        <a:lnSpc>
                          <a:spcPct val="121100"/>
                        </a:lnSpc>
                        <a:spcBef>
                          <a:spcPts val="80"/>
                        </a:spcBef>
                      </a:pPr>
                      <a:r>
                        <a:rPr dirty="0" sz="1550" b="1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Javed,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1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Doddapaneni,</a:t>
                      </a:r>
                      <a:r>
                        <a:rPr dirty="0" sz="155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550" spc="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Raman,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K.</a:t>
                      </a:r>
                      <a:r>
                        <a:rPr dirty="0" sz="1550" spc="1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Bhogale,</a:t>
                      </a:r>
                      <a:r>
                        <a:rPr dirty="0" sz="1550" spc="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G.</a:t>
                      </a:r>
                      <a:r>
                        <a:rPr dirty="0" sz="1550" spc="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Ramesh,</a:t>
                      </a:r>
                      <a:r>
                        <a:rPr dirty="0" sz="155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5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Kunchukuttan,</a:t>
                      </a:r>
                      <a:r>
                        <a:rPr dirty="0" sz="1550" spc="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550" spc="1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Kumar,</a:t>
                      </a:r>
                      <a:r>
                        <a:rPr dirty="0" sz="1550" spc="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550" spc="1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 b="1">
                          <a:latin typeface="Times New Roman"/>
                          <a:cs typeface="Times New Roman"/>
                        </a:rPr>
                        <a:t>M. </a:t>
                      </a:r>
                      <a:r>
                        <a:rPr dirty="0" sz="1550" spc="-10" b="1">
                          <a:latin typeface="Times New Roman"/>
                          <a:cs typeface="Times New Roman"/>
                        </a:rPr>
                        <a:t>Khapra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68275" marR="164465" indent="4445">
                        <a:lnSpc>
                          <a:spcPct val="1091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4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6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7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710" marR="188595">
                        <a:lnSpc>
                          <a:spcPct val="121200"/>
                        </a:lnSpc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“Towards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Building</a:t>
                      </a:r>
                      <a:r>
                        <a:rPr dirty="0" sz="15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ASR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Billion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Users,”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Proc.</a:t>
                      </a:r>
                      <a:r>
                        <a:rPr dirty="0" sz="155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AAAI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Intelligence,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36,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10,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10813–10821,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2022.</a:t>
                      </a:r>
                      <a:r>
                        <a:rPr dirty="0" sz="15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(IndicWav2Vec)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22680">
                <a:tc>
                  <a:txBody>
                    <a:bodyPr/>
                    <a:lstStyle/>
                    <a:p>
                      <a:pPr algn="ctr" marL="109855" marR="100965">
                        <a:lnSpc>
                          <a:spcPct val="1091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7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29539">
                        <a:lnSpc>
                          <a:spcPct val="100899"/>
                        </a:lnSpc>
                        <a:spcBef>
                          <a:spcPts val="40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Curates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17,000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hours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raw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5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40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Indian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languages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pretrains</a:t>
                      </a:r>
                      <a:r>
                        <a:rPr dirty="0" sz="15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wav2vec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2.0-style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supervised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(IndicWav2Vec),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55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fine-tuned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automatic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recognition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Indic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languages.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45745">
                        <a:lnSpc>
                          <a:spcPct val="121200"/>
                        </a:lnSpc>
                        <a:spcBef>
                          <a:spcPts val="11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Large-scale,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India-specific</a:t>
                      </a:r>
                      <a:r>
                        <a:rPr dirty="0" sz="155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pretraining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corpus;</a:t>
                      </a:r>
                      <a:r>
                        <a:rPr dirty="0" sz="155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analyzes</a:t>
                      </a:r>
                      <a:r>
                        <a:rPr dirty="0" sz="155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shared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phoneme-level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representations</a:t>
                      </a:r>
                      <a:r>
                        <a:rPr dirty="0" sz="15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related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languages;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open-sourced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pretrained/fine-tuned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AI4Bharat initiative.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2329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86055">
                        <a:lnSpc>
                          <a:spcPct val="121200"/>
                        </a:lnSpc>
                        <a:spcBef>
                          <a:spcPts val="12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Self-supervised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pretraining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unlabelled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Indic</a:t>
                      </a:r>
                      <a:r>
                        <a:rPr dirty="0" sz="15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state-of-the-art</a:t>
                      </a:r>
                      <a:r>
                        <a:rPr dirty="0" sz="15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ASR</a:t>
                      </a:r>
                      <a:r>
                        <a:rPr dirty="0" sz="15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Indic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languages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datasets,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wav2vec-style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paradigm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generalizes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low-resource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Indian languages.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55575">
                        <a:lnSpc>
                          <a:spcPct val="121100"/>
                        </a:lnSpc>
                        <a:spcBef>
                          <a:spcPts val="13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purely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general-purpose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ASR,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dysfluency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detection;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relative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India's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linguistic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diversity;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restricts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edge/offline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dirty="0" sz="15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distillation.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5987" y="6435090"/>
            <a:ext cx="721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Aug</a:t>
            </a:r>
            <a:r>
              <a:rPr dirty="0" sz="1200" spc="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2110" y="866859"/>
          <a:ext cx="11443970" cy="5681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50" spc="-80" b="1">
                          <a:latin typeface="Times New Roman"/>
                          <a:cs typeface="Times New Roman"/>
                        </a:rPr>
                        <a:t>V.</a:t>
                      </a:r>
                      <a:r>
                        <a:rPr dirty="0" sz="155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Pratap,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Tjandra,</a:t>
                      </a:r>
                      <a:r>
                        <a:rPr dirty="0" sz="155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B.</a:t>
                      </a:r>
                      <a:r>
                        <a:rPr dirty="0" sz="155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Shi,</a:t>
                      </a:r>
                      <a:r>
                        <a:rPr dirty="0" sz="155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5" b="1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Tomasello,</a:t>
                      </a:r>
                      <a:r>
                        <a:rPr dirty="0" sz="155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5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Babu,</a:t>
                      </a:r>
                      <a:r>
                        <a:rPr dirty="0" sz="155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550" spc="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 b="1">
                          <a:latin typeface="Times New Roman"/>
                          <a:cs typeface="Times New Roman"/>
                        </a:rPr>
                        <a:t>al.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68275" marR="161290" indent="1270">
                        <a:lnSpc>
                          <a:spcPct val="1090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6200">
                        <a:lnSpc>
                          <a:spcPct val="100899"/>
                        </a:lnSpc>
                        <a:spcBef>
                          <a:spcPts val="39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“Scaling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dirty="0" sz="15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1,000+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Languages,”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5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5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Research,</a:t>
                      </a:r>
                      <a:r>
                        <a:rPr dirty="0" sz="15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25,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97,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latin typeface="Times New Roman"/>
                          <a:cs typeface="Times New Roman"/>
                        </a:rPr>
                        <a:t>pp.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1–52,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2024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(Massively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MMS,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Meta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0">
                          <a:latin typeface="Times New Roman"/>
                          <a:cs typeface="Times New Roman"/>
                        </a:rPr>
                        <a:t>AI).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22680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1770">
                        <a:lnSpc>
                          <a:spcPct val="103000"/>
                        </a:lnSpc>
                        <a:spcBef>
                          <a:spcPts val="36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Builds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5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publicly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religious-text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readings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massively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wav2vec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(MMS)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covering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1,406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languages,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dirty="0" sz="15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ASR</a:t>
                      </a:r>
                      <a:r>
                        <a:rPr dirty="0" sz="15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spanning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1,107</a:t>
                      </a:r>
                      <a:r>
                        <a:rPr dirty="0" sz="155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languages.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35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31445">
                        <a:lnSpc>
                          <a:spcPct val="121100"/>
                        </a:lnSpc>
                        <a:spcBef>
                          <a:spcPts val="11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Unprecedented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(10–40x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systems);</a:t>
                      </a:r>
                      <a:r>
                        <a:rPr dirty="0" sz="15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large-scale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self-supervised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pretraining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novel</a:t>
                      </a:r>
                      <a:r>
                        <a:rPr dirty="0" sz="155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low-resource-friendly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data-collection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strategy;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5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15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TTS</a:t>
                      </a:r>
                      <a:r>
                        <a:rPr dirty="0" sz="15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language-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identification</a:t>
                      </a:r>
                      <a:r>
                        <a:rPr dirty="0" sz="155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models.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81000">
                        <a:lnSpc>
                          <a:spcPct val="121200"/>
                        </a:lnSpc>
                        <a:spcBef>
                          <a:spcPts val="120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MMS</a:t>
                      </a:r>
                      <a:r>
                        <a:rPr dirty="0" sz="15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ASR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5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55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halves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Whisper's</a:t>
                      </a:r>
                      <a:r>
                        <a:rPr dirty="0" sz="15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dirty="0" sz="15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54</a:t>
                      </a:r>
                      <a:r>
                        <a:rPr dirty="0" sz="15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FLEURS</a:t>
                      </a:r>
                      <a:r>
                        <a:rPr dirty="0" sz="15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languages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despite</a:t>
                      </a:r>
                      <a:r>
                        <a:rPr dirty="0" sz="15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far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dirty="0" sz="15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language,</a:t>
                      </a:r>
                      <a:r>
                        <a:rPr dirty="0" sz="15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5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plus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self-supervision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compensate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data.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605155">
                        <a:lnSpc>
                          <a:spcPct val="121200"/>
                        </a:lnSpc>
                        <a:spcBef>
                          <a:spcPts val="135"/>
                        </a:spcBef>
                      </a:pPr>
                      <a:r>
                        <a:rPr dirty="0" sz="155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tailored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dysfluency</a:t>
                      </a:r>
                      <a:r>
                        <a:rPr dirty="0" sz="15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phenomena;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extremely</a:t>
                      </a:r>
                      <a:r>
                        <a:rPr dirty="0" sz="15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parameter</a:t>
                      </a:r>
                      <a:r>
                        <a:rPr dirty="0" sz="15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count</a:t>
                      </a:r>
                      <a:r>
                        <a:rPr dirty="0" sz="15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dirty="0" sz="15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5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550" spc="-2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offline/edge</a:t>
                      </a:r>
                      <a:r>
                        <a:rPr dirty="0" sz="15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impractical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55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distillation;</a:t>
                      </a:r>
                      <a:r>
                        <a:rPr dirty="0" sz="15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religious-text</a:t>
                      </a:r>
                      <a:r>
                        <a:rPr dirty="0" sz="15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5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5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mismatch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conversational</a:t>
                      </a:r>
                      <a:r>
                        <a:rPr dirty="0" sz="15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latin typeface="Times New Roman"/>
                          <a:cs typeface="Times New Roman"/>
                        </a:rPr>
                        <a:t>speech.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06976" y="6343015"/>
            <a:ext cx="443928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01930" marR="5080" indent="-18986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2110" y="866859"/>
          <a:ext cx="11443970" cy="511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F.</a:t>
                      </a:r>
                      <a:r>
                        <a:rPr dirty="0" sz="1550" spc="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Haas</a:t>
                      </a:r>
                      <a:r>
                        <a:rPr dirty="0" sz="1550" spc="-1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550" spc="5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550" spc="-2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Bayerl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68275" marR="161290" indent="1270">
                        <a:lnSpc>
                          <a:spcPct val="109000"/>
                        </a:lnSpc>
                        <a:spcBef>
                          <a:spcPts val="23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8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6835">
                        <a:lnSpc>
                          <a:spcPct val="100899"/>
                        </a:lnSpc>
                        <a:spcBef>
                          <a:spcPts val="390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"Multilingual</a:t>
                      </a:r>
                      <a:r>
                        <a:rPr dirty="0" sz="1550" spc="2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2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2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English,</a:t>
                      </a:r>
                      <a:r>
                        <a:rPr dirty="0" sz="1550" spc="2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German,</a:t>
                      </a:r>
                      <a:r>
                        <a:rPr dirty="0" sz="1550" spc="21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2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Mandarin</a:t>
                      </a:r>
                      <a:r>
                        <a:rPr dirty="0" sz="1550" spc="2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Speech,"</a:t>
                      </a:r>
                      <a:r>
                        <a:rPr dirty="0" sz="1550" spc="2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Text,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Speech,</a:t>
                      </a:r>
                      <a:r>
                        <a:rPr dirty="0" sz="1550" spc="2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2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Dialogue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(TSD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2025),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550" spc="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Notes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Science,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16029,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2025.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22680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5580">
                        <a:lnSpc>
                          <a:spcPct val="103000"/>
                        </a:lnSpc>
                        <a:spcBef>
                          <a:spcPts val="36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Trains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multi-label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pooled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multi-corpus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spanning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English,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German,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Mandarin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(four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corpora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total),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shared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wav2vec2.0-based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extractor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language-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independent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representations.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35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97155">
                        <a:lnSpc>
                          <a:spcPct val="121100"/>
                        </a:lnSpc>
                        <a:spcBef>
                          <a:spcPts val="11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550" spc="2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three-language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(Germanic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550" spc="2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Sino-Tibetan)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study;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tests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dirty="0" sz="1550" spc="2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has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cross-linguistic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dirty="0" sz="1550" spc="2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consistency;</a:t>
                      </a:r>
                      <a:r>
                        <a:rPr dirty="0" sz="1550" spc="2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dirty="0" sz="1550" spc="2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single-language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dirty="0" sz="1550" spc="2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pooled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2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regimes.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69570">
                        <a:lnSpc>
                          <a:spcPct val="121100"/>
                        </a:lnSpc>
                        <a:spcBef>
                          <a:spcPts val="120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matched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exceeded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single-language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baselines,</a:t>
                      </a:r>
                      <a:r>
                        <a:rPr dirty="0" sz="1550" spc="2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suggesting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exhibits</a:t>
                      </a:r>
                      <a:r>
                        <a:rPr dirty="0" sz="1550" spc="2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language-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agnostic</a:t>
                      </a:r>
                      <a:r>
                        <a:rPr dirty="0" sz="1550" spc="14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dirty="0" sz="1550" spc="14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dirty="0" sz="1550" spc="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550" spc="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building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550" spc="14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shared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detector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instead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per-language</a:t>
                      </a:r>
                      <a:r>
                        <a:rPr dirty="0" sz="1550" spc="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models.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710" marR="733425">
                        <a:lnSpc>
                          <a:spcPct val="121200"/>
                        </a:lnSpc>
                        <a:spcBef>
                          <a:spcPts val="12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detection-only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transcription);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Indic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languages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(Tamil,</a:t>
                      </a:r>
                      <a:r>
                        <a:rPr dirty="0" sz="1550" spc="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Hindi,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Indian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English)</a:t>
                      </a:r>
                      <a:r>
                        <a:rPr dirty="0" sz="1550" spc="2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language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families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Germanic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Sino-Tibetan,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Indo-Aryan/Dravidian;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dirty="0" sz="1550" spc="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offline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deployment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evaluation;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wav2vec2.0-scale</a:t>
                      </a:r>
                      <a:r>
                        <a:rPr dirty="0" sz="1550" spc="2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models.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30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114151" y="6485890"/>
            <a:ext cx="15303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3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3975" y="883114"/>
          <a:ext cx="11443970" cy="5744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574040">
                        <a:lnSpc>
                          <a:spcPct val="121200"/>
                        </a:lnSpc>
                        <a:spcBef>
                          <a:spcPts val="75"/>
                        </a:spcBef>
                      </a:pP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J. Lian,</a:t>
                      </a:r>
                      <a:r>
                        <a:rPr dirty="0" sz="1550" spc="8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X.</a:t>
                      </a:r>
                      <a:r>
                        <a:rPr dirty="0" sz="1550" spc="9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Zhou,</a:t>
                      </a:r>
                      <a:r>
                        <a:rPr dirty="0" sz="1550" spc="8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Z.</a:t>
                      </a:r>
                      <a:r>
                        <a:rPr dirty="0" sz="1550" spc="8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Ezzes, J.</a:t>
                      </a:r>
                      <a:r>
                        <a:rPr dirty="0" sz="1550" spc="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Vonk,</a:t>
                      </a:r>
                      <a:r>
                        <a:rPr dirty="0" sz="1550" spc="8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B.</a:t>
                      </a:r>
                      <a:r>
                        <a:rPr dirty="0" sz="1550" spc="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Morin, D.</a:t>
                      </a:r>
                      <a:r>
                        <a:rPr dirty="0" sz="1550" spc="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550" spc="8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Baquirin,</a:t>
                      </a:r>
                      <a:r>
                        <a:rPr dirty="0" sz="1550" spc="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Z. Miller,</a:t>
                      </a:r>
                      <a:r>
                        <a:rPr dirty="0" sz="1550" spc="9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550" spc="8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L.</a:t>
                      </a:r>
                      <a:r>
                        <a:rPr dirty="0" sz="1550" spc="8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Gorno-Tempini,</a:t>
                      </a:r>
                      <a:r>
                        <a:rPr dirty="0" sz="1550" spc="8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3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G. </a:t>
                      </a:r>
                      <a:r>
                        <a:rPr dirty="0" sz="1550" spc="-10" b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Anumanchipalli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68910" marR="167640" indent="12700">
                        <a:lnSpc>
                          <a:spcPct val="109000"/>
                        </a:lnSpc>
                        <a:spcBef>
                          <a:spcPts val="24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550" spc="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550" spc="1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1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550" spc="-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5565">
                        <a:lnSpc>
                          <a:spcPct val="100899"/>
                        </a:lnSpc>
                        <a:spcBef>
                          <a:spcPts val="390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"SSDM</a:t>
                      </a:r>
                      <a:r>
                        <a:rPr dirty="0" sz="1550" spc="3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2.0:</a:t>
                      </a:r>
                      <a:r>
                        <a:rPr dirty="0" sz="1550" spc="4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Time-Accurate</a:t>
                      </a:r>
                      <a:r>
                        <a:rPr dirty="0" sz="1550" spc="3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409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Rich</a:t>
                      </a:r>
                      <a:r>
                        <a:rPr dirty="0" sz="1550" spc="3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Transcription</a:t>
                      </a:r>
                      <a:r>
                        <a:rPr dirty="0" sz="1550" spc="41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43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Articulatory-Based</a:t>
                      </a:r>
                      <a:r>
                        <a:rPr dirty="0" sz="1550" spc="4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4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3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Dysfluencies</a:t>
                      </a:r>
                      <a:r>
                        <a:rPr dirty="0" sz="1550" spc="4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Progressive</a:t>
                      </a:r>
                      <a:r>
                        <a:rPr dirty="0" sz="1550" spc="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Aphasia,"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550" spc="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Selected</a:t>
                      </a:r>
                      <a:r>
                        <a:rPr dirty="0" sz="1550" spc="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Topics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dirty="0" sz="1550" spc="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Processing,</a:t>
                      </a:r>
                      <a:r>
                        <a:rPr dirty="0" sz="1550" spc="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2025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(arXiv:2412.00265).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22680">
                <a:tc>
                  <a:txBody>
                    <a:bodyPr/>
                    <a:lstStyle/>
                    <a:p>
                      <a:pPr algn="ctr" marL="110489" marR="106680">
                        <a:lnSpc>
                          <a:spcPct val="109000"/>
                        </a:lnSpc>
                        <a:spcBef>
                          <a:spcPts val="25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550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 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72745">
                        <a:lnSpc>
                          <a:spcPct val="102299"/>
                        </a:lnSpc>
                        <a:spcBef>
                          <a:spcPts val="37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Introduces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"Neural</a:t>
                      </a:r>
                      <a:r>
                        <a:rPr dirty="0" sz="1550" spc="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Articulatory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Flow"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21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scalable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dysfluency-aware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representations,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full-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stack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connectionist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subsequence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aligner</a:t>
                      </a:r>
                      <a:r>
                        <a:rPr dirty="0" sz="1550" spc="2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50" spc="21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dirty="0" sz="1550" spc="2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text-dysfluency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alignment,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LLM-based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in-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context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pronunciation-learning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dirty="0" sz="1550" spc="1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SSDM</a:t>
                      </a:r>
                      <a:r>
                        <a:rPr dirty="0" sz="1550" spc="229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2.0,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lighter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non-end-to-end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variant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(SSDM-</a:t>
                      </a:r>
                      <a:r>
                        <a:rPr dirty="0" sz="1550" spc="-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L)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aimed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550" spc="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deployment.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550" spc="1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544195">
                        <a:lnSpc>
                          <a:spcPct val="121100"/>
                        </a:lnSpc>
                        <a:spcBef>
                          <a:spcPts val="114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transcription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dysfluency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(not</a:t>
                      </a:r>
                      <a:r>
                        <a:rPr dirty="0" sz="1550" spc="229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detection-only);</a:t>
                      </a:r>
                      <a:r>
                        <a:rPr dirty="0" sz="1550" spc="1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explicitly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proposes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lightweight,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modular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clinical-deployment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variant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(SSDM-L);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validated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pathological</a:t>
                      </a:r>
                      <a:r>
                        <a:rPr dirty="0" sz="1550" spc="2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(primary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progressive</a:t>
                      </a:r>
                      <a:r>
                        <a:rPr dirty="0" sz="1550" spc="10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aphasia)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550" spc="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synthetic/simulated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data;</a:t>
                      </a:r>
                      <a:r>
                        <a:rPr dirty="0" sz="1550" spc="2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releases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50" spc="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550" spc="-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-scale</a:t>
                      </a:r>
                      <a:r>
                        <a:rPr dirty="0" sz="1550" spc="16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Libri-Co-Dys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corpus.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99060">
                        <a:lnSpc>
                          <a:spcPct val="121200"/>
                        </a:lnSpc>
                        <a:spcBef>
                          <a:spcPts val="12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SSDM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2.0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substantially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outperforms</a:t>
                      </a:r>
                      <a:r>
                        <a:rPr dirty="0" sz="1550" spc="1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SSDM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dirty="0" sz="1550" spc="20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dysfluency-transcription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models,</a:t>
                      </a:r>
                      <a:r>
                        <a:rPr dirty="0" sz="1550" spc="1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dirty="0" sz="1550" spc="15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decoupling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representation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learning,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alignment,</a:t>
                      </a:r>
                      <a:r>
                        <a:rPr dirty="0" sz="1550" spc="19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LLM-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pronunciation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modeling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dirty="0" sz="1550" spc="17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separate</a:t>
                      </a:r>
                      <a:r>
                        <a:rPr dirty="0" sz="1550" spc="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lightweight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modules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beat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monolithic</a:t>
                      </a:r>
                      <a:r>
                        <a:rPr dirty="0" sz="1550" spc="13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end-to-end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approaches</a:t>
                      </a:r>
                      <a:r>
                        <a:rPr dirty="0" sz="1550" spc="1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50" spc="1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deployability.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73990">
                        <a:lnSpc>
                          <a:spcPct val="121200"/>
                        </a:lnSpc>
                        <a:spcBef>
                          <a:spcPts val="135"/>
                        </a:spcBef>
                      </a:pP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English-only</a:t>
                      </a:r>
                      <a:r>
                        <a:rPr dirty="0" sz="1550" spc="2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dirty="0" sz="1550" spc="2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550" spc="2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550" spc="2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Indic-language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evaluation);</a:t>
                      </a:r>
                      <a:r>
                        <a:rPr dirty="0" sz="1550" spc="229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"lightweight"</a:t>
                      </a:r>
                      <a:r>
                        <a:rPr dirty="0" sz="1550" spc="25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550" spc="19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modular/non-end-to-</a:t>
                      </a:r>
                      <a:r>
                        <a:rPr dirty="0" sz="1550" spc="-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end,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verified</a:t>
                      </a:r>
                      <a:r>
                        <a:rPr dirty="0" sz="1550" spc="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real-time</a:t>
                      </a:r>
                      <a:r>
                        <a:rPr dirty="0" sz="1550" spc="-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offline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550" spc="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dirty="0" sz="1550" spc="114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mobile/edge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dirty="0" sz="1550" spc="6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ONNX/Android</a:t>
                      </a:r>
                      <a:r>
                        <a:rPr dirty="0" sz="1550" spc="-229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-style</a:t>
                      </a:r>
                      <a:r>
                        <a:rPr dirty="0" sz="1550" spc="8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benchmarks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dirty="0" sz="1550" spc="8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dirty="0" sz="1550" spc="22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work);</a:t>
                      </a:r>
                      <a:r>
                        <a:rPr dirty="0" sz="1550" spc="135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targets</a:t>
                      </a:r>
                      <a:r>
                        <a:rPr dirty="0" sz="1550" spc="10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aphasia-related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articulatory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dysfluency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550" spc="12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developmental</a:t>
                      </a:r>
                      <a:r>
                        <a:rPr dirty="0" sz="1550" spc="24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stuttering</a:t>
                      </a:r>
                      <a:r>
                        <a:rPr dirty="0" sz="1550" spc="17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10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specifically.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175">
                      <a:solidFill>
                        <a:srgbClr val="4471C4"/>
                      </a:solidFill>
                      <a:prstDash val="solid"/>
                    </a:lnL>
                    <a:lnR w="3175">
                      <a:solidFill>
                        <a:srgbClr val="4471C4"/>
                      </a:solidFill>
                      <a:prstDash val="solid"/>
                    </a:lnR>
                    <a:lnT w="3175">
                      <a:solidFill>
                        <a:srgbClr val="4471C4"/>
                      </a:solidFill>
                      <a:prstDash val="solid"/>
                    </a:lnT>
                    <a:lnB w="3175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551180">
              <a:lnSpc>
                <a:spcPct val="100000"/>
              </a:lnSpc>
              <a:spcBef>
                <a:spcPts val="130"/>
              </a:spcBef>
            </a:pPr>
            <a:r>
              <a:rPr dirty="0" sz="3200"/>
              <a:t>Problem</a:t>
            </a:r>
            <a:r>
              <a:rPr dirty="0" sz="3200" spc="-155"/>
              <a:t> </a:t>
            </a:r>
            <a:r>
              <a:rPr dirty="0" sz="3200" spc="-10"/>
              <a:t>Statement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188078" y="6343015"/>
            <a:ext cx="543560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00150" marR="5080" indent="-118745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3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and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Deep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5987" y="1383825"/>
            <a:ext cx="9808845" cy="3097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20"/>
              </a:spcBef>
            </a:pPr>
            <a:r>
              <a:rPr dirty="0" sz="2000">
                <a:latin typeface="Times New Roman"/>
                <a:cs typeface="Times New Roman"/>
              </a:rPr>
              <a:t>There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accurate,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clinically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deployable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joint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stuttering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transcription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Tamil,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Hindi,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Indian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English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accents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almost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entirely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absent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from </a:t>
            </a: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stuttering-</a:t>
            </a:r>
            <a:r>
              <a:rPr dirty="0" sz="2000">
                <a:latin typeface="Times New Roman"/>
                <a:cs typeface="Times New Roman"/>
              </a:rPr>
              <a:t>speech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offline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low-cost,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resource-constrained </a:t>
            </a:r>
            <a:r>
              <a:rPr dirty="0" sz="2000">
                <a:latin typeface="Times New Roman"/>
                <a:cs typeface="Times New Roman"/>
              </a:rPr>
              <a:t>devices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world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clinical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screening.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065"/>
              </a:lnSpc>
            </a:pPr>
            <a:r>
              <a:rPr dirty="0" sz="2000">
                <a:latin typeface="Times New Roman"/>
                <a:cs typeface="Times New Roman"/>
              </a:rPr>
              <a:t>1)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E2760"/>
                </a:solidFill>
                <a:latin typeface="Times New Roman"/>
                <a:cs typeface="Times New Roman"/>
              </a:rPr>
              <a:t>Language</a:t>
            </a:r>
            <a:r>
              <a:rPr dirty="0" sz="2000" spc="-20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E2760"/>
                </a:solidFill>
                <a:latin typeface="Times New Roman"/>
                <a:cs typeface="Times New Roman"/>
              </a:rPr>
              <a:t>exclusion</a:t>
            </a:r>
            <a:endParaRPr sz="2000">
              <a:latin typeface="Times New Roman"/>
              <a:cs typeface="Times New Roman"/>
            </a:endParaRPr>
          </a:p>
          <a:p>
            <a:pPr marL="457200">
              <a:lnSpc>
                <a:spcPts val="1730"/>
              </a:lnSpc>
            </a:pP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Existing</a:t>
            </a:r>
            <a:r>
              <a:rPr dirty="0" sz="20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tools</a:t>
            </a:r>
            <a:r>
              <a:rPr dirty="0" sz="20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are</a:t>
            </a:r>
            <a:r>
              <a:rPr dirty="0" sz="20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trained</a:t>
            </a:r>
            <a:r>
              <a:rPr dirty="0" sz="20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validated</a:t>
            </a:r>
            <a:r>
              <a:rPr dirty="0" sz="20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almost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exclusively</a:t>
            </a:r>
            <a:r>
              <a:rPr dirty="0" sz="20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on</a:t>
            </a:r>
            <a:r>
              <a:rPr dirty="0" sz="20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English</a:t>
            </a:r>
            <a:r>
              <a:rPr dirty="0" sz="200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speech.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1725"/>
              </a:lnSpc>
            </a:pPr>
            <a:r>
              <a:rPr dirty="0" sz="2000">
                <a:solidFill>
                  <a:srgbClr val="1E2760"/>
                </a:solidFill>
                <a:latin typeface="Times New Roman"/>
                <a:cs typeface="Times New Roman"/>
              </a:rPr>
              <a:t>1)No</a:t>
            </a:r>
            <a:r>
              <a:rPr dirty="0" sz="2000" spc="55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E2760"/>
                </a:solidFill>
                <a:latin typeface="Times New Roman"/>
                <a:cs typeface="Times New Roman"/>
              </a:rPr>
              <a:t>joint</a:t>
            </a:r>
            <a:r>
              <a:rPr dirty="0" sz="2000" spc="55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E2760"/>
                </a:solidFill>
                <a:latin typeface="Times New Roman"/>
                <a:cs typeface="Times New Roman"/>
              </a:rPr>
              <a:t>modeling</a:t>
            </a:r>
            <a:endParaRPr sz="2000">
              <a:latin typeface="Times New Roman"/>
              <a:cs typeface="Times New Roman"/>
            </a:endParaRPr>
          </a:p>
          <a:p>
            <a:pPr marL="520700">
              <a:lnSpc>
                <a:spcPts val="1689"/>
              </a:lnSpc>
            </a:pP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are</a:t>
            </a:r>
            <a:r>
              <a:rPr dirty="0" sz="2000" spc="-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usually</a:t>
            </a:r>
            <a:r>
              <a:rPr dirty="0" sz="20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solved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as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separate,</a:t>
            </a:r>
            <a:r>
              <a:rPr dirty="0" sz="2000" spc="-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disconnected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tasks.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1689"/>
              </a:lnSpc>
            </a:pP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1)</a:t>
            </a:r>
            <a:r>
              <a:rPr dirty="0" sz="2000">
                <a:solidFill>
                  <a:srgbClr val="1E2760"/>
                </a:solidFill>
                <a:latin typeface="Times New Roman"/>
                <a:cs typeface="Times New Roman"/>
              </a:rPr>
              <a:t>Deployment</a:t>
            </a:r>
            <a:r>
              <a:rPr dirty="0" sz="2000" spc="50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E2760"/>
                </a:solidFill>
                <a:latin typeface="Times New Roman"/>
                <a:cs typeface="Times New Roman"/>
              </a:rPr>
              <a:t>barrier</a:t>
            </a:r>
            <a:endParaRPr sz="2000">
              <a:latin typeface="Times New Roman"/>
              <a:cs typeface="Times New Roman"/>
            </a:endParaRPr>
          </a:p>
          <a:p>
            <a:pPr marL="457200">
              <a:lnSpc>
                <a:spcPts val="2065"/>
              </a:lnSpc>
            </a:pP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State-of-the-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art</a:t>
            </a:r>
            <a:r>
              <a:rPr dirty="0" sz="2000" spc="-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models</a:t>
            </a:r>
            <a:r>
              <a:rPr dirty="0" sz="2000" spc="-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are</a:t>
            </a:r>
            <a:r>
              <a:rPr dirty="0" sz="2000" spc="-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too</a:t>
            </a:r>
            <a:r>
              <a:rPr dirty="0" sz="2000" spc="-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large</a:t>
            </a:r>
            <a:r>
              <a:rPr dirty="0" sz="20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for</a:t>
            </a:r>
            <a:r>
              <a:rPr dirty="0" sz="2000" spc="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F253E"/>
                </a:solidFill>
                <a:latin typeface="Times New Roman"/>
                <a:cs typeface="Times New Roman"/>
              </a:rPr>
              <a:t>real-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time,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offline</a:t>
            </a:r>
            <a:r>
              <a:rPr dirty="0" sz="2000" spc="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clinical</a:t>
            </a:r>
            <a:r>
              <a:rPr dirty="0" sz="2000" spc="-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use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r>
              <a:rPr dirty="0" sz="2000" spc="-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India.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000760">
              <a:lnSpc>
                <a:spcPct val="100000"/>
              </a:lnSpc>
              <a:spcBef>
                <a:spcPts val="130"/>
              </a:spcBef>
            </a:pPr>
            <a:r>
              <a:rPr dirty="0" sz="3200"/>
              <a:t>Research</a:t>
            </a:r>
            <a:r>
              <a:rPr dirty="0" sz="3200" spc="-200"/>
              <a:t> </a:t>
            </a:r>
            <a:r>
              <a:rPr dirty="0" sz="3200" spc="-25"/>
              <a:t>Gap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97146" y="6343015"/>
            <a:ext cx="442722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01930" marR="5080" indent="-18986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1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2680" y="1634489"/>
            <a:ext cx="10301605" cy="3086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Four</a:t>
            </a:r>
            <a:r>
              <a:rPr dirty="0" sz="2150" spc="2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Gaps This</a:t>
            </a:r>
            <a:r>
              <a:rPr dirty="0" sz="2150" spc="-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Work</a:t>
            </a:r>
            <a:r>
              <a:rPr dirty="0" sz="2150" spc="10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Sets</a:t>
            </a:r>
            <a:r>
              <a:rPr dirty="0" sz="2150" spc="8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Out</a:t>
            </a:r>
            <a:r>
              <a:rPr dirty="0" sz="2150" spc="5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to</a:t>
            </a:r>
            <a:r>
              <a:rPr dirty="0" sz="2150" spc="7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spc="-10" b="1">
                <a:solidFill>
                  <a:srgbClr val="1E2760"/>
                </a:solidFill>
                <a:latin typeface="Times New Roman"/>
                <a:cs typeface="Times New Roman"/>
              </a:rPr>
              <a:t>Close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 marR="450850">
              <a:lnSpc>
                <a:spcPct val="66900"/>
              </a:lnSpc>
              <a:spcBef>
                <a:spcPts val="5"/>
              </a:spcBef>
            </a:pP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Multilingual</a:t>
            </a:r>
            <a:r>
              <a:rPr dirty="0" sz="2150" spc="15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coverage</a:t>
            </a:r>
            <a:r>
              <a:rPr dirty="0" sz="2150" spc="8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gap</a:t>
            </a:r>
            <a:r>
              <a:rPr dirty="0" sz="2150" spc="15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-</a:t>
            </a:r>
            <a:r>
              <a:rPr dirty="0" sz="2150" spc="114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No</a:t>
            </a:r>
            <a:r>
              <a:rPr dirty="0" sz="21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stuttering</a:t>
            </a:r>
            <a:r>
              <a:rPr dirty="0" sz="21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detection/transcription</a:t>
            </a:r>
            <a:r>
              <a:rPr dirty="0" sz="21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system</a:t>
            </a:r>
            <a:r>
              <a:rPr dirty="0" sz="21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covers</a:t>
            </a:r>
            <a:r>
              <a:rPr dirty="0" sz="21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F253E"/>
                </a:solidFill>
                <a:latin typeface="Times New Roman"/>
                <a:cs typeface="Times New Roman"/>
              </a:rPr>
              <a:t>Tamil,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Hindi,</a:t>
            </a:r>
            <a:r>
              <a:rPr dirty="0" sz="2150" spc="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1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Indian</a:t>
            </a:r>
            <a:r>
              <a:rPr dirty="0" sz="21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English</a:t>
            </a:r>
            <a:r>
              <a:rPr dirty="0" sz="21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F253E"/>
                </a:solidFill>
                <a:latin typeface="Times New Roman"/>
                <a:cs typeface="Times New Roman"/>
              </a:rPr>
              <a:t>together.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ts val="2155"/>
              </a:lnSpc>
              <a:spcBef>
                <a:spcPts val="800"/>
              </a:spcBef>
            </a:pP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Joint-task</a:t>
            </a:r>
            <a:r>
              <a:rPr dirty="0" sz="2150" spc="7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gap</a:t>
            </a:r>
            <a:r>
              <a:rPr dirty="0" sz="2150" spc="14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-</a:t>
            </a:r>
            <a:r>
              <a:rPr dirty="0" sz="2150" spc="13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21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1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dysfluency-aware</a:t>
            </a:r>
            <a:r>
              <a:rPr dirty="0" sz="21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21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are</a:t>
            </a:r>
            <a:r>
              <a:rPr dirty="0" sz="21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rarely</a:t>
            </a:r>
            <a:r>
              <a:rPr dirty="0" sz="21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modeled</a:t>
            </a:r>
            <a:r>
              <a:rPr dirty="0" sz="21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jointly</a:t>
            </a:r>
            <a:r>
              <a:rPr dirty="0" sz="21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25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ts val="2155"/>
              </a:lnSpc>
            </a:pP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2150" spc="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single</a:t>
            </a:r>
            <a:r>
              <a:rPr dirty="0" sz="21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F253E"/>
                </a:solidFill>
                <a:latin typeface="Times New Roman"/>
                <a:cs typeface="Times New Roman"/>
              </a:rPr>
              <a:t>architecture.</a:t>
            </a:r>
            <a:endParaRPr sz="2150">
              <a:latin typeface="Times New Roman"/>
              <a:cs typeface="Times New Roman"/>
            </a:endParaRPr>
          </a:p>
          <a:p>
            <a:pPr marL="12700" marR="379095">
              <a:lnSpc>
                <a:spcPct val="66900"/>
              </a:lnSpc>
              <a:spcBef>
                <a:spcPts val="1655"/>
              </a:spcBef>
            </a:pP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Edge-deployment</a:t>
            </a:r>
            <a:r>
              <a:rPr dirty="0" sz="2150" spc="7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gap</a:t>
            </a:r>
            <a:r>
              <a:rPr dirty="0" sz="2150" spc="17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-</a:t>
            </a:r>
            <a:r>
              <a:rPr dirty="0" sz="2150" spc="9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Large</a:t>
            </a:r>
            <a:r>
              <a:rPr dirty="0" sz="2150" spc="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self-supervised</a:t>
            </a:r>
            <a:r>
              <a:rPr dirty="0" sz="21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teacher</a:t>
            </a:r>
            <a:r>
              <a:rPr dirty="0" sz="21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models</a:t>
            </a:r>
            <a:r>
              <a:rPr dirty="0" sz="21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cannot</a:t>
            </a:r>
            <a:r>
              <a:rPr dirty="0" sz="2150" spc="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run</a:t>
            </a:r>
            <a:r>
              <a:rPr dirty="0" sz="21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offline,</a:t>
            </a:r>
            <a:r>
              <a:rPr dirty="0" sz="21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r>
              <a:rPr dirty="0" sz="21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F253E"/>
                </a:solidFill>
                <a:latin typeface="Times New Roman"/>
                <a:cs typeface="Times New Roman"/>
              </a:rPr>
              <a:t>real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time,</a:t>
            </a:r>
            <a:r>
              <a:rPr dirty="0" sz="21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on</a:t>
            </a:r>
            <a:r>
              <a:rPr dirty="0" sz="21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low-cost</a:t>
            </a:r>
            <a:r>
              <a:rPr dirty="0" sz="2150" spc="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clinical</a:t>
            </a:r>
            <a:r>
              <a:rPr dirty="0" sz="2150" spc="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F253E"/>
                </a:solidFill>
                <a:latin typeface="Times New Roman"/>
                <a:cs typeface="Times New Roman"/>
              </a:rPr>
              <a:t>devices.</a:t>
            </a:r>
            <a:endParaRPr sz="2150">
              <a:latin typeface="Times New Roman"/>
              <a:cs typeface="Times New Roman"/>
            </a:endParaRPr>
          </a:p>
          <a:p>
            <a:pPr marL="12700" marR="753745">
              <a:lnSpc>
                <a:spcPct val="67000"/>
              </a:lnSpc>
              <a:spcBef>
                <a:spcPts val="1650"/>
              </a:spcBef>
            </a:pP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Clinical-validation</a:t>
            </a:r>
            <a:r>
              <a:rPr dirty="0" sz="2150" spc="15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gap</a:t>
            </a:r>
            <a:r>
              <a:rPr dirty="0" sz="2150" spc="16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E2760"/>
                </a:solidFill>
                <a:latin typeface="Times New Roman"/>
                <a:cs typeface="Times New Roman"/>
              </a:rPr>
              <a:t>-</a:t>
            </a:r>
            <a:r>
              <a:rPr dirty="0" sz="2150" spc="12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Few</a:t>
            </a:r>
            <a:r>
              <a:rPr dirty="0" sz="2150" spc="1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systems</a:t>
            </a:r>
            <a:r>
              <a:rPr dirty="0" sz="21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are</a:t>
            </a:r>
            <a:r>
              <a:rPr dirty="0" sz="21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validated</a:t>
            </a:r>
            <a:r>
              <a:rPr dirty="0" sz="21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against</a:t>
            </a:r>
            <a:r>
              <a:rPr dirty="0" sz="2150" spc="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clinician-annotated,</a:t>
            </a:r>
            <a:r>
              <a:rPr dirty="0" sz="21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F253E"/>
                </a:solidFill>
                <a:latin typeface="Times New Roman"/>
                <a:cs typeface="Times New Roman"/>
              </a:rPr>
              <a:t>real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patient</a:t>
            </a:r>
            <a:r>
              <a:rPr dirty="0" sz="2150" spc="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F253E"/>
                </a:solidFill>
                <a:latin typeface="Times New Roman"/>
                <a:cs typeface="Times New Roman"/>
              </a:rPr>
              <a:t>speech</a:t>
            </a:r>
            <a:r>
              <a:rPr dirty="0" sz="21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F253E"/>
                </a:solidFill>
                <a:latin typeface="Times New Roman"/>
                <a:cs typeface="Times New Roman"/>
              </a:rPr>
              <a:t>data.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5987" y="6435090"/>
            <a:ext cx="798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r>
              <a:rPr dirty="0" sz="1200" spc="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Aug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 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4545" y="6343015"/>
            <a:ext cx="442722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84150" marR="5080" indent="-17208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1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17855" y="56261"/>
            <a:ext cx="8167370" cy="137668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 indent="2417445">
              <a:lnSpc>
                <a:spcPct val="138500"/>
              </a:lnSpc>
              <a:spcBef>
                <a:spcPts val="90"/>
              </a:spcBef>
            </a:pPr>
            <a:r>
              <a:rPr dirty="0" sz="3200">
                <a:solidFill>
                  <a:srgbClr val="0D0D0D"/>
                </a:solidFill>
              </a:rPr>
              <a:t>Objectives</a:t>
            </a:r>
            <a:r>
              <a:rPr dirty="0" sz="3200" spc="-40">
                <a:solidFill>
                  <a:srgbClr val="0D0D0D"/>
                </a:solidFill>
              </a:rPr>
              <a:t> </a:t>
            </a:r>
            <a:r>
              <a:rPr dirty="0" sz="3200">
                <a:solidFill>
                  <a:srgbClr val="0D0D0D"/>
                </a:solidFill>
              </a:rPr>
              <a:t>of</a:t>
            </a:r>
            <a:r>
              <a:rPr dirty="0" sz="3200" spc="-70">
                <a:solidFill>
                  <a:srgbClr val="0D0D0D"/>
                </a:solidFill>
              </a:rPr>
              <a:t> </a:t>
            </a:r>
            <a:r>
              <a:rPr dirty="0" sz="3200">
                <a:solidFill>
                  <a:srgbClr val="0D0D0D"/>
                </a:solidFill>
              </a:rPr>
              <a:t>the</a:t>
            </a:r>
            <a:r>
              <a:rPr dirty="0" sz="3200" spc="-110">
                <a:solidFill>
                  <a:srgbClr val="0D0D0D"/>
                </a:solidFill>
              </a:rPr>
              <a:t> </a:t>
            </a:r>
            <a:r>
              <a:rPr dirty="0" sz="3200">
                <a:solidFill>
                  <a:srgbClr val="0D0D0D"/>
                </a:solidFill>
              </a:rPr>
              <a:t>Proposed</a:t>
            </a:r>
            <a:r>
              <a:rPr dirty="0" sz="3200" spc="-105">
                <a:solidFill>
                  <a:srgbClr val="0D0D0D"/>
                </a:solidFill>
              </a:rPr>
              <a:t> </a:t>
            </a:r>
            <a:r>
              <a:rPr dirty="0" sz="3200" spc="-20">
                <a:solidFill>
                  <a:srgbClr val="0D0D0D"/>
                </a:solidFill>
              </a:rPr>
              <a:t>Work </a:t>
            </a:r>
            <a:r>
              <a:rPr dirty="0" sz="3200">
                <a:solidFill>
                  <a:srgbClr val="1E2760"/>
                </a:solidFill>
              </a:rPr>
              <a:t>Three</a:t>
            </a:r>
            <a:r>
              <a:rPr dirty="0" sz="3200" spc="-140">
                <a:solidFill>
                  <a:srgbClr val="1E2760"/>
                </a:solidFill>
              </a:rPr>
              <a:t> </a:t>
            </a:r>
            <a:r>
              <a:rPr dirty="0" sz="3200">
                <a:solidFill>
                  <a:srgbClr val="1E2760"/>
                </a:solidFill>
              </a:rPr>
              <a:t>Core</a:t>
            </a:r>
            <a:r>
              <a:rPr dirty="0" sz="3200" spc="-130">
                <a:solidFill>
                  <a:srgbClr val="1E2760"/>
                </a:solidFill>
              </a:rPr>
              <a:t> </a:t>
            </a:r>
            <a:r>
              <a:rPr dirty="0" sz="3200" spc="-10">
                <a:solidFill>
                  <a:srgbClr val="1E2760"/>
                </a:solidFill>
              </a:rPr>
              <a:t>Objectives</a:t>
            </a:r>
            <a:endParaRPr sz="3200"/>
          </a:p>
        </p:txBody>
      </p:sp>
      <p:grpSp>
        <p:nvGrpSpPr>
          <p:cNvPr id="8" name="object 8" descr="   (Rectangle: Rounded Corners)"/>
          <p:cNvGrpSpPr/>
          <p:nvPr/>
        </p:nvGrpSpPr>
        <p:grpSpPr>
          <a:xfrm>
            <a:off x="495252" y="1666769"/>
            <a:ext cx="3672204" cy="4215130"/>
            <a:chOff x="495252" y="1666769"/>
            <a:chExt cx="3672204" cy="4215130"/>
          </a:xfrm>
        </p:grpSpPr>
        <p:pic>
          <p:nvPicPr>
            <p:cNvPr id="9" name="object 9" descr="   (Rectangle: Rounded Corners)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252" y="1666769"/>
              <a:ext cx="3672046" cy="42149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2449" y="1695703"/>
              <a:ext cx="3562350" cy="4105910"/>
            </a:xfrm>
            <a:custGeom>
              <a:avLst/>
              <a:gdLst/>
              <a:ahLst/>
              <a:cxnLst/>
              <a:rect l="l" t="t" r="r" b="b"/>
              <a:pathLst>
                <a:path w="3562350" h="4105910">
                  <a:moveTo>
                    <a:pt x="3471037" y="0"/>
                  </a:moveTo>
                  <a:lnTo>
                    <a:pt x="91338" y="0"/>
                  </a:lnTo>
                  <a:lnTo>
                    <a:pt x="55785" y="7177"/>
                  </a:lnTo>
                  <a:lnTo>
                    <a:pt x="26752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4014419"/>
                  </a:lnTo>
                  <a:lnTo>
                    <a:pt x="7177" y="4049979"/>
                  </a:lnTo>
                  <a:lnTo>
                    <a:pt x="26752" y="4079016"/>
                  </a:lnTo>
                  <a:lnTo>
                    <a:pt x="55785" y="4098592"/>
                  </a:lnTo>
                  <a:lnTo>
                    <a:pt x="91338" y="4105770"/>
                  </a:lnTo>
                  <a:lnTo>
                    <a:pt x="3471037" y="4105770"/>
                  </a:lnTo>
                  <a:lnTo>
                    <a:pt x="3506575" y="4098592"/>
                  </a:lnTo>
                  <a:lnTo>
                    <a:pt x="3535600" y="4079016"/>
                  </a:lnTo>
                  <a:lnTo>
                    <a:pt x="3555172" y="4049979"/>
                  </a:lnTo>
                  <a:lnTo>
                    <a:pt x="3562350" y="4014419"/>
                  </a:lnTo>
                  <a:lnTo>
                    <a:pt x="3562350" y="91312"/>
                  </a:lnTo>
                  <a:lnTo>
                    <a:pt x="3555172" y="55774"/>
                  </a:lnTo>
                  <a:lnTo>
                    <a:pt x="3535600" y="26749"/>
                  </a:lnTo>
                  <a:lnTo>
                    <a:pt x="3506575" y="7177"/>
                  </a:lnTo>
                  <a:lnTo>
                    <a:pt x="3471037" y="0"/>
                  </a:lnTo>
                  <a:close/>
                </a:path>
              </a:pathLst>
            </a:custGeom>
            <a:solidFill>
              <a:srgbClr val="F3F5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   (Rectangle: Rounded Corners)"/>
          <p:cNvGrpSpPr/>
          <p:nvPr/>
        </p:nvGrpSpPr>
        <p:grpSpPr>
          <a:xfrm>
            <a:off x="4438602" y="1619144"/>
            <a:ext cx="3681729" cy="4224655"/>
            <a:chOff x="4438602" y="1619144"/>
            <a:chExt cx="3681729" cy="4224655"/>
          </a:xfrm>
        </p:grpSpPr>
        <p:pic>
          <p:nvPicPr>
            <p:cNvPr id="12" name="object 12" descr="   (Rectangle: Rounded Corners)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8602" y="1619144"/>
              <a:ext cx="3681571" cy="42244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95799" y="1648078"/>
              <a:ext cx="3571875" cy="4115435"/>
            </a:xfrm>
            <a:custGeom>
              <a:avLst/>
              <a:gdLst/>
              <a:ahLst/>
              <a:cxnLst/>
              <a:rect l="l" t="t" r="r" b="b"/>
              <a:pathLst>
                <a:path w="3571875" h="4115435">
                  <a:moveTo>
                    <a:pt x="3480307" y="0"/>
                  </a:moveTo>
                  <a:lnTo>
                    <a:pt x="91566" y="0"/>
                  </a:lnTo>
                  <a:lnTo>
                    <a:pt x="55935" y="7199"/>
                  </a:lnTo>
                  <a:lnTo>
                    <a:pt x="26828" y="26828"/>
                  </a:lnTo>
                  <a:lnTo>
                    <a:pt x="7199" y="55935"/>
                  </a:lnTo>
                  <a:lnTo>
                    <a:pt x="0" y="91567"/>
                  </a:lnTo>
                  <a:lnTo>
                    <a:pt x="0" y="4023702"/>
                  </a:lnTo>
                  <a:lnTo>
                    <a:pt x="7199" y="4059354"/>
                  </a:lnTo>
                  <a:lnTo>
                    <a:pt x="26828" y="4088468"/>
                  </a:lnTo>
                  <a:lnTo>
                    <a:pt x="55935" y="4108097"/>
                  </a:lnTo>
                  <a:lnTo>
                    <a:pt x="91566" y="4115295"/>
                  </a:lnTo>
                  <a:lnTo>
                    <a:pt x="3480307" y="4115295"/>
                  </a:lnTo>
                  <a:lnTo>
                    <a:pt x="3515939" y="4108097"/>
                  </a:lnTo>
                  <a:lnTo>
                    <a:pt x="3545046" y="4088468"/>
                  </a:lnTo>
                  <a:lnTo>
                    <a:pt x="3564675" y="4059354"/>
                  </a:lnTo>
                  <a:lnTo>
                    <a:pt x="3571875" y="4023702"/>
                  </a:lnTo>
                  <a:lnTo>
                    <a:pt x="3571875" y="91567"/>
                  </a:lnTo>
                  <a:lnTo>
                    <a:pt x="3564675" y="55935"/>
                  </a:lnTo>
                  <a:lnTo>
                    <a:pt x="3545046" y="26828"/>
                  </a:lnTo>
                  <a:lnTo>
                    <a:pt x="3515939" y="7199"/>
                  </a:lnTo>
                  <a:lnTo>
                    <a:pt x="3480307" y="0"/>
                  </a:lnTo>
                  <a:close/>
                </a:path>
              </a:pathLst>
            </a:custGeom>
            <a:solidFill>
              <a:srgbClr val="F3F5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   (Rectangle: Rounded Corners)"/>
          <p:cNvGrpSpPr/>
          <p:nvPr/>
        </p:nvGrpSpPr>
        <p:grpSpPr>
          <a:xfrm>
            <a:off x="8258126" y="1619144"/>
            <a:ext cx="3672204" cy="4224655"/>
            <a:chOff x="8258126" y="1619144"/>
            <a:chExt cx="3672204" cy="4224655"/>
          </a:xfrm>
        </p:grpSpPr>
        <p:pic>
          <p:nvPicPr>
            <p:cNvPr id="15" name="object 15" descr="   (Rectangle: Rounded Corners)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58126" y="1619144"/>
              <a:ext cx="3672046" cy="422448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15324" y="1648078"/>
              <a:ext cx="3562350" cy="4115435"/>
            </a:xfrm>
            <a:custGeom>
              <a:avLst/>
              <a:gdLst/>
              <a:ahLst/>
              <a:cxnLst/>
              <a:rect l="l" t="t" r="r" b="b"/>
              <a:pathLst>
                <a:path w="3562350" h="4115435">
                  <a:moveTo>
                    <a:pt x="3471036" y="0"/>
                  </a:moveTo>
                  <a:lnTo>
                    <a:pt x="91313" y="0"/>
                  </a:lnTo>
                  <a:lnTo>
                    <a:pt x="55774" y="7177"/>
                  </a:lnTo>
                  <a:lnTo>
                    <a:pt x="26749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4023944"/>
                  </a:lnTo>
                  <a:lnTo>
                    <a:pt x="7177" y="4059504"/>
                  </a:lnTo>
                  <a:lnTo>
                    <a:pt x="26749" y="4088541"/>
                  </a:lnTo>
                  <a:lnTo>
                    <a:pt x="55774" y="4108117"/>
                  </a:lnTo>
                  <a:lnTo>
                    <a:pt x="91313" y="4115295"/>
                  </a:lnTo>
                  <a:lnTo>
                    <a:pt x="3471036" y="4115295"/>
                  </a:lnTo>
                  <a:lnTo>
                    <a:pt x="3506575" y="4108117"/>
                  </a:lnTo>
                  <a:lnTo>
                    <a:pt x="3535600" y="4088541"/>
                  </a:lnTo>
                  <a:lnTo>
                    <a:pt x="3555172" y="4059504"/>
                  </a:lnTo>
                  <a:lnTo>
                    <a:pt x="3562350" y="4023944"/>
                  </a:lnTo>
                  <a:lnTo>
                    <a:pt x="3562350" y="91312"/>
                  </a:lnTo>
                  <a:lnTo>
                    <a:pt x="3555172" y="55774"/>
                  </a:lnTo>
                  <a:lnTo>
                    <a:pt x="3535600" y="26749"/>
                  </a:lnTo>
                  <a:lnTo>
                    <a:pt x="3506575" y="7177"/>
                  </a:lnTo>
                  <a:lnTo>
                    <a:pt x="3471036" y="0"/>
                  </a:lnTo>
                  <a:close/>
                </a:path>
              </a:pathLst>
            </a:custGeom>
            <a:solidFill>
              <a:srgbClr val="F3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47102" y="1986280"/>
            <a:ext cx="2327275" cy="16897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50" b="1">
                <a:solidFill>
                  <a:srgbClr val="1E2760"/>
                </a:solidFill>
                <a:latin typeface="Cambria"/>
                <a:cs typeface="Cambria"/>
              </a:rPr>
              <a:t>1</a:t>
            </a:r>
            <a:endParaRPr sz="4550">
              <a:latin typeface="Cambria"/>
              <a:cs typeface="Cambria"/>
            </a:endParaRPr>
          </a:p>
          <a:p>
            <a:pPr marL="12700" marR="5080">
              <a:lnSpc>
                <a:spcPct val="103099"/>
              </a:lnSpc>
              <a:spcBef>
                <a:spcPts val="3400"/>
              </a:spcBef>
            </a:pPr>
            <a:r>
              <a:rPr dirty="0" sz="1700" b="1">
                <a:solidFill>
                  <a:srgbClr val="1E2760"/>
                </a:solidFill>
                <a:latin typeface="Times New Roman"/>
                <a:cs typeface="Times New Roman"/>
              </a:rPr>
              <a:t>Multilingual</a:t>
            </a:r>
            <a:r>
              <a:rPr dirty="0" sz="1700" spc="-7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760"/>
                </a:solidFill>
                <a:latin typeface="Times New Roman"/>
                <a:cs typeface="Times New Roman"/>
              </a:rPr>
              <a:t>Dysfluency-</a:t>
            </a:r>
            <a:r>
              <a:rPr dirty="0" sz="1700" spc="-20" b="1">
                <a:solidFill>
                  <a:srgbClr val="1E2760"/>
                </a:solidFill>
                <a:latin typeface="Times New Roman"/>
                <a:cs typeface="Times New Roman"/>
              </a:rPr>
              <a:t>Aware</a:t>
            </a:r>
            <a:r>
              <a:rPr dirty="0" sz="1700" spc="-7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760"/>
                </a:solidFill>
                <a:latin typeface="Times New Roman"/>
                <a:cs typeface="Times New Roman"/>
              </a:rPr>
              <a:t>Modeling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98365" y="1986280"/>
            <a:ext cx="370205" cy="723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50" b="1">
                <a:solidFill>
                  <a:srgbClr val="E8A23C"/>
                </a:solidFill>
                <a:latin typeface="Cambria"/>
                <a:cs typeface="Cambria"/>
              </a:rPr>
              <a:t>2</a:t>
            </a:r>
            <a:endParaRPr sz="45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49944" y="1986280"/>
            <a:ext cx="1987550" cy="16897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50" b="1">
                <a:solidFill>
                  <a:srgbClr val="1E2760"/>
                </a:solidFill>
                <a:latin typeface="Cambria"/>
                <a:cs typeface="Cambria"/>
              </a:rPr>
              <a:t>3</a:t>
            </a:r>
            <a:endParaRPr sz="4550">
              <a:latin typeface="Cambria"/>
              <a:cs typeface="Cambria"/>
            </a:endParaRPr>
          </a:p>
          <a:p>
            <a:pPr marL="12700" marR="5080">
              <a:lnSpc>
                <a:spcPct val="103099"/>
              </a:lnSpc>
              <a:spcBef>
                <a:spcPts val="3400"/>
              </a:spcBef>
            </a:pPr>
            <a:r>
              <a:rPr dirty="0" sz="1700" b="1">
                <a:solidFill>
                  <a:srgbClr val="1E2760"/>
                </a:solidFill>
                <a:latin typeface="Times New Roman"/>
                <a:cs typeface="Times New Roman"/>
              </a:rPr>
              <a:t>Clinical</a:t>
            </a:r>
            <a:r>
              <a:rPr dirty="0" sz="1700" spc="-6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700" spc="-20" b="1">
                <a:solidFill>
                  <a:srgbClr val="1E2760"/>
                </a:solidFill>
                <a:latin typeface="Times New Roman"/>
                <a:cs typeface="Times New Roman"/>
              </a:rPr>
              <a:t>Validation</a:t>
            </a:r>
            <a:r>
              <a:rPr dirty="0" sz="1700" spc="-2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700" spc="-50" b="1">
                <a:solidFill>
                  <a:srgbClr val="1E2760"/>
                </a:solidFill>
                <a:latin typeface="Times New Roman"/>
                <a:cs typeface="Times New Roman"/>
              </a:rPr>
              <a:t>&amp; </a:t>
            </a:r>
            <a:r>
              <a:rPr dirty="0" sz="1700" spc="-10" b="1">
                <a:solidFill>
                  <a:srgbClr val="1E2760"/>
                </a:solidFill>
                <a:latin typeface="Times New Roman"/>
                <a:cs typeface="Times New Roman"/>
              </a:rPr>
              <a:t>Dissemination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7102" y="4321619"/>
            <a:ext cx="2550795" cy="941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90"/>
              </a:spcBef>
            </a:pP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Design</a:t>
            </a:r>
            <a:r>
              <a:rPr dirty="0" sz="12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12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develop</a:t>
            </a:r>
            <a:r>
              <a:rPr dirty="0" sz="12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12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joint</a:t>
            </a:r>
            <a:r>
              <a:rPr dirty="0" sz="1250" spc="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1F253E"/>
                </a:solidFill>
                <a:latin typeface="Times New Roman"/>
                <a:cs typeface="Times New Roman"/>
              </a:rPr>
              <a:t>stuttering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12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12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12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1F253E"/>
                </a:solidFill>
                <a:latin typeface="Times New Roman"/>
                <a:cs typeface="Times New Roman"/>
              </a:rPr>
              <a:t>framework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spanning</a:t>
            </a:r>
            <a:r>
              <a:rPr dirty="0" sz="12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Tamil,</a:t>
            </a:r>
            <a:r>
              <a:rPr dirty="0" sz="1250" spc="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Hindi,</a:t>
            </a:r>
            <a:r>
              <a:rPr dirty="0" sz="12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12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1F253E"/>
                </a:solidFill>
                <a:latin typeface="Times New Roman"/>
                <a:cs typeface="Times New Roman"/>
              </a:rPr>
              <a:t>Indian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English</a:t>
            </a:r>
            <a:r>
              <a:rPr dirty="0" sz="12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1F253E"/>
                </a:solidFill>
                <a:latin typeface="Times New Roman"/>
                <a:cs typeface="Times New Roman"/>
              </a:rPr>
              <a:t>speech.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98365" y="3253803"/>
            <a:ext cx="266700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0" b="1">
                <a:latin typeface="Times New Roman"/>
                <a:cs typeface="Times New Roman"/>
              </a:rPr>
              <a:t>Edge-</a:t>
            </a:r>
            <a:r>
              <a:rPr dirty="0" sz="1700" b="1">
                <a:latin typeface="Times New Roman"/>
                <a:cs typeface="Times New Roman"/>
              </a:rPr>
              <a:t>Deployable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Distillation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8365" y="4321619"/>
            <a:ext cx="2724150" cy="941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90"/>
              </a:spcBef>
            </a:pPr>
            <a:r>
              <a:rPr dirty="0" sz="1250">
                <a:latin typeface="Times New Roman"/>
                <a:cs typeface="Times New Roman"/>
              </a:rPr>
              <a:t>Build a teacher–student </a:t>
            </a:r>
            <a:r>
              <a:rPr dirty="0" sz="1250" spc="-10">
                <a:latin typeface="Times New Roman"/>
                <a:cs typeface="Times New Roman"/>
              </a:rPr>
              <a:t>knowledge-</a:t>
            </a:r>
            <a:r>
              <a:rPr dirty="0" sz="1250">
                <a:latin typeface="Times New Roman"/>
                <a:cs typeface="Times New Roman"/>
              </a:rPr>
              <a:t>distillation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pipeline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(MMS-300M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 spc="-50">
                <a:latin typeface="Times New Roman"/>
                <a:cs typeface="Times New Roman"/>
              </a:rPr>
              <a:t>/ </a:t>
            </a:r>
            <a:r>
              <a:rPr dirty="0" sz="1250">
                <a:latin typeface="Times New Roman"/>
                <a:cs typeface="Times New Roman"/>
              </a:rPr>
              <a:t>IndicWav2Vec</a:t>
            </a:r>
            <a:r>
              <a:rPr dirty="0" sz="1250" spc="114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→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MobileConformer)</a:t>
            </a:r>
            <a:r>
              <a:rPr dirty="0" sz="1250" spc="10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for </a:t>
            </a:r>
            <a:r>
              <a:rPr dirty="0" sz="1250">
                <a:latin typeface="Times New Roman"/>
                <a:cs typeface="Times New Roman"/>
              </a:rPr>
              <a:t>real-time,</a:t>
            </a:r>
            <a:r>
              <a:rPr dirty="0" sz="1250" spc="11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offline,</a:t>
            </a:r>
            <a:r>
              <a:rPr dirty="0" sz="1250" spc="114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on-device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inference.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49944" y="4321619"/>
            <a:ext cx="2653665" cy="941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90"/>
              </a:spcBef>
            </a:pP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Validate</a:t>
            </a:r>
            <a:r>
              <a:rPr dirty="0" sz="1250" spc="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the</a:t>
            </a:r>
            <a:r>
              <a:rPr dirty="0" sz="1250" spc="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system</a:t>
            </a:r>
            <a:r>
              <a:rPr dirty="0" sz="1250" spc="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with</a:t>
            </a:r>
            <a:r>
              <a:rPr dirty="0" sz="1250" spc="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SRM</a:t>
            </a:r>
            <a:r>
              <a:rPr dirty="0" sz="12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1F253E"/>
                </a:solidFill>
                <a:latin typeface="Times New Roman"/>
                <a:cs typeface="Times New Roman"/>
              </a:rPr>
              <a:t>Medical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College</a:t>
            </a:r>
            <a:r>
              <a:rPr dirty="0" sz="12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Hospital</a:t>
            </a:r>
            <a:r>
              <a:rPr dirty="0" sz="12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on</a:t>
            </a:r>
            <a:r>
              <a:rPr dirty="0" sz="1250" spc="1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clinician-</a:t>
            </a:r>
            <a:r>
              <a:rPr dirty="0" sz="1250" spc="-10">
                <a:solidFill>
                  <a:srgbClr val="1F253E"/>
                </a:solidFill>
                <a:latin typeface="Times New Roman"/>
                <a:cs typeface="Times New Roman"/>
              </a:rPr>
              <a:t>annotated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data,</a:t>
            </a:r>
            <a:r>
              <a:rPr dirty="0" sz="1250" spc="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12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publish</a:t>
            </a:r>
            <a:r>
              <a:rPr dirty="0" sz="12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outcomes</a:t>
            </a:r>
            <a:r>
              <a:rPr dirty="0" sz="12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r>
              <a:rPr dirty="0" sz="12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 spc="-25">
                <a:solidFill>
                  <a:srgbClr val="1F253E"/>
                </a:solidFill>
                <a:latin typeface="Times New Roman"/>
                <a:cs typeface="Times New Roman"/>
              </a:rPr>
              <a:t>Q1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journals</a:t>
            </a:r>
            <a:r>
              <a:rPr dirty="0" sz="12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12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F253E"/>
                </a:solidFill>
                <a:latin typeface="Times New Roman"/>
                <a:cs typeface="Times New Roman"/>
              </a:rPr>
              <a:t>reputed</a:t>
            </a:r>
            <a:r>
              <a:rPr dirty="0" sz="12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1F253E"/>
                </a:solidFill>
                <a:latin typeface="Times New Roman"/>
                <a:cs typeface="Times New Roman"/>
              </a:rPr>
              <a:t>conferences.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08458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solidFill>
                  <a:srgbClr val="212A35"/>
                </a:solidFill>
              </a:rPr>
              <a:t>OBJECTIVE</a:t>
            </a:r>
            <a:r>
              <a:rPr dirty="0" sz="3200" spc="-200">
                <a:solidFill>
                  <a:srgbClr val="212A35"/>
                </a:solidFill>
              </a:rPr>
              <a:t> </a:t>
            </a:r>
            <a:r>
              <a:rPr dirty="0" sz="3200" spc="-50">
                <a:solidFill>
                  <a:srgbClr val="212A35"/>
                </a:solidFill>
              </a:rPr>
              <a:t>1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24375" y="6343015"/>
            <a:ext cx="443928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84785" marR="5080" indent="-17272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369" y="1427416"/>
            <a:ext cx="11055350" cy="39979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Times New Roman"/>
              <a:buChar char="•"/>
              <a:tabLst>
                <a:tab pos="227965" algn="l"/>
              </a:tabLst>
            </a:pPr>
            <a:r>
              <a:rPr dirty="0" sz="2000" b="1">
                <a:solidFill>
                  <a:srgbClr val="1E2760"/>
                </a:solidFill>
                <a:latin typeface="Times New Roman"/>
                <a:cs typeface="Times New Roman"/>
              </a:rPr>
              <a:t>Multilingual</a:t>
            </a:r>
            <a:r>
              <a:rPr dirty="0" sz="2000" spc="-5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1E2760"/>
                </a:solidFill>
                <a:latin typeface="Times New Roman"/>
                <a:cs typeface="Times New Roman"/>
              </a:rPr>
              <a:t>Dysfluency-</a:t>
            </a:r>
            <a:r>
              <a:rPr dirty="0" sz="2000" spc="-25" b="1">
                <a:solidFill>
                  <a:srgbClr val="1E2760"/>
                </a:solidFill>
                <a:latin typeface="Times New Roman"/>
                <a:cs typeface="Times New Roman"/>
              </a:rPr>
              <a:t>Aware</a:t>
            </a:r>
            <a:r>
              <a:rPr dirty="0" sz="2000" spc="-1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E2760"/>
                </a:solidFill>
                <a:latin typeface="Times New Roman"/>
                <a:cs typeface="Times New Roman"/>
              </a:rPr>
              <a:t>Modeling</a:t>
            </a:r>
            <a:r>
              <a:rPr dirty="0" sz="2000" spc="-8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E2760"/>
                </a:solidFill>
                <a:latin typeface="Times New Roman"/>
                <a:cs typeface="Times New Roman"/>
              </a:rPr>
              <a:t>-</a:t>
            </a:r>
            <a:r>
              <a:rPr dirty="0" sz="2000" spc="-4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E2760"/>
                </a:solidFill>
                <a:latin typeface="Times New Roman"/>
                <a:cs typeface="Times New Roman"/>
              </a:rPr>
              <a:t>DysfluentNet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27329" marR="247650" indent="-215265">
              <a:lnSpc>
                <a:spcPct val="100000"/>
              </a:lnSpc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Speech</a:t>
            </a:r>
            <a:r>
              <a:rPr dirty="0" sz="2000" spc="-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input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first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passes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through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2000" spc="-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30">
                <a:solidFill>
                  <a:srgbClr val="1F253E"/>
                </a:solidFill>
                <a:latin typeface="Times New Roman"/>
                <a:cs typeface="Times New Roman"/>
              </a:rPr>
              <a:t>WavLM-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Large</a:t>
            </a:r>
            <a:r>
              <a:rPr dirty="0" sz="2000" spc="-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encoder,</a:t>
            </a:r>
            <a:r>
              <a:rPr dirty="0" sz="20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extracting</a:t>
            </a:r>
            <a:r>
              <a:rPr dirty="0" sz="20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rich,</a:t>
            </a:r>
            <a:r>
              <a:rPr dirty="0" sz="2000" spc="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30">
                <a:solidFill>
                  <a:srgbClr val="1F253E"/>
                </a:solidFill>
                <a:latin typeface="Times New Roman"/>
                <a:cs typeface="Times New Roman"/>
              </a:rPr>
              <a:t>self-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acoustic 	representations.</a:t>
            </a:r>
            <a:r>
              <a:rPr dirty="0" sz="2000" spc="-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These</a:t>
            </a:r>
            <a:r>
              <a:rPr dirty="0" sz="20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feed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into</a:t>
            </a:r>
            <a:r>
              <a:rPr dirty="0" sz="2000" spc="-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2000" spc="-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Stutter-</a:t>
            </a:r>
            <a:r>
              <a:rPr dirty="0" sz="2000" spc="-30">
                <a:solidFill>
                  <a:srgbClr val="1F253E"/>
                </a:solidFill>
                <a:latin typeface="Times New Roman"/>
                <a:cs typeface="Times New Roman"/>
              </a:rPr>
              <a:t>Aware</a:t>
            </a:r>
            <a:r>
              <a:rPr dirty="0" sz="20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CTC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decoder</a:t>
            </a:r>
            <a:r>
              <a:rPr dirty="0" sz="20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20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designed</a:t>
            </a:r>
            <a:r>
              <a:rPr dirty="0" sz="2000" spc="-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specifically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to</a:t>
            </a:r>
            <a:r>
              <a:rPr dirty="0" sz="2000" spc="-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jointly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 predict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both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the</a:t>
            </a:r>
            <a:r>
              <a:rPr dirty="0" sz="2000" spc="-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word-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level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the stutter event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labels,</a:t>
            </a:r>
            <a:r>
              <a:rPr dirty="0" sz="2000" spc="-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rather than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treating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them</a:t>
            </a:r>
            <a:r>
              <a:rPr dirty="0" sz="2000" spc="-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as</a:t>
            </a:r>
            <a:r>
              <a:rPr dirty="0" sz="2000" spc="-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separate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tasks.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buClr>
                <a:srgbClr val="000000"/>
              </a:buClr>
              <a:buChar char="•"/>
              <a:tabLst>
                <a:tab pos="227965" algn="l"/>
              </a:tabLst>
            </a:pPr>
            <a:r>
              <a:rPr dirty="0" sz="2000" spc="-20">
                <a:solidFill>
                  <a:srgbClr val="1F253E"/>
                </a:solidFill>
                <a:latin typeface="Times New Roman"/>
                <a:cs typeface="Times New Roman"/>
              </a:rPr>
              <a:t>Two</a:t>
            </a:r>
            <a:r>
              <a:rPr dirty="0" sz="2000" spc="-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things</a:t>
            </a:r>
            <a:r>
              <a:rPr dirty="0" sz="2000" spc="-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make</a:t>
            </a:r>
            <a:r>
              <a:rPr dirty="0" sz="20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this</a:t>
            </a:r>
            <a:r>
              <a:rPr dirty="0" sz="2000" spc="-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53E"/>
                </a:solidFill>
                <a:latin typeface="Times New Roman"/>
                <a:cs typeface="Times New Roman"/>
              </a:rPr>
              <a:t>architecture</a:t>
            </a:r>
            <a:r>
              <a:rPr dirty="0" sz="2000" spc="-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53E"/>
                </a:solidFill>
                <a:latin typeface="Times New Roman"/>
                <a:cs typeface="Times New Roman"/>
              </a:rPr>
              <a:t>distinctive</a:t>
            </a:r>
            <a:endParaRPr sz="2000">
              <a:latin typeface="Times New Roman"/>
              <a:cs typeface="Times New Roman"/>
            </a:endParaRPr>
          </a:p>
          <a:p>
            <a:pPr lvl="1" marL="755015" marR="5080" indent="-285115">
              <a:lnSpc>
                <a:spcPct val="100000"/>
              </a:lnSpc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2000" spc="-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curriculum learning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strategy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during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dirty="0" sz="20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2000" spc="-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model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is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exposed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to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progressively</a:t>
            </a:r>
            <a:r>
              <a:rPr dirty="0" sz="20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more</a:t>
            </a:r>
            <a:r>
              <a:rPr dirty="0" sz="2000" spc="-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difficult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dysfluency</a:t>
            </a:r>
            <a:r>
              <a:rPr dirty="0" sz="20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patterns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rather</a:t>
            </a:r>
            <a:r>
              <a:rPr dirty="0" sz="20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than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a random</a:t>
            </a:r>
            <a:r>
              <a:rPr dirty="0" sz="2000" spc="-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mix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from</a:t>
            </a:r>
            <a:r>
              <a:rPr dirty="0" sz="2000" spc="-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2000" spc="-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start,</a:t>
            </a:r>
            <a:r>
              <a:rPr dirty="0" sz="20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which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stabilizes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learning.</a:t>
            </a:r>
            <a:endParaRPr sz="2000">
              <a:latin typeface="Times New Roman"/>
              <a:cs typeface="Times New Roman"/>
            </a:endParaRPr>
          </a:p>
          <a:p>
            <a:pPr lvl="1" marL="755015" marR="142240" indent="-285115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2000" spc="-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new</a:t>
            </a:r>
            <a:r>
              <a:rPr dirty="0" sz="20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evaluation</a:t>
            </a:r>
            <a:r>
              <a:rPr dirty="0" sz="20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metric,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DI-WER</a:t>
            </a:r>
            <a:r>
              <a:rPr dirty="0" sz="2000" spc="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Dysfluency-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Informed</a:t>
            </a:r>
            <a:r>
              <a:rPr dirty="0" sz="2000" spc="-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30">
                <a:solidFill>
                  <a:srgbClr val="1A1A2D"/>
                </a:solidFill>
                <a:latin typeface="Times New Roman"/>
                <a:cs typeface="Times New Roman"/>
              </a:rPr>
              <a:t>Word</a:t>
            </a:r>
            <a:r>
              <a:rPr dirty="0" sz="20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Error</a:t>
            </a:r>
            <a:r>
              <a:rPr dirty="0" sz="2000" spc="-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Rate</a:t>
            </a:r>
            <a:r>
              <a:rPr dirty="0" sz="20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dirty="0" sz="20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which</a:t>
            </a:r>
            <a:r>
              <a:rPr dirty="0" sz="20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more</a:t>
            </a:r>
            <a:r>
              <a:rPr dirty="0" sz="2000" spc="-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fairly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credits</a:t>
            </a:r>
            <a:r>
              <a:rPr dirty="0" sz="20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model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2000" spc="-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correctly</a:t>
            </a:r>
            <a:r>
              <a:rPr dirty="0" sz="20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identifying</a:t>
            </a:r>
            <a:r>
              <a:rPr dirty="0" sz="20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dysfluent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regions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rather</a:t>
            </a:r>
            <a:r>
              <a:rPr dirty="0" sz="2000" spc="-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than</a:t>
            </a:r>
            <a:r>
              <a:rPr dirty="0" sz="20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penalizing</a:t>
            </a:r>
            <a:r>
              <a:rPr dirty="0" sz="20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it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the same</a:t>
            </a:r>
            <a:r>
              <a:rPr dirty="0" sz="2000" spc="-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way</a:t>
            </a:r>
            <a:r>
              <a:rPr dirty="0" sz="20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1A1A2D"/>
                </a:solidFill>
                <a:latin typeface="Times New Roman"/>
                <a:cs typeface="Times New Roman"/>
              </a:rPr>
              <a:t>a </a:t>
            </a:r>
            <a:r>
              <a:rPr dirty="0" sz="2000" spc="-50">
                <a:solidFill>
                  <a:srgbClr val="1A1A2D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standard</a:t>
            </a:r>
            <a:r>
              <a:rPr dirty="0" sz="2000" spc="-8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WER</a:t>
            </a:r>
            <a:r>
              <a:rPr dirty="0" sz="20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would.</a:t>
            </a:r>
            <a:endParaRPr sz="20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228600" algn="l"/>
              </a:tabLst>
            </a:pP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DysfluentNet</a:t>
            </a:r>
            <a:r>
              <a:rPr dirty="0" sz="20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has</a:t>
            </a:r>
            <a:r>
              <a:rPr dirty="0" sz="20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been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accepted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at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Interspeech</a:t>
            </a:r>
            <a:r>
              <a:rPr dirty="0" sz="20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2026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2D"/>
                </a:solidFill>
                <a:latin typeface="Times New Roman"/>
                <a:cs typeface="Times New Roman"/>
              </a:rPr>
              <a:t>in</a:t>
            </a:r>
            <a:r>
              <a:rPr dirty="0" sz="2000" spc="-35">
                <a:solidFill>
                  <a:srgbClr val="1A1A2D"/>
                </a:solidFill>
                <a:latin typeface="Times New Roman"/>
                <a:cs typeface="Times New Roman"/>
              </a:rPr>
              <a:t> Sydney,</a:t>
            </a:r>
            <a:r>
              <a:rPr dirty="0" sz="2000" spc="-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2D"/>
                </a:solidFill>
                <a:latin typeface="Times New Roman"/>
                <a:cs typeface="Times New Roman"/>
              </a:rPr>
              <a:t>Australia.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9271" y="6343015"/>
            <a:ext cx="584327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607820" marR="5080" indent="-159575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3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3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and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 Advanced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11701" y="142239"/>
            <a:ext cx="4110354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solidFill>
                  <a:srgbClr val="1F3863"/>
                </a:solidFill>
                <a:latin typeface="Calibri"/>
                <a:cs typeface="Calibri"/>
              </a:rPr>
              <a:t>Objective</a:t>
            </a:r>
            <a:r>
              <a:rPr dirty="0" sz="3200" spc="-7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F3863"/>
                </a:solidFill>
                <a:latin typeface="Calibri"/>
                <a:cs typeface="Calibri"/>
              </a:rPr>
              <a:t>1</a:t>
            </a:r>
            <a:r>
              <a:rPr dirty="0" sz="3200" spc="-8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F3863"/>
                </a:solidFill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0" y="1060429"/>
            <a:ext cx="6143770" cy="50649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491" rIns="0" bIns="0" rtlCol="0" vert="horz">
            <a:spAutoFit/>
          </a:bodyPr>
          <a:lstStyle/>
          <a:p>
            <a:pPr marL="155702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212A35"/>
                </a:solidFill>
              </a:rPr>
              <a:t>DysfluentNet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4375" y="6343015"/>
            <a:ext cx="443928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84785" marR="5080" indent="-17272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369" y="1510982"/>
            <a:ext cx="11095990" cy="3194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Times New Roman"/>
              <a:buChar char="•"/>
              <a:tabLst>
                <a:tab pos="228600" algn="l"/>
              </a:tabLst>
            </a:pP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How</a:t>
            </a:r>
            <a:r>
              <a:rPr dirty="0" sz="1550" spc="15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DysfluentNet</a:t>
            </a:r>
            <a:r>
              <a:rPr dirty="0" sz="1550" spc="8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represents</a:t>
            </a:r>
            <a:r>
              <a:rPr dirty="0" sz="1550" spc="15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speech</a:t>
            </a:r>
            <a:r>
              <a:rPr dirty="0" sz="1550" spc="20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before</a:t>
            </a:r>
            <a:r>
              <a:rPr dirty="0" sz="1550" spc="14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detection</a:t>
            </a:r>
            <a:r>
              <a:rPr dirty="0" sz="1550" spc="11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or</a:t>
            </a:r>
            <a:r>
              <a:rPr dirty="0" sz="1550" spc="5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transcription</a:t>
            </a:r>
            <a:r>
              <a:rPr dirty="0" sz="1550" spc="20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1E2760"/>
                </a:solidFill>
                <a:latin typeface="Times New Roman"/>
                <a:cs typeface="Times New Roman"/>
              </a:rPr>
              <a:t>happens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Shared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Encoder:</a:t>
            </a:r>
            <a:r>
              <a:rPr dirty="0" sz="15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WavLM-Large</a:t>
            </a:r>
            <a:r>
              <a:rPr dirty="0" sz="1550" spc="1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(frozen),</a:t>
            </a:r>
            <a:r>
              <a:rPr dirty="0" sz="15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317M</a:t>
            </a:r>
            <a:r>
              <a:rPr dirty="0" sz="1550" spc="2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parameters,</a:t>
            </a:r>
            <a:r>
              <a:rPr dirty="0" sz="15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24</a:t>
            </a:r>
            <a:r>
              <a:rPr dirty="0" sz="15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transformer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layers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Pretrained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via</a:t>
            </a:r>
            <a:r>
              <a:rPr dirty="0" sz="1550" spc="1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self-supervised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masked</a:t>
            </a:r>
            <a:r>
              <a:rPr dirty="0" sz="1550" spc="1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prediction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on</a:t>
            </a:r>
            <a:r>
              <a:rPr dirty="0" sz="1550" spc="1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large-scale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unlabeled</a:t>
            </a:r>
            <a:r>
              <a:rPr dirty="0" sz="1550" spc="1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speech,</a:t>
            </a:r>
            <a:r>
              <a:rPr dirty="0" sz="1550" spc="8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then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frozen</a:t>
            </a:r>
            <a:r>
              <a:rPr dirty="0" sz="1550" spc="1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during</a:t>
            </a:r>
            <a:r>
              <a:rPr dirty="0" sz="1550" spc="1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fine-tuning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retains</a:t>
            </a:r>
            <a:endParaRPr sz="155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90"/>
              </a:spcBef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general</a:t>
            </a:r>
            <a:r>
              <a:rPr dirty="0" sz="1550" spc="114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acoustic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knowledge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while</a:t>
            </a:r>
            <a:r>
              <a:rPr dirty="0" sz="1550" spc="1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keeping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trainable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parameters</a:t>
            </a:r>
            <a:r>
              <a:rPr dirty="0" sz="1550" spc="8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Times New Roman"/>
                <a:cs typeface="Times New Roman"/>
              </a:rPr>
              <a:t>low</a:t>
            </a: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Captures</a:t>
            </a:r>
            <a:r>
              <a:rPr dirty="0" sz="1550" spc="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phonetic,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prosodic,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speaker-invariant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features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useful</a:t>
            </a:r>
            <a:r>
              <a:rPr dirty="0" sz="1550" spc="10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550" spc="1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both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fluent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1550" spc="1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dysfluent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speech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patterns</a:t>
            </a:r>
            <a:endParaRPr sz="1550">
              <a:latin typeface="Times New Roman"/>
              <a:cs typeface="Times New Roman"/>
            </a:endParaRPr>
          </a:p>
          <a:p>
            <a:pPr marL="228600" indent="-21653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Char char="•"/>
              <a:tabLst>
                <a:tab pos="228600" algn="l"/>
                <a:tab pos="4699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Layer-wise</a:t>
            </a:r>
            <a:r>
              <a:rPr dirty="0" sz="1550" spc="-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Attention:</a:t>
            </a:r>
            <a:r>
              <a:rPr dirty="0" sz="1550" spc="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15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learned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weighting</a:t>
            </a:r>
            <a:r>
              <a:rPr dirty="0" sz="15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αℓ</a:t>
            </a:r>
            <a:r>
              <a:rPr dirty="0" sz="1550" spc="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combines</a:t>
            </a:r>
            <a:r>
              <a:rPr dirty="0" sz="1550" spc="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all</a:t>
            </a:r>
            <a:r>
              <a:rPr dirty="0" sz="1550" spc="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24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layers</a:t>
            </a:r>
            <a:r>
              <a:rPr dirty="0" sz="1550" spc="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(grouped</a:t>
            </a:r>
            <a:r>
              <a:rPr dirty="0" sz="15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1F253E"/>
                </a:solidFill>
                <a:latin typeface="Times New Roman"/>
                <a:cs typeface="Times New Roman"/>
              </a:rPr>
              <a:t>1–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4</a:t>
            </a:r>
            <a:r>
              <a:rPr dirty="0" sz="15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…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21–24)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into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one</a:t>
            </a:r>
            <a:r>
              <a:rPr dirty="0" sz="15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shared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encoder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output</a:t>
            </a:r>
            <a:r>
              <a:rPr dirty="0" sz="1550" spc="1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50">
                <a:solidFill>
                  <a:srgbClr val="1F253E"/>
                </a:solidFill>
                <a:latin typeface="Times New Roman"/>
                <a:cs typeface="Times New Roman"/>
              </a:rPr>
              <a:t>H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Lower</a:t>
            </a:r>
            <a:r>
              <a:rPr dirty="0" sz="1550" spc="1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layers</a:t>
            </a:r>
            <a:r>
              <a:rPr dirty="0" sz="1550" spc="8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encode</a:t>
            </a:r>
            <a:r>
              <a:rPr dirty="0" sz="1550" spc="1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acoustic/phonetic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detail;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upper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layers</a:t>
            </a:r>
            <a:r>
              <a:rPr dirty="0" sz="1550" spc="1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encode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semantic/linguistic</a:t>
            </a:r>
            <a:r>
              <a:rPr dirty="0" sz="1550" spc="1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content</a:t>
            </a:r>
            <a:r>
              <a:rPr dirty="0" sz="1550" spc="3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dirty="0" sz="1550" spc="1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model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learns</a:t>
            </a:r>
            <a:r>
              <a:rPr dirty="0" sz="1550" spc="1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which</a:t>
            </a:r>
            <a:endParaRPr sz="155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depth</a:t>
            </a:r>
            <a:r>
              <a:rPr dirty="0" sz="1550" spc="1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matters</a:t>
            </a:r>
            <a:r>
              <a:rPr dirty="0" sz="1550" spc="8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most</a:t>
            </a:r>
            <a:r>
              <a:rPr dirty="0" sz="1550" spc="10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550" spc="1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dysfluency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Times New Roman"/>
                <a:cs typeface="Times New Roman"/>
              </a:rPr>
              <a:t>cues</a:t>
            </a:r>
            <a:endParaRPr sz="1550">
              <a:latin typeface="Times New Roman"/>
              <a:cs typeface="Times New Roman"/>
            </a:endParaRPr>
          </a:p>
          <a:p>
            <a:pPr marL="228600" marR="5080" indent="-216535">
              <a:lnSpc>
                <a:spcPts val="195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Design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rationale:</a:t>
            </a:r>
            <a:r>
              <a:rPr dirty="0" sz="15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freezing</a:t>
            </a:r>
            <a:r>
              <a:rPr dirty="0" sz="1550" spc="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WavLM-Large</a:t>
            </a:r>
            <a:r>
              <a:rPr dirty="0" sz="1550" spc="1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avoids</a:t>
            </a:r>
            <a:r>
              <a:rPr dirty="0" sz="1550" spc="1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catastrophic</a:t>
            </a:r>
            <a:r>
              <a:rPr dirty="0" sz="1550" spc="1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forgetting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on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our</a:t>
            </a:r>
            <a:r>
              <a:rPr dirty="0" sz="1550" spc="2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smaller</a:t>
            </a:r>
            <a:r>
              <a:rPr dirty="0" sz="15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multilingual</a:t>
            </a:r>
            <a:r>
              <a:rPr dirty="0" sz="15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clinical</a:t>
            </a:r>
            <a:r>
              <a:rPr dirty="0" sz="1550" spc="2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dataset,</a:t>
            </a:r>
            <a:r>
              <a:rPr dirty="0" sz="1550" spc="1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while</a:t>
            </a:r>
            <a:r>
              <a:rPr dirty="0" sz="1550" spc="1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layer-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wise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attention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lets</a:t>
            </a:r>
            <a:r>
              <a:rPr dirty="0" sz="1550" spc="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the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15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heads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draw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on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different</a:t>
            </a:r>
            <a:r>
              <a:rPr dirty="0" sz="15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representation</a:t>
            </a:r>
            <a:r>
              <a:rPr dirty="0" sz="15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depths</a:t>
            </a:r>
            <a:r>
              <a:rPr dirty="0" sz="15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as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needed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8410" y="349186"/>
            <a:ext cx="562483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12A35"/>
                </a:solidFill>
              </a:rPr>
              <a:t>DysfluentNet</a:t>
            </a:r>
            <a:r>
              <a:rPr dirty="0" spc="-20">
                <a:solidFill>
                  <a:srgbClr val="212A35"/>
                </a:solidFill>
              </a:rPr>
              <a:t> </a:t>
            </a:r>
            <a:r>
              <a:rPr dirty="0">
                <a:solidFill>
                  <a:srgbClr val="212A35"/>
                </a:solidFill>
              </a:rPr>
              <a:t>—</a:t>
            </a:r>
            <a:r>
              <a:rPr dirty="0" spc="-40">
                <a:solidFill>
                  <a:srgbClr val="212A35"/>
                </a:solidFill>
              </a:rPr>
              <a:t> </a:t>
            </a:r>
            <a:r>
              <a:rPr dirty="0">
                <a:solidFill>
                  <a:srgbClr val="212A35"/>
                </a:solidFill>
              </a:rPr>
              <a:t>Detection</a:t>
            </a:r>
            <a:r>
              <a:rPr dirty="0" spc="-25">
                <a:solidFill>
                  <a:srgbClr val="212A35"/>
                </a:solidFill>
              </a:rPr>
              <a:t> </a:t>
            </a:r>
            <a:r>
              <a:rPr dirty="0">
                <a:solidFill>
                  <a:srgbClr val="212A35"/>
                </a:solidFill>
              </a:rPr>
              <a:t>&amp;</a:t>
            </a:r>
            <a:r>
              <a:rPr dirty="0" spc="-85">
                <a:solidFill>
                  <a:srgbClr val="212A35"/>
                </a:solidFill>
              </a:rPr>
              <a:t> </a:t>
            </a:r>
            <a:r>
              <a:rPr dirty="0" spc="-10">
                <a:solidFill>
                  <a:srgbClr val="212A35"/>
                </a:solidFill>
              </a:rPr>
              <a:t>Transcription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4375" y="6343015"/>
            <a:ext cx="443928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84785" marR="5080" indent="-17272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369" y="1510982"/>
            <a:ext cx="10911840" cy="36810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Times New Roman"/>
              <a:buChar char="•"/>
              <a:tabLst>
                <a:tab pos="228600" algn="l"/>
              </a:tabLst>
            </a:pP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How</a:t>
            </a:r>
            <a:r>
              <a:rPr dirty="0" sz="1550" spc="114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the</a:t>
            </a:r>
            <a:r>
              <a:rPr dirty="0" sz="1550" spc="10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two</a:t>
            </a:r>
            <a:r>
              <a:rPr dirty="0" sz="1550" spc="8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output</a:t>
            </a:r>
            <a:r>
              <a:rPr dirty="0" sz="1550" spc="4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heads</a:t>
            </a:r>
            <a:r>
              <a:rPr dirty="0" sz="1550" spc="114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work,</a:t>
            </a:r>
            <a:r>
              <a:rPr dirty="0" sz="1550" spc="11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and</a:t>
            </a:r>
            <a:r>
              <a:rPr dirty="0" sz="1550" spc="7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how</a:t>
            </a:r>
            <a:r>
              <a:rPr dirty="0" sz="1550" spc="3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they</a:t>
            </a:r>
            <a:r>
              <a:rPr dirty="0" sz="1550" spc="8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are</a:t>
            </a:r>
            <a:r>
              <a:rPr dirty="0" sz="1550" spc="10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trained</a:t>
            </a:r>
            <a:r>
              <a:rPr dirty="0" sz="1550" spc="7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1E2760"/>
                </a:solidFill>
                <a:latin typeface="Times New Roman"/>
                <a:cs typeface="Times New Roman"/>
              </a:rPr>
              <a:t>together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Head</a:t>
            </a:r>
            <a:r>
              <a:rPr dirty="0" sz="15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1550" spc="1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Multi-Label</a:t>
            </a:r>
            <a:r>
              <a:rPr dirty="0" sz="15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Dysfluency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Classifier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Attentive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Statistics</a:t>
            </a:r>
            <a:r>
              <a:rPr dirty="0" sz="1550" spc="1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Pooling</a:t>
            </a:r>
            <a:r>
              <a:rPr dirty="0" sz="1550" spc="1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condenses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frame-level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encoder</a:t>
            </a:r>
            <a:r>
              <a:rPr dirty="0" sz="1550" spc="18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output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into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an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utterance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embedding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u</a:t>
            </a:r>
            <a:r>
              <a:rPr dirty="0" sz="1550" spc="18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Cambria Math"/>
                <a:cs typeface="Cambria Math"/>
              </a:rPr>
              <a:t>∈</a:t>
            </a:r>
            <a:r>
              <a:rPr dirty="0" sz="1550" spc="190">
                <a:solidFill>
                  <a:srgbClr val="1A1A2D"/>
                </a:solidFill>
                <a:latin typeface="Cambria Math"/>
                <a:cs typeface="Cambria Math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Times New Roman"/>
                <a:cs typeface="Times New Roman"/>
              </a:rPr>
              <a:t>ℝ⁵¹²</a:t>
            </a:r>
            <a:endParaRPr sz="1550">
              <a:latin typeface="Times New Roman"/>
              <a:cs typeface="Times New Roman"/>
            </a:endParaRPr>
          </a:p>
          <a:p>
            <a:pPr lvl="1" marL="756285" marR="107314" indent="-286385">
              <a:lnSpc>
                <a:spcPct val="100899"/>
              </a:lnSpc>
              <a:spcBef>
                <a:spcPts val="7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K=6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multi-label</a:t>
            </a:r>
            <a:r>
              <a:rPr dirty="0" sz="1550" spc="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classifier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(Block,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Prolongation,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Sound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Rep.,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Word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Rep.,</a:t>
            </a:r>
            <a:r>
              <a:rPr dirty="0" sz="1550" spc="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Interjection,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Fluent)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predicts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detection</a:t>
            </a:r>
            <a:r>
              <a:rPr dirty="0" sz="1550" spc="1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logits</a:t>
            </a:r>
            <a:r>
              <a:rPr dirty="0" sz="1550" spc="3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Times New Roman"/>
                <a:cs typeface="Times New Roman"/>
              </a:rPr>
              <a:t>ρ̂,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trained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with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Focal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Loss</a:t>
            </a:r>
            <a:r>
              <a:rPr dirty="0" sz="1550" spc="1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(γ=2)</a:t>
            </a:r>
            <a:r>
              <a:rPr dirty="0" sz="1550" spc="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to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counter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class</a:t>
            </a:r>
            <a:r>
              <a:rPr dirty="0" sz="1550" spc="1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imbalance</a:t>
            </a:r>
            <a:endParaRPr sz="1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Head</a:t>
            </a:r>
            <a:r>
              <a:rPr dirty="0" sz="1550" spc="1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1550" spc="1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Stutter-Aware</a:t>
            </a:r>
            <a:r>
              <a:rPr dirty="0" sz="15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CTC</a:t>
            </a:r>
            <a:r>
              <a:rPr dirty="0" sz="1550" spc="1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(SA-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CTC)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Cross-Attention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Gate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Gₜ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=</a:t>
            </a:r>
            <a:r>
              <a:rPr dirty="0" sz="1550" spc="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σ(Wg[hₜ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;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ρ̂])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conditions</a:t>
            </a:r>
            <a:r>
              <a:rPr dirty="0" sz="1550" spc="1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114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decoder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on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detection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head’s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output</a:t>
            </a:r>
            <a:r>
              <a:rPr dirty="0" sz="1550" spc="1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at</a:t>
            </a:r>
            <a:r>
              <a:rPr dirty="0" sz="1550" spc="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every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time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Times New Roman"/>
                <a:cs typeface="Times New Roman"/>
              </a:rPr>
              <a:t>step</a:t>
            </a: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2-layer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BiLSTM</a:t>
            </a:r>
            <a:r>
              <a:rPr dirty="0" sz="1550" spc="1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decoder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(512</a:t>
            </a:r>
            <a:r>
              <a:rPr dirty="0" sz="1550" spc="18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units/direction)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processes</a:t>
            </a:r>
            <a:r>
              <a:rPr dirty="0" sz="1550" spc="1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1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gated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representation,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then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SA-CTC</a:t>
            </a:r>
            <a:r>
              <a:rPr dirty="0" sz="1550" spc="1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decoder</a:t>
            </a:r>
            <a:r>
              <a:rPr dirty="0" sz="1550" spc="1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predicts</a:t>
            </a:r>
            <a:r>
              <a:rPr dirty="0" sz="1550" spc="1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Times New Roman"/>
                <a:cs typeface="Times New Roman"/>
              </a:rPr>
              <a:t>over</a:t>
            </a:r>
            <a:endParaRPr sz="155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5"/>
              </a:spcBef>
            </a:pP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an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extended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vocabulary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V⁺</a:t>
            </a:r>
            <a:r>
              <a:rPr dirty="0" sz="1550" spc="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=</a:t>
            </a:r>
            <a:r>
              <a:rPr dirty="0" sz="1550" spc="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V</a:t>
            </a:r>
            <a:r>
              <a:rPr dirty="0" sz="1550" spc="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Cambria Math"/>
                <a:cs typeface="Cambria Math"/>
              </a:rPr>
              <a:t>∪</a:t>
            </a:r>
            <a:r>
              <a:rPr dirty="0" sz="1550" spc="114">
                <a:solidFill>
                  <a:srgbClr val="1A1A2D"/>
                </a:solidFill>
                <a:latin typeface="Cambria Math"/>
                <a:cs typeface="Cambria Math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{(BLK),(PRO),(SR),(WR),(INT)} —</a:t>
            </a:r>
            <a:r>
              <a:rPr dirty="0" sz="1550" spc="8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inserting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dysfluency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tags directly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into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1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8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transcript,</a:t>
            </a:r>
            <a:endParaRPr sz="155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e.g.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“I</a:t>
            </a:r>
            <a:r>
              <a:rPr dirty="0" sz="1550" spc="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w-w-want</a:t>
            </a:r>
            <a:r>
              <a:rPr dirty="0" sz="1550" spc="1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(SR)</a:t>
            </a:r>
            <a:r>
              <a:rPr dirty="0" sz="1550" spc="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to</a:t>
            </a:r>
            <a:r>
              <a:rPr dirty="0" sz="1550" spc="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Times New Roman"/>
                <a:cs typeface="Times New Roman"/>
              </a:rPr>
              <a:t>go”</a:t>
            </a:r>
            <a:endParaRPr sz="1550">
              <a:latin typeface="Times New Roman"/>
              <a:cs typeface="Times New Roman"/>
            </a:endParaRPr>
          </a:p>
          <a:p>
            <a:pPr marL="228600" marR="396240" indent="-216535">
              <a:lnSpc>
                <a:spcPts val="195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Joint</a:t>
            </a:r>
            <a:r>
              <a:rPr dirty="0" sz="1550" spc="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Training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Objective:</a:t>
            </a:r>
            <a:r>
              <a:rPr dirty="0" sz="1550" spc="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r>
              <a:rPr dirty="0" sz="1550" spc="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L_det</a:t>
            </a:r>
            <a:r>
              <a:rPr dirty="0" sz="1550" spc="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+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β·L*_CTC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(β</a:t>
            </a:r>
            <a:r>
              <a:rPr dirty="0" sz="1550" spc="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r>
              <a:rPr dirty="0" sz="1550" spc="1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0.5)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r>
              <a:rPr dirty="0" sz="15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are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optimized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together,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so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each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head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informs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the</a:t>
            </a:r>
            <a:r>
              <a:rPr dirty="0" sz="1550" spc="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other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08458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solidFill>
                  <a:srgbClr val="212A35"/>
                </a:solidFill>
              </a:rPr>
              <a:t>OBJECTIVE</a:t>
            </a:r>
            <a:r>
              <a:rPr dirty="0" sz="3200" spc="-200">
                <a:solidFill>
                  <a:srgbClr val="212A35"/>
                </a:solidFill>
              </a:rPr>
              <a:t> </a:t>
            </a:r>
            <a:r>
              <a:rPr dirty="0" sz="3200" spc="-50">
                <a:solidFill>
                  <a:srgbClr val="212A35"/>
                </a:solidFill>
              </a:rPr>
              <a:t>2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797046" y="6343015"/>
            <a:ext cx="541782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182370" marR="5080" indent="-117030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and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Deep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844" y="1003363"/>
            <a:ext cx="11673840" cy="460438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279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Edge-</a:t>
            </a:r>
            <a:r>
              <a:rPr dirty="0" sz="2000" b="1">
                <a:latin typeface="Times New Roman"/>
                <a:cs typeface="Times New Roman"/>
              </a:rPr>
              <a:t>Deployable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Distillation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-</a:t>
            </a:r>
            <a:r>
              <a:rPr dirty="0" sz="2000" spc="434" b="1">
                <a:latin typeface="Times New Roman"/>
                <a:cs typeface="Times New Roman"/>
              </a:rPr>
              <a:t> </a:t>
            </a:r>
            <a:r>
              <a:rPr dirty="0" sz="2000" spc="-10" b="1" i="1">
                <a:latin typeface="Times New Roman"/>
                <a:cs typeface="Times New Roman"/>
              </a:rPr>
              <a:t>MobileConformer</a:t>
            </a:r>
            <a:endParaRPr sz="2000">
              <a:latin typeface="Times New Roman"/>
              <a:cs typeface="Times New Roman"/>
            </a:endParaRPr>
          </a:p>
          <a:p>
            <a:pPr algn="just" marL="227329" marR="6985" indent="-215265">
              <a:lnSpc>
                <a:spcPct val="75100"/>
              </a:lnSpc>
              <a:spcBef>
                <a:spcPts val="1800"/>
              </a:spcBef>
              <a:buChar char="•"/>
              <a:tabLst>
                <a:tab pos="228600" algn="l"/>
              </a:tabLst>
            </a:pPr>
            <a:r>
              <a:rPr dirty="0" sz="2000" spc="-20">
                <a:latin typeface="Times New Roman"/>
                <a:cs typeface="Times New Roman"/>
              </a:rPr>
              <a:t>Two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teacher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MMS-</a:t>
            </a:r>
            <a:r>
              <a:rPr dirty="0" sz="2000">
                <a:latin typeface="Times New Roman"/>
                <a:cs typeface="Times New Roman"/>
              </a:rPr>
              <a:t>300M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IndicWav2Vec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strong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multilingual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representations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1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1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far</a:t>
            </a:r>
            <a:r>
              <a:rPr dirty="0" sz="2000" spc="1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too</a:t>
            </a:r>
            <a:r>
              <a:rPr dirty="0" sz="2000" spc="1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1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16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on-</a:t>
            </a:r>
            <a:r>
              <a:rPr dirty="0" sz="2000">
                <a:latin typeface="Times New Roman"/>
                <a:cs typeface="Times New Roman"/>
              </a:rPr>
              <a:t>device</a:t>
            </a:r>
            <a:r>
              <a:rPr dirty="0" sz="2000" spc="1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use.</a:t>
            </a:r>
            <a:r>
              <a:rPr dirty="0" sz="2000" spc="1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1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distill</a:t>
            </a:r>
            <a:r>
              <a:rPr dirty="0" sz="2000" spc="1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1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16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1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compact</a:t>
            </a:r>
            <a:r>
              <a:rPr dirty="0" sz="2000" spc="1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student</a:t>
            </a:r>
            <a:r>
              <a:rPr dirty="0" sz="2000" spc="16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model, 	MobileConformer.</a:t>
            </a:r>
            <a:endParaRPr sz="2000">
              <a:latin typeface="Times New Roman"/>
              <a:cs typeface="Times New Roman"/>
            </a:endParaRPr>
          </a:p>
          <a:p>
            <a:pPr algn="just" marL="227329" marR="6350" indent="-215265">
              <a:lnSpc>
                <a:spcPct val="75100"/>
              </a:lnSpc>
              <a:spcBef>
                <a:spcPts val="1805"/>
              </a:spcBef>
              <a:buChar char="•"/>
              <a:tabLst>
                <a:tab pos="228600" algn="l"/>
              </a:tabLst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third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iteration,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MobileConformer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V3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introduces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dual-</a:t>
            </a:r>
            <a:r>
              <a:rPr dirty="0" sz="2000">
                <a:latin typeface="Times New Roman"/>
                <a:cs typeface="Times New Roman"/>
              </a:rPr>
              <a:t>encoder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design: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shared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Conformer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backbone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splits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  </a:t>
            </a:r>
            <a:r>
              <a:rPr dirty="0" sz="2000" spc="-10">
                <a:latin typeface="Times New Roman"/>
                <a:cs typeface="Times New Roman"/>
              </a:rPr>
              <a:t>ASR-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encoder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 spc="-20">
                <a:latin typeface="Times New Roman"/>
                <a:cs typeface="Times New Roman"/>
              </a:rPr>
              <a:t>stutter-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encoder.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  ASR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branch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includes</a:t>
            </a:r>
            <a:r>
              <a:rPr dirty="0" sz="2000" spc="2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  </a:t>
            </a:r>
            <a:r>
              <a:rPr dirty="0" sz="2000" spc="-10">
                <a:latin typeface="Times New Roman"/>
                <a:cs typeface="Times New Roman"/>
              </a:rPr>
              <a:t>Accent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Adaptation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Layer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handle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Indian-</a:t>
            </a:r>
            <a:r>
              <a:rPr dirty="0" sz="2000">
                <a:latin typeface="Times New Roman"/>
                <a:cs typeface="Times New Roman"/>
              </a:rPr>
              <a:t>English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regional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accent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variation, while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stutter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branch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Local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Stutter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Attention,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focusing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temporal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regions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dysfluencies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occur.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use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Focal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Loss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address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natural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imbalance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fluent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dysfluent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segments.</a:t>
            </a:r>
            <a:endParaRPr sz="2000">
              <a:latin typeface="Times New Roman"/>
              <a:cs typeface="Times New Roman"/>
            </a:endParaRPr>
          </a:p>
          <a:p>
            <a:pPr algn="just" marL="227329" marR="5080" indent="-215265">
              <a:lnSpc>
                <a:spcPct val="75100"/>
              </a:lnSpc>
              <a:spcBef>
                <a:spcPts val="1805"/>
              </a:spcBef>
              <a:buChar char="•"/>
              <a:tabLst>
                <a:tab pos="228600" algn="l"/>
              </a:tabLst>
            </a:pPr>
            <a:r>
              <a:rPr dirty="0" sz="2000">
                <a:latin typeface="Times New Roman"/>
                <a:cs typeface="Times New Roman"/>
              </a:rPr>
              <a:t>Once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trained,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4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4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exported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via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ONNX</a:t>
            </a:r>
            <a:r>
              <a:rPr dirty="0" sz="2000" spc="4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deployed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directly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onto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4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Android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device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40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we’ve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validated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Samsung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Galaxy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A35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custom Kotlin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FFT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implementation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time,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fully</a:t>
            </a:r>
            <a:r>
              <a:rPr dirty="0" sz="2000" spc="-10">
                <a:latin typeface="Times New Roman"/>
                <a:cs typeface="Times New Roman"/>
              </a:rPr>
              <a:t> offline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feature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extraction.</a:t>
            </a:r>
            <a:endParaRPr sz="2000">
              <a:latin typeface="Times New Roman"/>
              <a:cs typeface="Times New Roman"/>
            </a:endParaRPr>
          </a:p>
          <a:p>
            <a:pPr algn="just" marL="227329" marR="6985" indent="-215265">
              <a:lnSpc>
                <a:spcPct val="75100"/>
              </a:lnSpc>
              <a:spcBef>
                <a:spcPts val="1800"/>
              </a:spcBef>
              <a:buChar char="•"/>
              <a:tabLst>
                <a:tab pos="228600" algn="l"/>
              </a:tabLst>
            </a:pPr>
            <a:r>
              <a:rPr dirty="0" sz="2000">
                <a:latin typeface="Times New Roman"/>
                <a:cs typeface="Times New Roman"/>
              </a:rPr>
              <a:t>Our</a:t>
            </a:r>
            <a:r>
              <a:rPr dirty="0" sz="2000" spc="2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second-</a:t>
            </a:r>
            <a:r>
              <a:rPr dirty="0" sz="2000">
                <a:latin typeface="Times New Roman"/>
                <a:cs typeface="Times New Roman"/>
              </a:rPr>
              <a:t>generation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model,</a:t>
            </a:r>
            <a:r>
              <a:rPr dirty="0" sz="2000" spc="6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MobileConformer</a:t>
            </a:r>
            <a:r>
              <a:rPr dirty="0" sz="2000" spc="2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V2,</a:t>
            </a:r>
            <a:r>
              <a:rPr dirty="0" sz="2000" spc="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already</a:t>
            </a:r>
            <a:r>
              <a:rPr dirty="0" sz="2000" spc="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fully</a:t>
            </a:r>
            <a:r>
              <a:rPr dirty="0" sz="2000" spc="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trained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deployed,</a:t>
            </a:r>
            <a:r>
              <a:rPr dirty="0" sz="2000" spc="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achieving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 spc="-5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language-model-</a:t>
            </a:r>
            <a:r>
              <a:rPr dirty="0" sz="2000">
                <a:latin typeface="Times New Roman"/>
                <a:cs typeface="Times New Roman"/>
              </a:rPr>
              <a:t>decoded  word  error</a:t>
            </a:r>
            <a:r>
              <a:rPr dirty="0" sz="2000" spc="4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rate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9.3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percent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F1-</a:t>
            </a:r>
            <a:r>
              <a:rPr dirty="0" sz="2000">
                <a:latin typeface="Times New Roman"/>
                <a:cs typeface="Times New Roman"/>
              </a:rPr>
              <a:t>score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0.905,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KenLM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4-</a:t>
            </a:r>
            <a:r>
              <a:rPr dirty="0" sz="2000" spc="-20">
                <a:latin typeface="Times New Roman"/>
                <a:cs typeface="Times New Roman"/>
              </a:rPr>
              <a:t>gram </a:t>
            </a:r>
            <a:r>
              <a:rPr dirty="0" sz="2000" spc="-2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decoding.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5987" y="6435090"/>
            <a:ext cx="798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r>
              <a:rPr dirty="0" sz="1200" spc="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Aug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 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9965" y="6435090"/>
            <a:ext cx="2501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PC2413003013041,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S.SRI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888888"/>
                </a:solidFill>
                <a:latin typeface="Calibri"/>
                <a:cs typeface="Calibri"/>
              </a:rPr>
              <a:t>SAYE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LAKSHMI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335779" y="-148590"/>
            <a:ext cx="431482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solidFill>
                  <a:srgbClr val="212A35"/>
                </a:solidFill>
              </a:rPr>
              <a:t>Objective</a:t>
            </a:r>
            <a:r>
              <a:rPr dirty="0" sz="3200" spc="-10">
                <a:solidFill>
                  <a:srgbClr val="212A35"/>
                </a:solidFill>
              </a:rPr>
              <a:t> </a:t>
            </a:r>
            <a:r>
              <a:rPr dirty="0" sz="3200">
                <a:solidFill>
                  <a:srgbClr val="212A35"/>
                </a:solidFill>
              </a:rPr>
              <a:t>2</a:t>
            </a:r>
            <a:r>
              <a:rPr dirty="0" sz="3200" spc="-50">
                <a:solidFill>
                  <a:srgbClr val="212A35"/>
                </a:solidFill>
              </a:rPr>
              <a:t> </a:t>
            </a:r>
            <a:r>
              <a:rPr dirty="0" sz="3200" spc="-10">
                <a:solidFill>
                  <a:srgbClr val="212A35"/>
                </a:solidFill>
              </a:rPr>
              <a:t>Architecture</a:t>
            </a:r>
            <a:endParaRPr sz="320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29050" y="476364"/>
            <a:ext cx="5172075" cy="62491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491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212A35"/>
                </a:solidFill>
              </a:rPr>
              <a:t>MobileConformer </a:t>
            </a:r>
            <a:r>
              <a:rPr dirty="0">
                <a:solidFill>
                  <a:srgbClr val="212A35"/>
                </a:solidFill>
              </a:rPr>
              <a:t>—</a:t>
            </a:r>
            <a:r>
              <a:rPr dirty="0" spc="-10">
                <a:solidFill>
                  <a:srgbClr val="212A35"/>
                </a:solidFill>
              </a:rPr>
              <a:t> 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4375" y="6343015"/>
            <a:ext cx="443928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84785" marR="5080" indent="-17272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369" y="1510982"/>
            <a:ext cx="11020425" cy="3432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Times New Roman"/>
              <a:buChar char="•"/>
              <a:tabLst>
                <a:tab pos="228600" algn="l"/>
              </a:tabLst>
            </a:pP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How</a:t>
            </a:r>
            <a:r>
              <a:rPr dirty="0" sz="1550" spc="16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raw</a:t>
            </a:r>
            <a:r>
              <a:rPr dirty="0" sz="1550" spc="17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audio</a:t>
            </a:r>
            <a:r>
              <a:rPr dirty="0" sz="1550" spc="13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becomes</a:t>
            </a:r>
            <a:r>
              <a:rPr dirty="0" sz="1550" spc="17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a</a:t>
            </a:r>
            <a:r>
              <a:rPr dirty="0" sz="1550" spc="14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compact,</a:t>
            </a:r>
            <a:r>
              <a:rPr dirty="0" sz="1550" spc="6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mobile-friendly</a:t>
            </a:r>
            <a:r>
              <a:rPr dirty="0" sz="1550" spc="14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1E2760"/>
                </a:solidFill>
                <a:latin typeface="Times New Roman"/>
                <a:cs typeface="Times New Roman"/>
              </a:rPr>
              <a:t>representation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Front-end: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raw</a:t>
            </a:r>
            <a:r>
              <a:rPr dirty="0" sz="1550" spc="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audio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to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compact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features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Raw</a:t>
            </a:r>
            <a:r>
              <a:rPr dirty="0" sz="1550" spc="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audio</a:t>
            </a:r>
            <a:r>
              <a:rPr dirty="0" sz="1550" spc="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x(t)</a:t>
            </a:r>
            <a:r>
              <a:rPr dirty="0" sz="1550" spc="114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Cambria Math"/>
                <a:cs typeface="Cambria Math"/>
              </a:rPr>
              <a:t>∈</a:t>
            </a:r>
            <a:r>
              <a:rPr dirty="0" sz="1550" spc="150">
                <a:solidFill>
                  <a:srgbClr val="1A1A2D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ℝᴺ</a:t>
            </a:r>
            <a:r>
              <a:rPr dirty="0" sz="1550" spc="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at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16</a:t>
            </a:r>
            <a:r>
              <a:rPr dirty="0" sz="1550" spc="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kHz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→</a:t>
            </a:r>
            <a:r>
              <a:rPr dirty="0" sz="1550" spc="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Log-Mel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extraction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(40-dim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filterbank,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25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ms</a:t>
            </a:r>
            <a:r>
              <a:rPr dirty="0" sz="1550" spc="1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window,</a:t>
            </a:r>
            <a:r>
              <a:rPr dirty="0" sz="1550" spc="1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10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ms</a:t>
            </a:r>
            <a:r>
              <a:rPr dirty="0" sz="1550" spc="1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hop)</a:t>
            </a:r>
            <a:r>
              <a:rPr dirty="0" sz="1550" spc="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→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depthwise-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separable</a:t>
            </a:r>
            <a:endParaRPr sz="155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5"/>
              </a:spcBef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subsampling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(4</a:t>
            </a:r>
            <a:r>
              <a:rPr dirty="0" sz="1550">
                <a:solidFill>
                  <a:srgbClr val="1A1A2D"/>
                </a:solidFill>
                <a:latin typeface="Calibri"/>
                <a:cs typeface="Calibri"/>
              </a:rPr>
              <a:t>×</a:t>
            </a:r>
            <a:r>
              <a:rPr dirty="0" sz="1550" spc="1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temporal</a:t>
            </a:r>
            <a:r>
              <a:rPr dirty="0" sz="1550" spc="8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reduction,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projects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to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=</a:t>
            </a:r>
            <a:r>
              <a:rPr dirty="0" sz="1550" spc="8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Times New Roman"/>
                <a:cs typeface="Times New Roman"/>
              </a:rPr>
              <a:t>128)</a:t>
            </a:r>
            <a:endParaRPr sz="1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Encoder: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Calibri"/>
                <a:cs typeface="Calibri"/>
              </a:rPr>
              <a:t>×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4</a:t>
            </a:r>
            <a:r>
              <a:rPr dirty="0" sz="15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MobileConformer</a:t>
            </a:r>
            <a:r>
              <a:rPr dirty="0" sz="1550" spc="1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blocks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r>
              <a:rPr dirty="0" sz="15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15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Macaron-Net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design,</a:t>
            </a:r>
            <a:r>
              <a:rPr dirty="0" sz="15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each</a:t>
            </a:r>
            <a:r>
              <a:rPr dirty="0" sz="15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wrapped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residual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connections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lvl="1" marL="756285" marR="1068070" indent="-286385">
              <a:lnSpc>
                <a:spcPct val="104900"/>
              </a:lnSpc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½</a:t>
            </a:r>
            <a:r>
              <a:rPr dirty="0" sz="1550" spc="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FFN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(2-layer</a:t>
            </a:r>
            <a:r>
              <a:rPr dirty="0" sz="1550" spc="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feed-forward,</a:t>
            </a:r>
            <a:r>
              <a:rPr dirty="0" sz="1550" spc="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Calibri"/>
                <a:cs typeface="Calibri"/>
              </a:rPr>
              <a:t>×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4</a:t>
            </a:r>
            <a:r>
              <a:rPr dirty="0" sz="1550" spc="114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expansion,</a:t>
            </a:r>
            <a:r>
              <a:rPr dirty="0" sz="1550" spc="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SiLU)</a:t>
            </a:r>
            <a:r>
              <a:rPr dirty="0" sz="1550" spc="1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→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Linear</a:t>
            </a:r>
            <a:r>
              <a:rPr dirty="0" sz="1550" spc="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Attention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(O(Td)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complexity,</a:t>
            </a:r>
            <a:r>
              <a:rPr dirty="0" sz="1550" spc="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4</a:t>
            </a:r>
            <a:r>
              <a:rPr dirty="0" sz="1550" spc="114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heads,</a:t>
            </a:r>
            <a:r>
              <a:rPr dirty="0" sz="1550" spc="1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feature</a:t>
            </a:r>
            <a:r>
              <a:rPr dirty="0" sz="1550" spc="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Times New Roman"/>
                <a:cs typeface="Times New Roman"/>
              </a:rPr>
              <a:t>map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φ(x)=ELU(x)+1)</a:t>
            </a:r>
            <a:r>
              <a:rPr dirty="0" sz="1550" spc="1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→</a:t>
            </a:r>
            <a:r>
              <a:rPr dirty="0" sz="1550" spc="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depthwise-conv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module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(kernel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=</a:t>
            </a:r>
            <a:r>
              <a:rPr dirty="0" sz="1550" spc="1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31,</a:t>
            </a:r>
            <a:r>
              <a:rPr dirty="0" sz="1550" spc="114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BatchNorm</a:t>
            </a:r>
            <a:r>
              <a:rPr dirty="0" sz="1550" spc="1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+</a:t>
            </a:r>
            <a:r>
              <a:rPr dirty="0" sz="1550" spc="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SiLU)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→</a:t>
            </a:r>
            <a:r>
              <a:rPr dirty="0" sz="1550" spc="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½</a:t>
            </a:r>
            <a:r>
              <a:rPr dirty="0" sz="1550" spc="1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FFN</a:t>
            </a:r>
            <a:r>
              <a:rPr dirty="0" sz="1550" spc="1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+</a:t>
            </a:r>
            <a:r>
              <a:rPr dirty="0" sz="1550" spc="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LayerNorm</a:t>
            </a:r>
            <a:endParaRPr sz="155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Char char="–"/>
              <a:tabLst>
                <a:tab pos="755650" algn="l"/>
              </a:tabLst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Linear Attention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replaces</a:t>
            </a:r>
            <a:r>
              <a:rPr dirty="0" sz="1550" spc="18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standard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O(T²d)</a:t>
            </a:r>
            <a:r>
              <a:rPr dirty="0" sz="1550" spc="10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self-attention</a:t>
            </a:r>
            <a:r>
              <a:rPr dirty="0" sz="1550" spc="1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dirty="0" sz="1550" spc="1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key</a:t>
            </a:r>
            <a:r>
              <a:rPr dirty="0" sz="1550" spc="1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change</a:t>
            </a:r>
            <a:r>
              <a:rPr dirty="0" sz="1550" spc="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that</a:t>
            </a:r>
            <a:r>
              <a:rPr dirty="0" sz="1550" spc="114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makes</a:t>
            </a:r>
            <a:r>
              <a:rPr dirty="0" sz="1550" spc="1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1550" spc="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encoder</a:t>
            </a:r>
            <a:r>
              <a:rPr dirty="0" sz="1550" spc="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practical</a:t>
            </a:r>
            <a:r>
              <a:rPr dirty="0" sz="1550" spc="2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550" spc="1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real-</a:t>
            </a:r>
            <a:r>
              <a:rPr dirty="0" sz="1550" spc="-20">
                <a:solidFill>
                  <a:srgbClr val="1A1A2D"/>
                </a:solidFill>
                <a:latin typeface="Times New Roman"/>
                <a:cs typeface="Times New Roman"/>
              </a:rPr>
              <a:t>time</a:t>
            </a:r>
            <a:endParaRPr sz="155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solidFill>
                  <a:srgbClr val="1A1A2D"/>
                </a:solidFill>
                <a:latin typeface="Times New Roman"/>
                <a:cs typeface="Times New Roman"/>
              </a:rPr>
              <a:t>mobile</a:t>
            </a:r>
            <a:r>
              <a:rPr dirty="0" sz="1550" spc="1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Times New Roman"/>
                <a:cs typeface="Times New Roman"/>
              </a:rPr>
              <a:t>inference</a:t>
            </a:r>
            <a:endParaRPr sz="1550">
              <a:latin typeface="Times New Roman"/>
              <a:cs typeface="Times New Roman"/>
            </a:endParaRPr>
          </a:p>
          <a:p>
            <a:pPr marL="228600" marR="5080" indent="-216535">
              <a:lnSpc>
                <a:spcPts val="195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Why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this</a:t>
            </a:r>
            <a:r>
              <a:rPr dirty="0" sz="15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is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edge-friendly:</a:t>
            </a:r>
            <a:r>
              <a:rPr dirty="0" sz="15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only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5.2M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parameters,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12.3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MB</a:t>
            </a:r>
            <a:r>
              <a:rPr dirty="0" sz="1550" spc="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at</a:t>
            </a:r>
            <a:r>
              <a:rPr dirty="0" sz="15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INT8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quantization</a:t>
            </a:r>
            <a:r>
              <a:rPr dirty="0" sz="1550" spc="2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roughly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24</a:t>
            </a:r>
            <a:r>
              <a:rPr dirty="0" sz="1550">
                <a:solidFill>
                  <a:srgbClr val="1F253E"/>
                </a:solidFill>
                <a:latin typeface="Calibri"/>
                <a:cs typeface="Calibri"/>
              </a:rPr>
              <a:t>×</a:t>
            </a:r>
            <a:r>
              <a:rPr dirty="0" sz="1550" spc="165">
                <a:solidFill>
                  <a:srgbClr val="1F253E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smaller</a:t>
            </a:r>
            <a:r>
              <a:rPr dirty="0" sz="1550" spc="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than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1550" spc="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comparable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standard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Conformer,</a:t>
            </a:r>
            <a:r>
              <a:rPr dirty="0" sz="1550" spc="1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while</a:t>
            </a:r>
            <a:r>
              <a:rPr dirty="0" sz="1550" spc="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the</a:t>
            </a:r>
            <a:r>
              <a:rPr dirty="0" sz="1550" spc="1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Macaron-style</a:t>
            </a:r>
            <a:r>
              <a:rPr dirty="0" sz="1550" spc="1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structure</a:t>
            </a:r>
            <a:r>
              <a:rPr dirty="0" sz="1550" spc="1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keeps</a:t>
            </a:r>
            <a:r>
              <a:rPr dirty="0" sz="1550" spc="1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training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stable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62275" y="349186"/>
            <a:ext cx="627697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212A35"/>
                </a:solidFill>
              </a:rPr>
              <a:t>MobileConformer </a:t>
            </a:r>
            <a:r>
              <a:rPr dirty="0">
                <a:solidFill>
                  <a:srgbClr val="212A35"/>
                </a:solidFill>
              </a:rPr>
              <a:t>—</a:t>
            </a:r>
            <a:r>
              <a:rPr dirty="0" spc="-15">
                <a:solidFill>
                  <a:srgbClr val="212A35"/>
                </a:solidFill>
              </a:rPr>
              <a:t> </a:t>
            </a:r>
            <a:r>
              <a:rPr dirty="0">
                <a:solidFill>
                  <a:srgbClr val="212A35"/>
                </a:solidFill>
              </a:rPr>
              <a:t>Detection &amp;</a:t>
            </a:r>
            <a:r>
              <a:rPr dirty="0" spc="-65">
                <a:solidFill>
                  <a:srgbClr val="212A35"/>
                </a:solidFill>
              </a:rPr>
              <a:t> </a:t>
            </a:r>
            <a:r>
              <a:rPr dirty="0" spc="-10">
                <a:solidFill>
                  <a:srgbClr val="212A35"/>
                </a:solidFill>
              </a:rPr>
              <a:t>Transcription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4375" y="6343015"/>
            <a:ext cx="443928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84785" marR="5080" indent="-172720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369" y="1510982"/>
            <a:ext cx="11073130" cy="36810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Times New Roman"/>
              <a:buChar char="•"/>
              <a:tabLst>
                <a:tab pos="228600" algn="l"/>
              </a:tabLst>
            </a:pP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How</a:t>
            </a:r>
            <a:r>
              <a:rPr dirty="0" sz="1550" spc="13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the</a:t>
            </a:r>
            <a:r>
              <a:rPr dirty="0" sz="1550" spc="12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two</a:t>
            </a:r>
            <a:r>
              <a:rPr dirty="0" sz="1550" spc="10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lightweight</a:t>
            </a:r>
            <a:r>
              <a:rPr dirty="0" sz="1550" spc="15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heads</a:t>
            </a:r>
            <a:r>
              <a:rPr dirty="0" sz="1550" spc="4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produce</a:t>
            </a:r>
            <a:r>
              <a:rPr dirty="0" sz="1550" spc="12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detections</a:t>
            </a:r>
            <a:r>
              <a:rPr dirty="0" sz="1550" spc="13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E2760"/>
                </a:solidFill>
                <a:latin typeface="Times New Roman"/>
                <a:cs typeface="Times New Roman"/>
              </a:rPr>
              <a:t>and</a:t>
            </a:r>
            <a:r>
              <a:rPr dirty="0" sz="1550" spc="8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1E2760"/>
                </a:solidFill>
                <a:latin typeface="Times New Roman"/>
                <a:cs typeface="Times New Roman"/>
              </a:rPr>
              <a:t>transcriptions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Shared</a:t>
            </a:r>
            <a:r>
              <a:rPr dirty="0" sz="15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representation</a:t>
            </a:r>
            <a:r>
              <a:rPr dirty="0" sz="1550" spc="11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H_N</a:t>
            </a:r>
            <a:r>
              <a:rPr dirty="0" sz="1550" spc="1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Cambria Math"/>
                <a:cs typeface="Cambria Math"/>
              </a:rPr>
              <a:t>∈</a:t>
            </a:r>
            <a:r>
              <a:rPr dirty="0" sz="1550" spc="170">
                <a:solidFill>
                  <a:srgbClr val="1F253E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ℝ^(T′</a:t>
            </a:r>
            <a:r>
              <a:rPr dirty="0" sz="1550">
                <a:solidFill>
                  <a:srgbClr val="1F253E"/>
                </a:solidFill>
                <a:latin typeface="Calibri"/>
                <a:cs typeface="Calibri"/>
              </a:rPr>
              <a:t>×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128),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T′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r>
              <a:rPr dirty="0" sz="15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T/4,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feeds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two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lightweight</a:t>
            </a:r>
            <a:r>
              <a:rPr dirty="0" sz="1550" spc="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parallel</a:t>
            </a:r>
            <a:r>
              <a:rPr dirty="0" sz="1550" spc="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heads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Stuttering</a:t>
            </a:r>
            <a:r>
              <a:rPr dirty="0" sz="15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Detection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Head:</a:t>
            </a:r>
            <a:r>
              <a:rPr dirty="0" sz="1550" spc="21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frame-level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predictions</a:t>
            </a:r>
            <a:r>
              <a:rPr dirty="0" sz="1550" spc="9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p_stutter</a:t>
            </a:r>
            <a:r>
              <a:rPr dirty="0" sz="1550" spc="1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Cambria Math"/>
                <a:cs typeface="Cambria Math"/>
              </a:rPr>
              <a:t>∈</a:t>
            </a:r>
            <a:r>
              <a:rPr dirty="0" sz="1550" spc="204">
                <a:solidFill>
                  <a:srgbClr val="1F253E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ℝ^T′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(sigmoid),</a:t>
            </a:r>
            <a:r>
              <a:rPr dirty="0" sz="1550" spc="1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trained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with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Binary</a:t>
            </a:r>
            <a:r>
              <a:rPr dirty="0" sz="15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Cross-Entropy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loss,</a:t>
            </a:r>
            <a:r>
              <a:rPr dirty="0" sz="1550" spc="1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weighted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α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endParaRPr sz="15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90"/>
              </a:spcBef>
            </a:pPr>
            <a:r>
              <a:rPr dirty="0" sz="1550" spc="-25">
                <a:solidFill>
                  <a:srgbClr val="1F253E"/>
                </a:solidFill>
                <a:latin typeface="Times New Roman"/>
                <a:cs typeface="Times New Roman"/>
              </a:rPr>
              <a:t>0.3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228600" marR="234950" indent="-216535">
              <a:lnSpc>
                <a:spcPct val="105000"/>
              </a:lnSpc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CTC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Transcription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Head: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character</a:t>
            </a:r>
            <a:r>
              <a:rPr dirty="0" sz="1550" spc="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probabilities</a:t>
            </a:r>
            <a:r>
              <a:rPr dirty="0" sz="15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P_CTC</a:t>
            </a:r>
            <a:r>
              <a:rPr dirty="0" sz="1550" spc="1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Cambria Math"/>
                <a:cs typeface="Cambria Math"/>
              </a:rPr>
              <a:t>∈</a:t>
            </a:r>
            <a:r>
              <a:rPr dirty="0" sz="1550" spc="150">
                <a:solidFill>
                  <a:srgbClr val="1F253E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ℝ^(T′</a:t>
            </a:r>
            <a:r>
              <a:rPr dirty="0" sz="1550">
                <a:solidFill>
                  <a:srgbClr val="1F253E"/>
                </a:solidFill>
                <a:latin typeface="Calibri"/>
                <a:cs typeface="Calibri"/>
              </a:rPr>
              <a:t>×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|V|),</a:t>
            </a:r>
            <a:r>
              <a:rPr dirty="0" sz="15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|V|</a:t>
            </a:r>
            <a:r>
              <a:rPr dirty="0" sz="15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r>
              <a:rPr dirty="0" sz="15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29,</a:t>
            </a:r>
            <a:r>
              <a:rPr dirty="0" sz="15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trained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with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CTC</a:t>
            </a:r>
            <a:r>
              <a:rPr dirty="0" sz="1550" spc="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loss,</a:t>
            </a:r>
            <a:r>
              <a:rPr dirty="0" sz="1550" spc="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weighted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β</a:t>
            </a:r>
            <a:r>
              <a:rPr dirty="0" sz="1550" spc="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r>
              <a:rPr dirty="0" sz="1550" spc="18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0.7,</a:t>
            </a:r>
            <a:r>
              <a:rPr dirty="0" sz="15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decoded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with</a:t>
            </a:r>
            <a:r>
              <a:rPr dirty="0" sz="1550" spc="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15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4-gram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language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model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28600" marR="821690" indent="-216535">
              <a:lnSpc>
                <a:spcPct val="1051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Multi-Task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Training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Loss:</a:t>
            </a:r>
            <a:r>
              <a:rPr dirty="0" sz="1550" spc="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</a:t>
            </a:r>
            <a:r>
              <a:rPr dirty="0" sz="15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r>
              <a:rPr dirty="0" sz="1550" spc="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α·L_stutter</a:t>
            </a:r>
            <a:r>
              <a:rPr dirty="0" sz="1550" spc="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+</a:t>
            </a:r>
            <a:r>
              <a:rPr dirty="0" sz="1550" spc="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β·L_CTC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+</a:t>
            </a:r>
            <a:r>
              <a:rPr dirty="0" sz="1550" spc="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γ·L_reg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(γ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=</a:t>
            </a:r>
            <a:r>
              <a:rPr dirty="0" sz="1550" spc="20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1</a:t>
            </a:r>
            <a:r>
              <a:rPr dirty="0" sz="1550">
                <a:solidFill>
                  <a:srgbClr val="1F253E"/>
                </a:solidFill>
                <a:latin typeface="Calibri"/>
                <a:cs typeface="Calibri"/>
              </a:rPr>
              <a:t>×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10⁻⁴)</a:t>
            </a:r>
            <a:r>
              <a:rPr dirty="0" sz="1550" spc="10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—</a:t>
            </a:r>
            <a:r>
              <a:rPr dirty="0" sz="1550" spc="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jointly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optimizes</a:t>
            </a:r>
            <a:r>
              <a:rPr dirty="0" sz="1550" spc="1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both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heads</a:t>
            </a:r>
            <a:r>
              <a:rPr dirty="0" sz="1550" spc="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with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a</a:t>
            </a:r>
            <a:r>
              <a:rPr dirty="0" sz="1550" spc="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small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regularization</a:t>
            </a:r>
            <a:r>
              <a:rPr dirty="0" sz="1550" spc="2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term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28600" marR="82550" indent="-216535">
              <a:lnSpc>
                <a:spcPct val="105000"/>
              </a:lnSpc>
              <a:buClr>
                <a:srgbClr val="000000"/>
              </a:buClr>
              <a:buChar char="•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Measured</a:t>
            </a:r>
            <a:r>
              <a:rPr dirty="0" sz="1550" spc="9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edge</a:t>
            </a:r>
            <a:r>
              <a:rPr dirty="0" sz="1550" spc="1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performance:</a:t>
            </a:r>
            <a:r>
              <a:rPr dirty="0" sz="1550" spc="1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WER</a:t>
            </a:r>
            <a:r>
              <a:rPr dirty="0" sz="1550" spc="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(fluent)</a:t>
            </a:r>
            <a:r>
              <a:rPr dirty="0" sz="1550" spc="1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11.2%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·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WER</a:t>
            </a:r>
            <a:r>
              <a:rPr dirty="0" sz="1550" spc="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(stuttered)</a:t>
            </a:r>
            <a:r>
              <a:rPr dirty="0" sz="1550" spc="1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28.4%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·</a:t>
            </a:r>
            <a:r>
              <a:rPr dirty="0" sz="1550" spc="14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Stutter</a:t>
            </a:r>
            <a:r>
              <a:rPr dirty="0" sz="1550" spc="6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F1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0.83</a:t>
            </a:r>
            <a:r>
              <a:rPr dirty="0" sz="1550" spc="7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·</a:t>
            </a:r>
            <a:r>
              <a:rPr dirty="0" sz="1550" spc="5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Latency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on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Raspberry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Pi</a:t>
            </a:r>
            <a:r>
              <a:rPr dirty="0" sz="1550" spc="1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4:</a:t>
            </a:r>
            <a:r>
              <a:rPr dirty="0" sz="1550" spc="1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280</a:t>
            </a:r>
            <a:r>
              <a:rPr dirty="0" sz="1550" spc="13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ms</a:t>
            </a:r>
            <a:r>
              <a:rPr dirty="0" sz="1550" spc="4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50">
                <a:solidFill>
                  <a:srgbClr val="1F253E"/>
                </a:solidFill>
                <a:latin typeface="Times New Roman"/>
                <a:cs typeface="Times New Roman"/>
              </a:rPr>
              <a:t>·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RTF</a:t>
            </a:r>
            <a:r>
              <a:rPr dirty="0" sz="1550" spc="6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0.42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58054" y="298830"/>
            <a:ext cx="2677160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solidFill>
                  <a:srgbClr val="212A35"/>
                </a:solidFill>
              </a:rPr>
              <a:t>OBJECTIVE</a:t>
            </a:r>
            <a:r>
              <a:rPr dirty="0" sz="3200" spc="-200">
                <a:solidFill>
                  <a:srgbClr val="212A35"/>
                </a:solidFill>
              </a:rPr>
              <a:t> </a:t>
            </a:r>
            <a:r>
              <a:rPr dirty="0" sz="3200" spc="-50">
                <a:solidFill>
                  <a:srgbClr val="212A35"/>
                </a:solidFill>
              </a:rPr>
              <a:t>3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614545" y="6343015"/>
            <a:ext cx="442722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84150" marR="5080" indent="-17208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1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-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450" y="2889186"/>
            <a:ext cx="47066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E2760"/>
                </a:solidFill>
                <a:latin typeface="Times New Roman"/>
                <a:cs typeface="Times New Roman"/>
              </a:rPr>
              <a:t>Clinical</a:t>
            </a:r>
            <a:r>
              <a:rPr dirty="0" sz="2400" spc="-10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E2760"/>
                </a:solidFill>
                <a:latin typeface="Times New Roman"/>
                <a:cs typeface="Times New Roman"/>
              </a:rPr>
              <a:t>Validation</a:t>
            </a:r>
            <a:r>
              <a:rPr dirty="0" sz="2400" spc="-20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E2760"/>
                </a:solidFill>
                <a:latin typeface="Times New Roman"/>
                <a:cs typeface="Times New Roman"/>
              </a:rPr>
              <a:t>&amp;</a:t>
            </a:r>
            <a:r>
              <a:rPr dirty="0" sz="2400" spc="-15" b="1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E2760"/>
                </a:solidFill>
                <a:latin typeface="Times New Roman"/>
                <a:cs typeface="Times New Roman"/>
              </a:rPr>
              <a:t>Dissemination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450" y="3681031"/>
            <a:ext cx="111137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27965" algn="l"/>
              </a:tabLst>
            </a:pP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Validate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 the system</a:t>
            </a:r>
            <a:r>
              <a:rPr dirty="0" sz="2400" spc="-114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with</a:t>
            </a:r>
            <a:r>
              <a:rPr dirty="0" sz="24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SRM</a:t>
            </a:r>
            <a:r>
              <a:rPr dirty="0" sz="2400" spc="-2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Medical</a:t>
            </a:r>
            <a:r>
              <a:rPr dirty="0" sz="24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College</a:t>
            </a:r>
            <a:r>
              <a:rPr dirty="0" sz="2400" spc="-7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Hospital</a:t>
            </a:r>
            <a:r>
              <a:rPr dirty="0" sz="24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on</a:t>
            </a:r>
            <a:r>
              <a:rPr dirty="0" sz="24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clinician-annotated</a:t>
            </a:r>
            <a:r>
              <a:rPr dirty="0" sz="24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data,</a:t>
            </a:r>
            <a:r>
              <a:rPr dirty="0" sz="2400" spc="-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350" y="3910012"/>
            <a:ext cx="4063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publish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outcomes</a:t>
            </a:r>
            <a:r>
              <a:rPr dirty="0" sz="2400" spc="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in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F253E"/>
                </a:solidFill>
                <a:latin typeface="Times New Roman"/>
                <a:cs typeface="Times New Roman"/>
              </a:rPr>
              <a:t>Q1</a:t>
            </a:r>
            <a:r>
              <a:rPr dirty="0" sz="2400" spc="-2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F253E"/>
                </a:solidFill>
                <a:latin typeface="Times New Roman"/>
                <a:cs typeface="Times New Roman"/>
              </a:rPr>
              <a:t>journals.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18303" y="348615"/>
            <a:ext cx="216471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10"/>
              <a:t>MILESTONE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2662173" y="3843858"/>
            <a:ext cx="1733550" cy="353060"/>
          </a:xfrm>
          <a:prstGeom prst="rect">
            <a:avLst/>
          </a:prstGeom>
          <a:solidFill>
            <a:srgbClr val="4471C4"/>
          </a:solidFill>
          <a:ln w="12600">
            <a:solidFill>
              <a:srgbClr val="F1F1F1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422909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Dec</a:t>
            </a:r>
            <a:r>
              <a:rPr dirty="0" sz="18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2025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6698" y="3843858"/>
            <a:ext cx="1485900" cy="353060"/>
          </a:xfrm>
          <a:prstGeom prst="rect">
            <a:avLst/>
          </a:prstGeom>
          <a:solidFill>
            <a:srgbClr val="EC7C30"/>
          </a:solidFill>
          <a:ln w="12600">
            <a:solidFill>
              <a:srgbClr val="F1F1F1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264795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dirty="0" sz="1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2026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4176" y="3843858"/>
            <a:ext cx="1485900" cy="353060"/>
          </a:xfrm>
          <a:prstGeom prst="rect">
            <a:avLst/>
          </a:prstGeom>
          <a:solidFill>
            <a:srgbClr val="A4A4A4"/>
          </a:solidFill>
          <a:ln w="12600">
            <a:solidFill>
              <a:srgbClr val="F1F1F1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Dec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2026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1526" y="3843858"/>
            <a:ext cx="1485900" cy="353060"/>
          </a:xfrm>
          <a:prstGeom prst="rect">
            <a:avLst/>
          </a:prstGeom>
          <a:solidFill>
            <a:srgbClr val="FFC000"/>
          </a:solidFill>
          <a:ln w="12600">
            <a:solidFill>
              <a:srgbClr val="F1F1F1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261620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dirty="0" sz="1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2027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39351" y="3843858"/>
            <a:ext cx="1704975" cy="353060"/>
          </a:xfrm>
          <a:prstGeom prst="rect">
            <a:avLst/>
          </a:prstGeom>
          <a:solidFill>
            <a:srgbClr val="5B9BD4"/>
          </a:solidFill>
          <a:ln w="12600">
            <a:solidFill>
              <a:srgbClr val="F1F1F1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414020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Jun</a:t>
            </a:r>
            <a:r>
              <a:rPr dirty="0" sz="1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2028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60315" y="4205859"/>
            <a:ext cx="76835" cy="977900"/>
          </a:xfrm>
          <a:custGeom>
            <a:avLst/>
            <a:gdLst/>
            <a:ahLst/>
            <a:cxnLst/>
            <a:rect l="l" t="t" r="r" b="b"/>
            <a:pathLst>
              <a:path w="76835" h="977900">
                <a:moveTo>
                  <a:pt x="48260" y="0"/>
                </a:moveTo>
                <a:lnTo>
                  <a:pt x="22733" y="0"/>
                </a:lnTo>
                <a:lnTo>
                  <a:pt x="22733" y="25527"/>
                </a:lnTo>
                <a:lnTo>
                  <a:pt x="48387" y="25527"/>
                </a:lnTo>
                <a:lnTo>
                  <a:pt x="48260" y="0"/>
                </a:lnTo>
                <a:close/>
              </a:path>
              <a:path w="76835" h="977900">
                <a:moveTo>
                  <a:pt x="48641" y="102235"/>
                </a:moveTo>
                <a:lnTo>
                  <a:pt x="22987" y="102235"/>
                </a:lnTo>
                <a:lnTo>
                  <a:pt x="23113" y="127762"/>
                </a:lnTo>
                <a:lnTo>
                  <a:pt x="48641" y="127762"/>
                </a:lnTo>
                <a:lnTo>
                  <a:pt x="48641" y="102235"/>
                </a:lnTo>
                <a:close/>
              </a:path>
              <a:path w="76835" h="977900">
                <a:moveTo>
                  <a:pt x="48895" y="204470"/>
                </a:moveTo>
                <a:lnTo>
                  <a:pt x="23368" y="204470"/>
                </a:lnTo>
                <a:lnTo>
                  <a:pt x="23368" y="229997"/>
                </a:lnTo>
                <a:lnTo>
                  <a:pt x="49022" y="229997"/>
                </a:lnTo>
                <a:lnTo>
                  <a:pt x="48895" y="204470"/>
                </a:lnTo>
                <a:close/>
              </a:path>
              <a:path w="76835" h="977900">
                <a:moveTo>
                  <a:pt x="49275" y="306705"/>
                </a:moveTo>
                <a:lnTo>
                  <a:pt x="23622" y="306705"/>
                </a:lnTo>
                <a:lnTo>
                  <a:pt x="23749" y="332232"/>
                </a:lnTo>
                <a:lnTo>
                  <a:pt x="49275" y="332232"/>
                </a:lnTo>
                <a:lnTo>
                  <a:pt x="49275" y="306705"/>
                </a:lnTo>
                <a:close/>
              </a:path>
              <a:path w="76835" h="977900">
                <a:moveTo>
                  <a:pt x="49530" y="408940"/>
                </a:moveTo>
                <a:lnTo>
                  <a:pt x="24003" y="408940"/>
                </a:lnTo>
                <a:lnTo>
                  <a:pt x="24003" y="434594"/>
                </a:lnTo>
                <a:lnTo>
                  <a:pt x="49657" y="434594"/>
                </a:lnTo>
                <a:lnTo>
                  <a:pt x="49530" y="408940"/>
                </a:lnTo>
                <a:close/>
              </a:path>
              <a:path w="76835" h="977900">
                <a:moveTo>
                  <a:pt x="49784" y="511175"/>
                </a:moveTo>
                <a:lnTo>
                  <a:pt x="24257" y="511175"/>
                </a:lnTo>
                <a:lnTo>
                  <a:pt x="24384" y="536829"/>
                </a:lnTo>
                <a:lnTo>
                  <a:pt x="49911" y="536829"/>
                </a:lnTo>
                <a:lnTo>
                  <a:pt x="49784" y="511175"/>
                </a:lnTo>
                <a:close/>
              </a:path>
              <a:path w="76835" h="977900">
                <a:moveTo>
                  <a:pt x="50164" y="613410"/>
                </a:moveTo>
                <a:lnTo>
                  <a:pt x="24637" y="613410"/>
                </a:lnTo>
                <a:lnTo>
                  <a:pt x="24637" y="639064"/>
                </a:lnTo>
                <a:lnTo>
                  <a:pt x="50292" y="638937"/>
                </a:lnTo>
                <a:lnTo>
                  <a:pt x="50164" y="613410"/>
                </a:lnTo>
                <a:close/>
              </a:path>
              <a:path w="76835" h="977900">
                <a:moveTo>
                  <a:pt x="50419" y="715645"/>
                </a:moveTo>
                <a:lnTo>
                  <a:pt x="24892" y="715645"/>
                </a:lnTo>
                <a:lnTo>
                  <a:pt x="25019" y="741299"/>
                </a:lnTo>
                <a:lnTo>
                  <a:pt x="50546" y="741299"/>
                </a:lnTo>
                <a:lnTo>
                  <a:pt x="50419" y="715645"/>
                </a:lnTo>
                <a:close/>
              </a:path>
              <a:path w="76835" h="977900">
                <a:moveTo>
                  <a:pt x="50800" y="817880"/>
                </a:moveTo>
                <a:lnTo>
                  <a:pt x="25273" y="817880"/>
                </a:lnTo>
                <a:lnTo>
                  <a:pt x="25273" y="843534"/>
                </a:lnTo>
                <a:lnTo>
                  <a:pt x="50800" y="843534"/>
                </a:lnTo>
                <a:lnTo>
                  <a:pt x="50800" y="817880"/>
                </a:lnTo>
                <a:close/>
              </a:path>
              <a:path w="76835" h="977900">
                <a:moveTo>
                  <a:pt x="38226" y="901192"/>
                </a:moveTo>
                <a:lnTo>
                  <a:pt x="23360" y="904275"/>
                </a:lnTo>
                <a:lnTo>
                  <a:pt x="11207" y="912526"/>
                </a:lnTo>
                <a:lnTo>
                  <a:pt x="3128" y="924552"/>
                </a:lnTo>
                <a:lnTo>
                  <a:pt x="3008" y="924730"/>
                </a:lnTo>
                <a:lnTo>
                  <a:pt x="51" y="939419"/>
                </a:lnTo>
                <a:lnTo>
                  <a:pt x="0" y="939673"/>
                </a:lnTo>
                <a:lnTo>
                  <a:pt x="3035" y="954379"/>
                </a:lnTo>
                <a:lnTo>
                  <a:pt x="3083" y="954611"/>
                </a:lnTo>
                <a:lnTo>
                  <a:pt x="11216" y="966612"/>
                </a:lnTo>
                <a:lnTo>
                  <a:pt x="11334" y="966787"/>
                </a:lnTo>
                <a:lnTo>
                  <a:pt x="23538" y="974963"/>
                </a:lnTo>
                <a:lnTo>
                  <a:pt x="38481" y="977900"/>
                </a:lnTo>
                <a:lnTo>
                  <a:pt x="52959" y="974963"/>
                </a:lnTo>
                <a:lnTo>
                  <a:pt x="53281" y="974963"/>
                </a:lnTo>
                <a:lnTo>
                  <a:pt x="65595" y="966612"/>
                </a:lnTo>
                <a:lnTo>
                  <a:pt x="73771" y="954379"/>
                </a:lnTo>
                <a:lnTo>
                  <a:pt x="76658" y="939673"/>
                </a:lnTo>
                <a:lnTo>
                  <a:pt x="25654" y="939673"/>
                </a:lnTo>
                <a:lnTo>
                  <a:pt x="25555" y="924552"/>
                </a:lnTo>
                <a:lnTo>
                  <a:pt x="25526" y="920115"/>
                </a:lnTo>
                <a:lnTo>
                  <a:pt x="70663" y="920115"/>
                </a:lnTo>
                <a:lnTo>
                  <a:pt x="65507" y="912526"/>
                </a:lnTo>
                <a:lnTo>
                  <a:pt x="65420" y="912399"/>
                </a:lnTo>
                <a:lnTo>
                  <a:pt x="53299" y="904275"/>
                </a:lnTo>
                <a:lnTo>
                  <a:pt x="53562" y="904275"/>
                </a:lnTo>
                <a:lnTo>
                  <a:pt x="38226" y="901192"/>
                </a:lnTo>
                <a:close/>
              </a:path>
              <a:path w="76835" h="977900">
                <a:moveTo>
                  <a:pt x="51054" y="920115"/>
                </a:moveTo>
                <a:lnTo>
                  <a:pt x="25526" y="920115"/>
                </a:lnTo>
                <a:lnTo>
                  <a:pt x="25555" y="924552"/>
                </a:lnTo>
                <a:lnTo>
                  <a:pt x="25654" y="939673"/>
                </a:lnTo>
                <a:lnTo>
                  <a:pt x="51181" y="939673"/>
                </a:lnTo>
                <a:lnTo>
                  <a:pt x="51083" y="924552"/>
                </a:lnTo>
                <a:lnTo>
                  <a:pt x="51054" y="920115"/>
                </a:lnTo>
                <a:close/>
              </a:path>
              <a:path w="76835" h="977900">
                <a:moveTo>
                  <a:pt x="70663" y="920115"/>
                </a:moveTo>
                <a:lnTo>
                  <a:pt x="51054" y="920115"/>
                </a:lnTo>
                <a:lnTo>
                  <a:pt x="51083" y="924552"/>
                </a:lnTo>
                <a:lnTo>
                  <a:pt x="51181" y="939673"/>
                </a:lnTo>
                <a:lnTo>
                  <a:pt x="76658" y="939673"/>
                </a:lnTo>
                <a:lnTo>
                  <a:pt x="76708" y="939419"/>
                </a:lnTo>
                <a:lnTo>
                  <a:pt x="73714" y="924730"/>
                </a:lnTo>
                <a:lnTo>
                  <a:pt x="73677" y="924552"/>
                </a:lnTo>
                <a:lnTo>
                  <a:pt x="70663" y="920115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14871" y="2871977"/>
            <a:ext cx="76835" cy="974725"/>
          </a:xfrm>
          <a:custGeom>
            <a:avLst/>
            <a:gdLst/>
            <a:ahLst/>
            <a:cxnLst/>
            <a:rect l="l" t="t" r="r" b="b"/>
            <a:pathLst>
              <a:path w="76835" h="974725">
                <a:moveTo>
                  <a:pt x="53848" y="949071"/>
                </a:moveTo>
                <a:lnTo>
                  <a:pt x="28320" y="949071"/>
                </a:lnTo>
                <a:lnTo>
                  <a:pt x="28448" y="974725"/>
                </a:lnTo>
                <a:lnTo>
                  <a:pt x="53975" y="974725"/>
                </a:lnTo>
                <a:lnTo>
                  <a:pt x="53848" y="949071"/>
                </a:lnTo>
                <a:close/>
              </a:path>
              <a:path w="76835" h="974725">
                <a:moveTo>
                  <a:pt x="53593" y="846836"/>
                </a:moveTo>
                <a:lnTo>
                  <a:pt x="27939" y="846836"/>
                </a:lnTo>
                <a:lnTo>
                  <a:pt x="28066" y="872490"/>
                </a:lnTo>
                <a:lnTo>
                  <a:pt x="53593" y="872490"/>
                </a:lnTo>
                <a:lnTo>
                  <a:pt x="53593" y="846836"/>
                </a:lnTo>
                <a:close/>
              </a:path>
              <a:path w="76835" h="974725">
                <a:moveTo>
                  <a:pt x="53212" y="744601"/>
                </a:moveTo>
                <a:lnTo>
                  <a:pt x="27686" y="744601"/>
                </a:lnTo>
                <a:lnTo>
                  <a:pt x="27812" y="770255"/>
                </a:lnTo>
                <a:lnTo>
                  <a:pt x="53340" y="770255"/>
                </a:lnTo>
                <a:lnTo>
                  <a:pt x="53212" y="744601"/>
                </a:lnTo>
                <a:close/>
              </a:path>
              <a:path w="76835" h="974725">
                <a:moveTo>
                  <a:pt x="52958" y="642366"/>
                </a:moveTo>
                <a:lnTo>
                  <a:pt x="27431" y="642366"/>
                </a:lnTo>
                <a:lnTo>
                  <a:pt x="27431" y="668020"/>
                </a:lnTo>
                <a:lnTo>
                  <a:pt x="52958" y="668020"/>
                </a:lnTo>
                <a:lnTo>
                  <a:pt x="52958" y="642366"/>
                </a:lnTo>
                <a:close/>
              </a:path>
              <a:path w="76835" h="974725">
                <a:moveTo>
                  <a:pt x="52577" y="540131"/>
                </a:moveTo>
                <a:lnTo>
                  <a:pt x="27050" y="540131"/>
                </a:lnTo>
                <a:lnTo>
                  <a:pt x="27177" y="565785"/>
                </a:lnTo>
                <a:lnTo>
                  <a:pt x="52705" y="565785"/>
                </a:lnTo>
                <a:lnTo>
                  <a:pt x="52577" y="540131"/>
                </a:lnTo>
                <a:close/>
              </a:path>
              <a:path w="76835" h="974725">
                <a:moveTo>
                  <a:pt x="52324" y="437896"/>
                </a:moveTo>
                <a:lnTo>
                  <a:pt x="26797" y="437896"/>
                </a:lnTo>
                <a:lnTo>
                  <a:pt x="26797" y="463550"/>
                </a:lnTo>
                <a:lnTo>
                  <a:pt x="52324" y="463550"/>
                </a:lnTo>
                <a:lnTo>
                  <a:pt x="52324" y="437896"/>
                </a:lnTo>
                <a:close/>
              </a:path>
              <a:path w="76835" h="974725">
                <a:moveTo>
                  <a:pt x="51942" y="335661"/>
                </a:moveTo>
                <a:lnTo>
                  <a:pt x="26415" y="335661"/>
                </a:lnTo>
                <a:lnTo>
                  <a:pt x="26542" y="361188"/>
                </a:lnTo>
                <a:lnTo>
                  <a:pt x="52069" y="361188"/>
                </a:lnTo>
                <a:lnTo>
                  <a:pt x="51942" y="335661"/>
                </a:lnTo>
                <a:close/>
              </a:path>
              <a:path w="76835" h="974725">
                <a:moveTo>
                  <a:pt x="51688" y="233425"/>
                </a:moveTo>
                <a:lnTo>
                  <a:pt x="26162" y="233425"/>
                </a:lnTo>
                <a:lnTo>
                  <a:pt x="26162" y="258952"/>
                </a:lnTo>
                <a:lnTo>
                  <a:pt x="51688" y="258952"/>
                </a:lnTo>
                <a:lnTo>
                  <a:pt x="51688" y="233425"/>
                </a:lnTo>
                <a:close/>
              </a:path>
              <a:path w="76835" h="974725">
                <a:moveTo>
                  <a:pt x="51307" y="131191"/>
                </a:moveTo>
                <a:lnTo>
                  <a:pt x="25780" y="131191"/>
                </a:lnTo>
                <a:lnTo>
                  <a:pt x="25907" y="156718"/>
                </a:lnTo>
                <a:lnTo>
                  <a:pt x="51435" y="156718"/>
                </a:lnTo>
                <a:lnTo>
                  <a:pt x="51307" y="131191"/>
                </a:lnTo>
                <a:close/>
              </a:path>
              <a:path w="76835" h="974725">
                <a:moveTo>
                  <a:pt x="38226" y="0"/>
                </a:moveTo>
                <a:lnTo>
                  <a:pt x="3056" y="23288"/>
                </a:lnTo>
                <a:lnTo>
                  <a:pt x="25" y="38226"/>
                </a:lnTo>
                <a:lnTo>
                  <a:pt x="0" y="38354"/>
                </a:lnTo>
                <a:lnTo>
                  <a:pt x="2991" y="53113"/>
                </a:lnTo>
                <a:lnTo>
                  <a:pt x="3028" y="53292"/>
                </a:lnTo>
                <a:lnTo>
                  <a:pt x="11163" y="65309"/>
                </a:lnTo>
                <a:lnTo>
                  <a:pt x="11271" y="65468"/>
                </a:lnTo>
                <a:lnTo>
                  <a:pt x="23467" y="73644"/>
                </a:lnTo>
                <a:lnTo>
                  <a:pt x="38353" y="76581"/>
                </a:lnTo>
                <a:lnTo>
                  <a:pt x="52842" y="73644"/>
                </a:lnTo>
                <a:lnTo>
                  <a:pt x="53157" y="73644"/>
                </a:lnTo>
                <a:lnTo>
                  <a:pt x="65468" y="65309"/>
                </a:lnTo>
                <a:lnTo>
                  <a:pt x="72726" y="54483"/>
                </a:lnTo>
                <a:lnTo>
                  <a:pt x="25526" y="54483"/>
                </a:lnTo>
                <a:lnTo>
                  <a:pt x="25526" y="38354"/>
                </a:lnTo>
                <a:lnTo>
                  <a:pt x="76580" y="38226"/>
                </a:lnTo>
                <a:lnTo>
                  <a:pt x="73589" y="23467"/>
                </a:lnTo>
                <a:lnTo>
                  <a:pt x="73552" y="23288"/>
                </a:lnTo>
                <a:lnTo>
                  <a:pt x="65417" y="11271"/>
                </a:lnTo>
                <a:lnTo>
                  <a:pt x="65309" y="11112"/>
                </a:lnTo>
                <a:lnTo>
                  <a:pt x="53249" y="3028"/>
                </a:lnTo>
                <a:lnTo>
                  <a:pt x="53576" y="3028"/>
                </a:lnTo>
                <a:lnTo>
                  <a:pt x="38226" y="0"/>
                </a:lnTo>
                <a:close/>
              </a:path>
              <a:path w="76835" h="974725">
                <a:moveTo>
                  <a:pt x="51053" y="38226"/>
                </a:moveTo>
                <a:lnTo>
                  <a:pt x="25526" y="38354"/>
                </a:lnTo>
                <a:lnTo>
                  <a:pt x="25526" y="54483"/>
                </a:lnTo>
                <a:lnTo>
                  <a:pt x="51180" y="54483"/>
                </a:lnTo>
                <a:lnTo>
                  <a:pt x="51053" y="38226"/>
                </a:lnTo>
                <a:close/>
              </a:path>
              <a:path w="76835" h="974725">
                <a:moveTo>
                  <a:pt x="76580" y="38226"/>
                </a:moveTo>
                <a:lnTo>
                  <a:pt x="51053" y="38226"/>
                </a:lnTo>
                <a:lnTo>
                  <a:pt x="51180" y="54483"/>
                </a:lnTo>
                <a:lnTo>
                  <a:pt x="72726" y="54483"/>
                </a:lnTo>
                <a:lnTo>
                  <a:pt x="73524" y="53292"/>
                </a:lnTo>
                <a:lnTo>
                  <a:pt x="73644" y="53113"/>
                </a:lnTo>
                <a:lnTo>
                  <a:pt x="76555" y="38354"/>
                </a:lnTo>
                <a:lnTo>
                  <a:pt x="76580" y="38226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03971" y="4205859"/>
            <a:ext cx="76835" cy="977900"/>
          </a:xfrm>
          <a:custGeom>
            <a:avLst/>
            <a:gdLst/>
            <a:ahLst/>
            <a:cxnLst/>
            <a:rect l="l" t="t" r="r" b="b"/>
            <a:pathLst>
              <a:path w="76834" h="977900">
                <a:moveTo>
                  <a:pt x="47879" y="0"/>
                </a:moveTo>
                <a:lnTo>
                  <a:pt x="22351" y="0"/>
                </a:lnTo>
                <a:lnTo>
                  <a:pt x="22478" y="25527"/>
                </a:lnTo>
                <a:lnTo>
                  <a:pt x="48005" y="25527"/>
                </a:lnTo>
                <a:lnTo>
                  <a:pt x="47879" y="0"/>
                </a:lnTo>
                <a:close/>
              </a:path>
              <a:path w="76834" h="977900">
                <a:moveTo>
                  <a:pt x="48260" y="102235"/>
                </a:moveTo>
                <a:lnTo>
                  <a:pt x="22732" y="102235"/>
                </a:lnTo>
                <a:lnTo>
                  <a:pt x="22732" y="127762"/>
                </a:lnTo>
                <a:lnTo>
                  <a:pt x="48386" y="127762"/>
                </a:lnTo>
                <a:lnTo>
                  <a:pt x="48260" y="102235"/>
                </a:lnTo>
                <a:close/>
              </a:path>
              <a:path w="76834" h="977900">
                <a:moveTo>
                  <a:pt x="48641" y="204470"/>
                </a:moveTo>
                <a:lnTo>
                  <a:pt x="22986" y="204470"/>
                </a:lnTo>
                <a:lnTo>
                  <a:pt x="23113" y="229997"/>
                </a:lnTo>
                <a:lnTo>
                  <a:pt x="48641" y="229997"/>
                </a:lnTo>
                <a:lnTo>
                  <a:pt x="48641" y="204470"/>
                </a:lnTo>
                <a:close/>
              </a:path>
              <a:path w="76834" h="977900">
                <a:moveTo>
                  <a:pt x="48895" y="306705"/>
                </a:moveTo>
                <a:lnTo>
                  <a:pt x="23368" y="306705"/>
                </a:lnTo>
                <a:lnTo>
                  <a:pt x="23495" y="332359"/>
                </a:lnTo>
                <a:lnTo>
                  <a:pt x="49022" y="332359"/>
                </a:lnTo>
                <a:lnTo>
                  <a:pt x="48895" y="306705"/>
                </a:lnTo>
                <a:close/>
              </a:path>
              <a:path w="76834" h="977900">
                <a:moveTo>
                  <a:pt x="49275" y="408940"/>
                </a:moveTo>
                <a:lnTo>
                  <a:pt x="23749" y="408940"/>
                </a:lnTo>
                <a:lnTo>
                  <a:pt x="23875" y="434594"/>
                </a:lnTo>
                <a:lnTo>
                  <a:pt x="49403" y="434594"/>
                </a:lnTo>
                <a:lnTo>
                  <a:pt x="49275" y="408940"/>
                </a:lnTo>
                <a:close/>
              </a:path>
              <a:path w="76834" h="977900">
                <a:moveTo>
                  <a:pt x="49656" y="511175"/>
                </a:moveTo>
                <a:lnTo>
                  <a:pt x="24129" y="511175"/>
                </a:lnTo>
                <a:lnTo>
                  <a:pt x="24129" y="536829"/>
                </a:lnTo>
                <a:lnTo>
                  <a:pt x="49784" y="536829"/>
                </a:lnTo>
                <a:lnTo>
                  <a:pt x="49656" y="511175"/>
                </a:lnTo>
                <a:close/>
              </a:path>
              <a:path w="76834" h="977900">
                <a:moveTo>
                  <a:pt x="50037" y="613410"/>
                </a:moveTo>
                <a:lnTo>
                  <a:pt x="24510" y="613410"/>
                </a:lnTo>
                <a:lnTo>
                  <a:pt x="24510" y="639064"/>
                </a:lnTo>
                <a:lnTo>
                  <a:pt x="50037" y="638937"/>
                </a:lnTo>
                <a:lnTo>
                  <a:pt x="50037" y="613410"/>
                </a:lnTo>
                <a:close/>
              </a:path>
              <a:path w="76834" h="977900">
                <a:moveTo>
                  <a:pt x="50419" y="715645"/>
                </a:moveTo>
                <a:lnTo>
                  <a:pt x="24764" y="715645"/>
                </a:lnTo>
                <a:lnTo>
                  <a:pt x="24892" y="741299"/>
                </a:lnTo>
                <a:lnTo>
                  <a:pt x="50419" y="741299"/>
                </a:lnTo>
                <a:lnTo>
                  <a:pt x="50419" y="715645"/>
                </a:lnTo>
                <a:close/>
              </a:path>
              <a:path w="76834" h="977900">
                <a:moveTo>
                  <a:pt x="50673" y="817880"/>
                </a:moveTo>
                <a:lnTo>
                  <a:pt x="25146" y="817880"/>
                </a:lnTo>
                <a:lnTo>
                  <a:pt x="25273" y="843534"/>
                </a:lnTo>
                <a:lnTo>
                  <a:pt x="50800" y="843534"/>
                </a:lnTo>
                <a:lnTo>
                  <a:pt x="50673" y="817880"/>
                </a:lnTo>
                <a:close/>
              </a:path>
              <a:path w="76834" h="977900">
                <a:moveTo>
                  <a:pt x="38226" y="901192"/>
                </a:moveTo>
                <a:lnTo>
                  <a:pt x="2990" y="924784"/>
                </a:lnTo>
                <a:lnTo>
                  <a:pt x="0" y="939673"/>
                </a:lnTo>
                <a:lnTo>
                  <a:pt x="3035" y="954379"/>
                </a:lnTo>
                <a:lnTo>
                  <a:pt x="3083" y="954611"/>
                </a:lnTo>
                <a:lnTo>
                  <a:pt x="11216" y="966612"/>
                </a:lnTo>
                <a:lnTo>
                  <a:pt x="11334" y="966787"/>
                </a:lnTo>
                <a:lnTo>
                  <a:pt x="23538" y="974963"/>
                </a:lnTo>
                <a:lnTo>
                  <a:pt x="38480" y="977900"/>
                </a:lnTo>
                <a:lnTo>
                  <a:pt x="52942" y="974963"/>
                </a:lnTo>
                <a:lnTo>
                  <a:pt x="53264" y="974963"/>
                </a:lnTo>
                <a:lnTo>
                  <a:pt x="65547" y="966612"/>
                </a:lnTo>
                <a:lnTo>
                  <a:pt x="73717" y="954379"/>
                </a:lnTo>
                <a:lnTo>
                  <a:pt x="76657" y="939673"/>
                </a:lnTo>
                <a:lnTo>
                  <a:pt x="25526" y="939673"/>
                </a:lnTo>
                <a:lnTo>
                  <a:pt x="25526" y="920115"/>
                </a:lnTo>
                <a:lnTo>
                  <a:pt x="70646" y="920115"/>
                </a:lnTo>
                <a:lnTo>
                  <a:pt x="65373" y="912352"/>
                </a:lnTo>
                <a:lnTo>
                  <a:pt x="53335" y="904293"/>
                </a:lnTo>
                <a:lnTo>
                  <a:pt x="53724" y="904293"/>
                </a:lnTo>
                <a:lnTo>
                  <a:pt x="38226" y="901192"/>
                </a:lnTo>
                <a:close/>
              </a:path>
              <a:path w="76834" h="977900">
                <a:moveTo>
                  <a:pt x="51053" y="920115"/>
                </a:moveTo>
                <a:lnTo>
                  <a:pt x="25526" y="920115"/>
                </a:lnTo>
                <a:lnTo>
                  <a:pt x="25526" y="939673"/>
                </a:lnTo>
                <a:lnTo>
                  <a:pt x="51181" y="939673"/>
                </a:lnTo>
                <a:lnTo>
                  <a:pt x="51082" y="924498"/>
                </a:lnTo>
                <a:lnTo>
                  <a:pt x="51053" y="920115"/>
                </a:lnTo>
                <a:close/>
              </a:path>
              <a:path w="76834" h="977900">
                <a:moveTo>
                  <a:pt x="70646" y="920115"/>
                </a:moveTo>
                <a:lnTo>
                  <a:pt x="51053" y="920115"/>
                </a:lnTo>
                <a:lnTo>
                  <a:pt x="51082" y="924498"/>
                </a:lnTo>
                <a:lnTo>
                  <a:pt x="51181" y="939673"/>
                </a:lnTo>
                <a:lnTo>
                  <a:pt x="76657" y="939673"/>
                </a:lnTo>
                <a:lnTo>
                  <a:pt x="76707" y="939419"/>
                </a:lnTo>
                <a:lnTo>
                  <a:pt x="73683" y="924784"/>
                </a:lnTo>
                <a:lnTo>
                  <a:pt x="73624" y="924498"/>
                </a:lnTo>
                <a:lnTo>
                  <a:pt x="70646" y="92011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2381250" y="2067179"/>
            <a:ext cx="857250" cy="772160"/>
            <a:chOff x="2381250" y="2067179"/>
            <a:chExt cx="857250" cy="772160"/>
          </a:xfrm>
        </p:grpSpPr>
        <p:sp>
          <p:nvSpPr>
            <p:cNvPr id="12" name="object 12"/>
            <p:cNvSpPr/>
            <p:nvPr/>
          </p:nvSpPr>
          <p:spPr>
            <a:xfrm>
              <a:off x="2381250" y="2067179"/>
              <a:ext cx="857250" cy="772160"/>
            </a:xfrm>
            <a:custGeom>
              <a:avLst/>
              <a:gdLst/>
              <a:ahLst/>
              <a:cxnLst/>
              <a:rect l="l" t="t" r="r" b="b"/>
              <a:pathLst>
                <a:path w="857250" h="772160">
                  <a:moveTo>
                    <a:pt x="428625" y="0"/>
                  </a:moveTo>
                  <a:lnTo>
                    <a:pt x="378637" y="2595"/>
                  </a:lnTo>
                  <a:lnTo>
                    <a:pt x="330343" y="10188"/>
                  </a:lnTo>
                  <a:lnTo>
                    <a:pt x="284065" y="22490"/>
                  </a:lnTo>
                  <a:lnTo>
                    <a:pt x="240124" y="39212"/>
                  </a:lnTo>
                  <a:lnTo>
                    <a:pt x="198842" y="60063"/>
                  </a:lnTo>
                  <a:lnTo>
                    <a:pt x="160539" y="84755"/>
                  </a:lnTo>
                  <a:lnTo>
                    <a:pt x="125539" y="112998"/>
                  </a:lnTo>
                  <a:lnTo>
                    <a:pt x="94162" y="144503"/>
                  </a:lnTo>
                  <a:lnTo>
                    <a:pt x="66730" y="178980"/>
                  </a:lnTo>
                  <a:lnTo>
                    <a:pt x="43565" y="216140"/>
                  </a:lnTo>
                  <a:lnTo>
                    <a:pt x="24987" y="255694"/>
                  </a:lnTo>
                  <a:lnTo>
                    <a:pt x="11320" y="297353"/>
                  </a:lnTo>
                  <a:lnTo>
                    <a:pt x="2883" y="340826"/>
                  </a:lnTo>
                  <a:lnTo>
                    <a:pt x="0" y="385825"/>
                  </a:lnTo>
                  <a:lnTo>
                    <a:pt x="2883" y="430825"/>
                  </a:lnTo>
                  <a:lnTo>
                    <a:pt x="11320" y="474298"/>
                  </a:lnTo>
                  <a:lnTo>
                    <a:pt x="24987" y="515957"/>
                  </a:lnTo>
                  <a:lnTo>
                    <a:pt x="43565" y="555511"/>
                  </a:lnTo>
                  <a:lnTo>
                    <a:pt x="66730" y="592671"/>
                  </a:lnTo>
                  <a:lnTo>
                    <a:pt x="94162" y="627148"/>
                  </a:lnTo>
                  <a:lnTo>
                    <a:pt x="125539" y="658653"/>
                  </a:lnTo>
                  <a:lnTo>
                    <a:pt x="160539" y="686896"/>
                  </a:lnTo>
                  <a:lnTo>
                    <a:pt x="198842" y="711588"/>
                  </a:lnTo>
                  <a:lnTo>
                    <a:pt x="240124" y="732439"/>
                  </a:lnTo>
                  <a:lnTo>
                    <a:pt x="284065" y="749161"/>
                  </a:lnTo>
                  <a:lnTo>
                    <a:pt x="330343" y="761463"/>
                  </a:lnTo>
                  <a:lnTo>
                    <a:pt x="378637" y="769056"/>
                  </a:lnTo>
                  <a:lnTo>
                    <a:pt x="428625" y="771651"/>
                  </a:lnTo>
                  <a:lnTo>
                    <a:pt x="478612" y="769056"/>
                  </a:lnTo>
                  <a:lnTo>
                    <a:pt x="526906" y="761463"/>
                  </a:lnTo>
                  <a:lnTo>
                    <a:pt x="573184" y="749161"/>
                  </a:lnTo>
                  <a:lnTo>
                    <a:pt x="617125" y="732439"/>
                  </a:lnTo>
                  <a:lnTo>
                    <a:pt x="658407" y="711588"/>
                  </a:lnTo>
                  <a:lnTo>
                    <a:pt x="696710" y="686896"/>
                  </a:lnTo>
                  <a:lnTo>
                    <a:pt x="731710" y="658653"/>
                  </a:lnTo>
                  <a:lnTo>
                    <a:pt x="763087" y="627148"/>
                  </a:lnTo>
                  <a:lnTo>
                    <a:pt x="790519" y="592671"/>
                  </a:lnTo>
                  <a:lnTo>
                    <a:pt x="813684" y="555511"/>
                  </a:lnTo>
                  <a:lnTo>
                    <a:pt x="832262" y="515957"/>
                  </a:lnTo>
                  <a:lnTo>
                    <a:pt x="845929" y="474298"/>
                  </a:lnTo>
                  <a:lnTo>
                    <a:pt x="854366" y="430825"/>
                  </a:lnTo>
                  <a:lnTo>
                    <a:pt x="857250" y="385825"/>
                  </a:lnTo>
                  <a:lnTo>
                    <a:pt x="854366" y="340826"/>
                  </a:lnTo>
                  <a:lnTo>
                    <a:pt x="845929" y="297353"/>
                  </a:lnTo>
                  <a:lnTo>
                    <a:pt x="832262" y="255694"/>
                  </a:lnTo>
                  <a:lnTo>
                    <a:pt x="813684" y="216140"/>
                  </a:lnTo>
                  <a:lnTo>
                    <a:pt x="790519" y="178980"/>
                  </a:lnTo>
                  <a:lnTo>
                    <a:pt x="763087" y="144503"/>
                  </a:lnTo>
                  <a:lnTo>
                    <a:pt x="731710" y="112998"/>
                  </a:lnTo>
                  <a:lnTo>
                    <a:pt x="696710" y="84755"/>
                  </a:lnTo>
                  <a:lnTo>
                    <a:pt x="658407" y="60063"/>
                  </a:lnTo>
                  <a:lnTo>
                    <a:pt x="617125" y="39212"/>
                  </a:lnTo>
                  <a:lnTo>
                    <a:pt x="573184" y="22490"/>
                  </a:lnTo>
                  <a:lnTo>
                    <a:pt x="526906" y="10188"/>
                  </a:lnTo>
                  <a:lnTo>
                    <a:pt x="478612" y="2595"/>
                  </a:lnTo>
                  <a:lnTo>
                    <a:pt x="4286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75052" y="2273427"/>
              <a:ext cx="334645" cy="424815"/>
            </a:xfrm>
            <a:custGeom>
              <a:avLst/>
              <a:gdLst/>
              <a:ahLst/>
              <a:cxnLst/>
              <a:rect l="l" t="t" r="r" b="b"/>
              <a:pathLst>
                <a:path w="334644" h="424814">
                  <a:moveTo>
                    <a:pt x="80137" y="344043"/>
                  </a:moveTo>
                  <a:lnTo>
                    <a:pt x="71612" y="344348"/>
                  </a:lnTo>
                  <a:lnTo>
                    <a:pt x="65278" y="347916"/>
                  </a:lnTo>
                  <a:lnTo>
                    <a:pt x="61703" y="354248"/>
                  </a:lnTo>
                  <a:lnTo>
                    <a:pt x="61468" y="362458"/>
                  </a:lnTo>
                  <a:lnTo>
                    <a:pt x="64775" y="371344"/>
                  </a:lnTo>
                  <a:lnTo>
                    <a:pt x="70881" y="379158"/>
                  </a:lnTo>
                  <a:lnTo>
                    <a:pt x="78916" y="385067"/>
                  </a:lnTo>
                  <a:lnTo>
                    <a:pt x="88011" y="388238"/>
                  </a:lnTo>
                  <a:lnTo>
                    <a:pt x="315975" y="424688"/>
                  </a:lnTo>
                  <a:lnTo>
                    <a:pt x="324427" y="424382"/>
                  </a:lnTo>
                  <a:lnTo>
                    <a:pt x="330723" y="420814"/>
                  </a:lnTo>
                  <a:lnTo>
                    <a:pt x="334281" y="414579"/>
                  </a:lnTo>
                  <a:lnTo>
                    <a:pt x="334518" y="406273"/>
                  </a:lnTo>
                  <a:lnTo>
                    <a:pt x="331559" y="398010"/>
                  </a:lnTo>
                  <a:lnTo>
                    <a:pt x="326183" y="390651"/>
                  </a:lnTo>
                  <a:lnTo>
                    <a:pt x="319069" y="384913"/>
                  </a:lnTo>
                  <a:lnTo>
                    <a:pt x="310896" y="381508"/>
                  </a:lnTo>
                  <a:lnTo>
                    <a:pt x="310272" y="376809"/>
                  </a:lnTo>
                  <a:lnTo>
                    <a:pt x="284606" y="376809"/>
                  </a:lnTo>
                  <a:lnTo>
                    <a:pt x="109600" y="348742"/>
                  </a:lnTo>
                  <a:lnTo>
                    <a:pt x="108412" y="344550"/>
                  </a:lnTo>
                  <a:lnTo>
                    <a:pt x="83439" y="344550"/>
                  </a:lnTo>
                  <a:lnTo>
                    <a:pt x="80137" y="344043"/>
                  </a:lnTo>
                  <a:close/>
                </a:path>
                <a:path w="334644" h="424814">
                  <a:moveTo>
                    <a:pt x="265562" y="48006"/>
                  </a:moveTo>
                  <a:lnTo>
                    <a:pt x="50292" y="48006"/>
                  </a:lnTo>
                  <a:lnTo>
                    <a:pt x="225171" y="76073"/>
                  </a:lnTo>
                  <a:lnTo>
                    <a:pt x="231495" y="97784"/>
                  </a:lnTo>
                  <a:lnTo>
                    <a:pt x="232250" y="114681"/>
                  </a:lnTo>
                  <a:lnTo>
                    <a:pt x="232318" y="116205"/>
                  </a:lnTo>
                  <a:lnTo>
                    <a:pt x="232425" y="118602"/>
                  </a:lnTo>
                  <a:lnTo>
                    <a:pt x="227760" y="137491"/>
                  </a:lnTo>
                  <a:lnTo>
                    <a:pt x="217297" y="153415"/>
                  </a:lnTo>
                  <a:lnTo>
                    <a:pt x="173609" y="199517"/>
                  </a:lnTo>
                  <a:lnTo>
                    <a:pt x="179705" y="230250"/>
                  </a:lnTo>
                  <a:lnTo>
                    <a:pt x="244856" y="291592"/>
                  </a:lnTo>
                  <a:lnTo>
                    <a:pt x="275447" y="333390"/>
                  </a:lnTo>
                  <a:lnTo>
                    <a:pt x="284606" y="376809"/>
                  </a:lnTo>
                  <a:lnTo>
                    <a:pt x="310272" y="376809"/>
                  </a:lnTo>
                  <a:lnTo>
                    <a:pt x="307435" y="355439"/>
                  </a:lnTo>
                  <a:lnTo>
                    <a:pt x="307347" y="354782"/>
                  </a:lnTo>
                  <a:lnTo>
                    <a:pt x="297356" y="327658"/>
                  </a:lnTo>
                  <a:lnTo>
                    <a:pt x="297275" y="327437"/>
                  </a:lnTo>
                  <a:lnTo>
                    <a:pt x="280963" y="300712"/>
                  </a:lnTo>
                  <a:lnTo>
                    <a:pt x="258699" y="275844"/>
                  </a:lnTo>
                  <a:lnTo>
                    <a:pt x="196723" y="218059"/>
                  </a:lnTo>
                  <a:lnTo>
                    <a:pt x="238760" y="173609"/>
                  </a:lnTo>
                  <a:lnTo>
                    <a:pt x="251650" y="154344"/>
                  </a:lnTo>
                  <a:lnTo>
                    <a:pt x="257873" y="131603"/>
                  </a:lnTo>
                  <a:lnTo>
                    <a:pt x="257774" y="121793"/>
                  </a:lnTo>
                  <a:lnTo>
                    <a:pt x="257662" y="110734"/>
                  </a:lnTo>
                  <a:lnTo>
                    <a:pt x="257619" y="106529"/>
                  </a:lnTo>
                  <a:lnTo>
                    <a:pt x="251205" y="80772"/>
                  </a:lnTo>
                  <a:lnTo>
                    <a:pt x="251079" y="80263"/>
                  </a:lnTo>
                  <a:lnTo>
                    <a:pt x="263226" y="80263"/>
                  </a:lnTo>
                  <a:lnTo>
                    <a:pt x="269240" y="76835"/>
                  </a:lnTo>
                  <a:lnTo>
                    <a:pt x="272811" y="70556"/>
                  </a:lnTo>
                  <a:lnTo>
                    <a:pt x="273050" y="62230"/>
                  </a:lnTo>
                  <a:lnTo>
                    <a:pt x="269742" y="53345"/>
                  </a:lnTo>
                  <a:lnTo>
                    <a:pt x="265562" y="48006"/>
                  </a:lnTo>
                  <a:close/>
                </a:path>
                <a:path w="334644" h="424814">
                  <a:moveTo>
                    <a:pt x="154146" y="283670"/>
                  </a:moveTo>
                  <a:lnTo>
                    <a:pt x="136009" y="285378"/>
                  </a:lnTo>
                  <a:lnTo>
                    <a:pt x="116586" y="289051"/>
                  </a:lnTo>
                  <a:lnTo>
                    <a:pt x="115127" y="302289"/>
                  </a:lnTo>
                  <a:lnTo>
                    <a:pt x="116633" y="316372"/>
                  </a:lnTo>
                  <a:lnTo>
                    <a:pt x="121068" y="330860"/>
                  </a:lnTo>
                  <a:lnTo>
                    <a:pt x="128397" y="345313"/>
                  </a:lnTo>
                  <a:lnTo>
                    <a:pt x="264795" y="367030"/>
                  </a:lnTo>
                  <a:lnTo>
                    <a:pt x="266994" y="355439"/>
                  </a:lnTo>
                  <a:lnTo>
                    <a:pt x="267118" y="354782"/>
                  </a:lnTo>
                  <a:lnTo>
                    <a:pt x="256540" y="311403"/>
                  </a:lnTo>
                  <a:lnTo>
                    <a:pt x="221170" y="295370"/>
                  </a:lnTo>
                  <a:lnTo>
                    <a:pt x="171378" y="283890"/>
                  </a:lnTo>
                  <a:lnTo>
                    <a:pt x="154146" y="283670"/>
                  </a:lnTo>
                  <a:close/>
                </a:path>
                <a:path w="334644" h="424814">
                  <a:moveTo>
                    <a:pt x="18542" y="0"/>
                  </a:moveTo>
                  <a:lnTo>
                    <a:pt x="10072" y="379"/>
                  </a:lnTo>
                  <a:lnTo>
                    <a:pt x="3746" y="3984"/>
                  </a:lnTo>
                  <a:lnTo>
                    <a:pt x="182" y="10233"/>
                  </a:lnTo>
                  <a:lnTo>
                    <a:pt x="0" y="18542"/>
                  </a:lnTo>
                  <a:lnTo>
                    <a:pt x="3024" y="26969"/>
                  </a:lnTo>
                  <a:lnTo>
                    <a:pt x="8572" y="34432"/>
                  </a:lnTo>
                  <a:lnTo>
                    <a:pt x="15930" y="40205"/>
                  </a:lnTo>
                  <a:lnTo>
                    <a:pt x="24384" y="43561"/>
                  </a:lnTo>
                  <a:lnTo>
                    <a:pt x="27261" y="69859"/>
                  </a:lnTo>
                  <a:lnTo>
                    <a:pt x="53423" y="125499"/>
                  </a:lnTo>
                  <a:lnTo>
                    <a:pt x="137795" y="209169"/>
                  </a:lnTo>
                  <a:lnTo>
                    <a:pt x="96012" y="254000"/>
                  </a:lnTo>
                  <a:lnTo>
                    <a:pt x="83581" y="272756"/>
                  </a:lnTo>
                  <a:lnTo>
                    <a:pt x="77438" y="294798"/>
                  </a:lnTo>
                  <a:lnTo>
                    <a:pt x="77438" y="319079"/>
                  </a:lnTo>
                  <a:lnTo>
                    <a:pt x="83319" y="344043"/>
                  </a:lnTo>
                  <a:lnTo>
                    <a:pt x="83439" y="344550"/>
                  </a:lnTo>
                  <a:lnTo>
                    <a:pt x="108412" y="344550"/>
                  </a:lnTo>
                  <a:lnTo>
                    <a:pt x="103622" y="327658"/>
                  </a:lnTo>
                  <a:lnTo>
                    <a:pt x="102917" y="307514"/>
                  </a:lnTo>
                  <a:lnTo>
                    <a:pt x="107618" y="289252"/>
                  </a:lnTo>
                  <a:lnTo>
                    <a:pt x="117856" y="273812"/>
                  </a:lnTo>
                  <a:lnTo>
                    <a:pt x="161544" y="227711"/>
                  </a:lnTo>
                  <a:lnTo>
                    <a:pt x="155448" y="196976"/>
                  </a:lnTo>
                  <a:lnTo>
                    <a:pt x="90297" y="135636"/>
                  </a:lnTo>
                  <a:lnTo>
                    <a:pt x="59102" y="92535"/>
                  </a:lnTo>
                  <a:lnTo>
                    <a:pt x="50292" y="48006"/>
                  </a:lnTo>
                  <a:lnTo>
                    <a:pt x="265562" y="48006"/>
                  </a:lnTo>
                  <a:lnTo>
                    <a:pt x="263636" y="45545"/>
                  </a:lnTo>
                  <a:lnTo>
                    <a:pt x="255601" y="39673"/>
                  </a:lnTo>
                  <a:lnTo>
                    <a:pt x="246506" y="36575"/>
                  </a:lnTo>
                  <a:lnTo>
                    <a:pt x="18542" y="0"/>
                  </a:lnTo>
                  <a:close/>
                </a:path>
                <a:path w="334644" h="424814">
                  <a:moveTo>
                    <a:pt x="80391" y="92963"/>
                  </a:moveTo>
                  <a:lnTo>
                    <a:pt x="160909" y="176784"/>
                  </a:lnTo>
                  <a:lnTo>
                    <a:pt x="209931" y="128015"/>
                  </a:lnTo>
                  <a:lnTo>
                    <a:pt x="213614" y="121793"/>
                  </a:lnTo>
                  <a:lnTo>
                    <a:pt x="215224" y="114853"/>
                  </a:lnTo>
                  <a:lnTo>
                    <a:pt x="215265" y="114681"/>
                  </a:lnTo>
                  <a:lnTo>
                    <a:pt x="80391" y="92963"/>
                  </a:lnTo>
                  <a:close/>
                </a:path>
                <a:path w="334644" h="424814">
                  <a:moveTo>
                    <a:pt x="263226" y="80263"/>
                  </a:moveTo>
                  <a:lnTo>
                    <a:pt x="251079" y="80263"/>
                  </a:lnTo>
                  <a:lnTo>
                    <a:pt x="254381" y="80772"/>
                  </a:lnTo>
                  <a:lnTo>
                    <a:pt x="262905" y="80446"/>
                  </a:lnTo>
                  <a:lnTo>
                    <a:pt x="263226" y="80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5905500" y="2095754"/>
            <a:ext cx="676275" cy="686435"/>
            <a:chOff x="5905500" y="2095754"/>
            <a:chExt cx="676275" cy="686435"/>
          </a:xfrm>
        </p:grpSpPr>
        <p:sp>
          <p:nvSpPr>
            <p:cNvPr id="15" name="object 15"/>
            <p:cNvSpPr/>
            <p:nvPr/>
          </p:nvSpPr>
          <p:spPr>
            <a:xfrm>
              <a:off x="5905500" y="2095754"/>
              <a:ext cx="676275" cy="686435"/>
            </a:xfrm>
            <a:custGeom>
              <a:avLst/>
              <a:gdLst/>
              <a:ahLst/>
              <a:cxnLst/>
              <a:rect l="l" t="t" r="r" b="b"/>
              <a:pathLst>
                <a:path w="676275" h="686435">
                  <a:moveTo>
                    <a:pt x="338200" y="0"/>
                  </a:moveTo>
                  <a:lnTo>
                    <a:pt x="292302" y="3130"/>
                  </a:lnTo>
                  <a:lnTo>
                    <a:pt x="248282" y="12250"/>
                  </a:lnTo>
                  <a:lnTo>
                    <a:pt x="206543" y="26949"/>
                  </a:lnTo>
                  <a:lnTo>
                    <a:pt x="167489" y="46820"/>
                  </a:lnTo>
                  <a:lnTo>
                    <a:pt x="131522" y="71454"/>
                  </a:lnTo>
                  <a:lnTo>
                    <a:pt x="99044" y="100441"/>
                  </a:lnTo>
                  <a:lnTo>
                    <a:pt x="70458" y="133373"/>
                  </a:lnTo>
                  <a:lnTo>
                    <a:pt x="46166" y="169841"/>
                  </a:lnTo>
                  <a:lnTo>
                    <a:pt x="26572" y="209436"/>
                  </a:lnTo>
                  <a:lnTo>
                    <a:pt x="12078" y="251751"/>
                  </a:lnTo>
                  <a:lnTo>
                    <a:pt x="3086" y="296375"/>
                  </a:lnTo>
                  <a:lnTo>
                    <a:pt x="0" y="342900"/>
                  </a:lnTo>
                  <a:lnTo>
                    <a:pt x="3086" y="389454"/>
                  </a:lnTo>
                  <a:lnTo>
                    <a:pt x="12078" y="434102"/>
                  </a:lnTo>
                  <a:lnTo>
                    <a:pt x="26572" y="476436"/>
                  </a:lnTo>
                  <a:lnTo>
                    <a:pt x="46166" y="516048"/>
                  </a:lnTo>
                  <a:lnTo>
                    <a:pt x="70458" y="552528"/>
                  </a:lnTo>
                  <a:lnTo>
                    <a:pt x="99044" y="585469"/>
                  </a:lnTo>
                  <a:lnTo>
                    <a:pt x="131522" y="614463"/>
                  </a:lnTo>
                  <a:lnTo>
                    <a:pt x="167489" y="639101"/>
                  </a:lnTo>
                  <a:lnTo>
                    <a:pt x="206543" y="658975"/>
                  </a:lnTo>
                  <a:lnTo>
                    <a:pt x="248282" y="673676"/>
                  </a:lnTo>
                  <a:lnTo>
                    <a:pt x="292302" y="682796"/>
                  </a:lnTo>
                  <a:lnTo>
                    <a:pt x="338200" y="685926"/>
                  </a:lnTo>
                  <a:lnTo>
                    <a:pt x="384070" y="682796"/>
                  </a:lnTo>
                  <a:lnTo>
                    <a:pt x="428066" y="673676"/>
                  </a:lnTo>
                  <a:lnTo>
                    <a:pt x="469784" y="658975"/>
                  </a:lnTo>
                  <a:lnTo>
                    <a:pt x="508823" y="639101"/>
                  </a:lnTo>
                  <a:lnTo>
                    <a:pt x="544778" y="614463"/>
                  </a:lnTo>
                  <a:lnTo>
                    <a:pt x="577246" y="585470"/>
                  </a:lnTo>
                  <a:lnTo>
                    <a:pt x="605826" y="552528"/>
                  </a:lnTo>
                  <a:lnTo>
                    <a:pt x="630112" y="516048"/>
                  </a:lnTo>
                  <a:lnTo>
                    <a:pt x="649704" y="476436"/>
                  </a:lnTo>
                  <a:lnTo>
                    <a:pt x="664197" y="434102"/>
                  </a:lnTo>
                  <a:lnTo>
                    <a:pt x="673188" y="389454"/>
                  </a:lnTo>
                  <a:lnTo>
                    <a:pt x="676275" y="342900"/>
                  </a:lnTo>
                  <a:lnTo>
                    <a:pt x="673188" y="296375"/>
                  </a:lnTo>
                  <a:lnTo>
                    <a:pt x="664197" y="251751"/>
                  </a:lnTo>
                  <a:lnTo>
                    <a:pt x="649704" y="209436"/>
                  </a:lnTo>
                  <a:lnTo>
                    <a:pt x="630112" y="169841"/>
                  </a:lnTo>
                  <a:lnTo>
                    <a:pt x="605826" y="133373"/>
                  </a:lnTo>
                  <a:lnTo>
                    <a:pt x="577246" y="100441"/>
                  </a:lnTo>
                  <a:lnTo>
                    <a:pt x="544778" y="71454"/>
                  </a:lnTo>
                  <a:lnTo>
                    <a:pt x="508823" y="46820"/>
                  </a:lnTo>
                  <a:lnTo>
                    <a:pt x="469784" y="26949"/>
                  </a:lnTo>
                  <a:lnTo>
                    <a:pt x="428066" y="12250"/>
                  </a:lnTo>
                  <a:lnTo>
                    <a:pt x="384070" y="3130"/>
                  </a:lnTo>
                  <a:lnTo>
                    <a:pt x="3382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96000" y="2286254"/>
              <a:ext cx="333375" cy="305435"/>
            </a:xfrm>
            <a:custGeom>
              <a:avLst/>
              <a:gdLst/>
              <a:ahLst/>
              <a:cxnLst/>
              <a:rect l="l" t="t" r="r" b="b"/>
              <a:pathLst>
                <a:path w="333375" h="305435">
                  <a:moveTo>
                    <a:pt x="247523" y="0"/>
                  </a:moveTo>
                  <a:lnTo>
                    <a:pt x="226363" y="2865"/>
                  </a:lnTo>
                  <a:lnTo>
                    <a:pt x="207121" y="10826"/>
                  </a:lnTo>
                  <a:lnTo>
                    <a:pt x="188997" y="23502"/>
                  </a:lnTo>
                  <a:lnTo>
                    <a:pt x="171196" y="40512"/>
                  </a:lnTo>
                  <a:lnTo>
                    <a:pt x="171196" y="278003"/>
                  </a:lnTo>
                  <a:lnTo>
                    <a:pt x="201856" y="257397"/>
                  </a:lnTo>
                  <a:lnTo>
                    <a:pt x="233219" y="245173"/>
                  </a:lnTo>
                  <a:lnTo>
                    <a:pt x="264368" y="241998"/>
                  </a:lnTo>
                  <a:lnTo>
                    <a:pt x="294386" y="248538"/>
                  </a:lnTo>
                  <a:lnTo>
                    <a:pt x="293750" y="52959"/>
                  </a:lnTo>
                  <a:lnTo>
                    <a:pt x="308737" y="52959"/>
                  </a:lnTo>
                  <a:lnTo>
                    <a:pt x="307848" y="272415"/>
                  </a:lnTo>
                  <a:lnTo>
                    <a:pt x="270297" y="262143"/>
                  </a:lnTo>
                  <a:lnTo>
                    <a:pt x="238521" y="261397"/>
                  </a:lnTo>
                  <a:lnTo>
                    <a:pt x="207246" y="267843"/>
                  </a:lnTo>
                  <a:lnTo>
                    <a:pt x="171196" y="279146"/>
                  </a:lnTo>
                  <a:lnTo>
                    <a:pt x="171196" y="280797"/>
                  </a:lnTo>
                  <a:lnTo>
                    <a:pt x="162178" y="279146"/>
                  </a:lnTo>
                  <a:lnTo>
                    <a:pt x="126902" y="268241"/>
                  </a:lnTo>
                  <a:lnTo>
                    <a:pt x="94757" y="260683"/>
                  </a:lnTo>
                  <a:lnTo>
                    <a:pt x="61684" y="260197"/>
                  </a:lnTo>
                  <a:lnTo>
                    <a:pt x="23622" y="270510"/>
                  </a:lnTo>
                  <a:lnTo>
                    <a:pt x="24637" y="52959"/>
                  </a:lnTo>
                  <a:lnTo>
                    <a:pt x="39624" y="52959"/>
                  </a:lnTo>
                  <a:lnTo>
                    <a:pt x="38988" y="248538"/>
                  </a:lnTo>
                  <a:lnTo>
                    <a:pt x="69006" y="241998"/>
                  </a:lnTo>
                  <a:lnTo>
                    <a:pt x="100155" y="245173"/>
                  </a:lnTo>
                  <a:lnTo>
                    <a:pt x="131518" y="257397"/>
                  </a:lnTo>
                  <a:lnTo>
                    <a:pt x="162178" y="278003"/>
                  </a:lnTo>
                  <a:lnTo>
                    <a:pt x="162178" y="40512"/>
                  </a:lnTo>
                  <a:lnTo>
                    <a:pt x="144377" y="23502"/>
                  </a:lnTo>
                  <a:lnTo>
                    <a:pt x="126253" y="10826"/>
                  </a:lnTo>
                  <a:lnTo>
                    <a:pt x="107011" y="2865"/>
                  </a:lnTo>
                  <a:lnTo>
                    <a:pt x="85851" y="0"/>
                  </a:lnTo>
                  <a:lnTo>
                    <a:pt x="75362" y="553"/>
                  </a:lnTo>
                  <a:lnTo>
                    <a:pt x="64230" y="2238"/>
                  </a:lnTo>
                  <a:lnTo>
                    <a:pt x="52383" y="5089"/>
                  </a:lnTo>
                  <a:lnTo>
                    <a:pt x="39750" y="9144"/>
                  </a:lnTo>
                  <a:lnTo>
                    <a:pt x="39624" y="43307"/>
                  </a:lnTo>
                  <a:lnTo>
                    <a:pt x="10540" y="43053"/>
                  </a:lnTo>
                  <a:lnTo>
                    <a:pt x="10540" y="74295"/>
                  </a:lnTo>
                  <a:lnTo>
                    <a:pt x="0" y="74295"/>
                  </a:lnTo>
                  <a:lnTo>
                    <a:pt x="0" y="304926"/>
                  </a:lnTo>
                  <a:lnTo>
                    <a:pt x="333375" y="304926"/>
                  </a:lnTo>
                  <a:lnTo>
                    <a:pt x="333375" y="74295"/>
                  </a:lnTo>
                  <a:lnTo>
                    <a:pt x="321055" y="74295"/>
                  </a:lnTo>
                  <a:lnTo>
                    <a:pt x="321055" y="43053"/>
                  </a:lnTo>
                  <a:lnTo>
                    <a:pt x="293750" y="43307"/>
                  </a:lnTo>
                  <a:lnTo>
                    <a:pt x="293624" y="9144"/>
                  </a:lnTo>
                  <a:lnTo>
                    <a:pt x="280991" y="5089"/>
                  </a:lnTo>
                  <a:lnTo>
                    <a:pt x="269144" y="2238"/>
                  </a:lnTo>
                  <a:lnTo>
                    <a:pt x="258012" y="553"/>
                  </a:lnTo>
                  <a:lnTo>
                    <a:pt x="2475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9210675" y="2095754"/>
            <a:ext cx="685800" cy="686435"/>
            <a:chOff x="9210675" y="2095754"/>
            <a:chExt cx="685800" cy="686435"/>
          </a:xfrm>
        </p:grpSpPr>
        <p:sp>
          <p:nvSpPr>
            <p:cNvPr id="18" name="object 18"/>
            <p:cNvSpPr/>
            <p:nvPr/>
          </p:nvSpPr>
          <p:spPr>
            <a:xfrm>
              <a:off x="9210675" y="2095754"/>
              <a:ext cx="685800" cy="686435"/>
            </a:xfrm>
            <a:custGeom>
              <a:avLst/>
              <a:gdLst/>
              <a:ahLst/>
              <a:cxnLst/>
              <a:rect l="l" t="t" r="r" b="b"/>
              <a:pathLst>
                <a:path w="685800" h="686435">
                  <a:moveTo>
                    <a:pt x="342900" y="0"/>
                  </a:moveTo>
                  <a:lnTo>
                    <a:pt x="296375" y="3130"/>
                  </a:lnTo>
                  <a:lnTo>
                    <a:pt x="251751" y="12250"/>
                  </a:lnTo>
                  <a:lnTo>
                    <a:pt x="209436" y="26949"/>
                  </a:lnTo>
                  <a:lnTo>
                    <a:pt x="169841" y="46820"/>
                  </a:lnTo>
                  <a:lnTo>
                    <a:pt x="133373" y="71454"/>
                  </a:lnTo>
                  <a:lnTo>
                    <a:pt x="100441" y="100441"/>
                  </a:lnTo>
                  <a:lnTo>
                    <a:pt x="71454" y="133373"/>
                  </a:lnTo>
                  <a:lnTo>
                    <a:pt x="46820" y="169841"/>
                  </a:lnTo>
                  <a:lnTo>
                    <a:pt x="26949" y="209436"/>
                  </a:lnTo>
                  <a:lnTo>
                    <a:pt x="12250" y="251751"/>
                  </a:lnTo>
                  <a:lnTo>
                    <a:pt x="3130" y="296375"/>
                  </a:lnTo>
                  <a:lnTo>
                    <a:pt x="0" y="342900"/>
                  </a:lnTo>
                  <a:lnTo>
                    <a:pt x="3130" y="389454"/>
                  </a:lnTo>
                  <a:lnTo>
                    <a:pt x="12250" y="434102"/>
                  </a:lnTo>
                  <a:lnTo>
                    <a:pt x="26949" y="476436"/>
                  </a:lnTo>
                  <a:lnTo>
                    <a:pt x="46820" y="516048"/>
                  </a:lnTo>
                  <a:lnTo>
                    <a:pt x="71454" y="552528"/>
                  </a:lnTo>
                  <a:lnTo>
                    <a:pt x="100441" y="585469"/>
                  </a:lnTo>
                  <a:lnTo>
                    <a:pt x="133373" y="614463"/>
                  </a:lnTo>
                  <a:lnTo>
                    <a:pt x="169841" y="639101"/>
                  </a:lnTo>
                  <a:lnTo>
                    <a:pt x="209436" y="658975"/>
                  </a:lnTo>
                  <a:lnTo>
                    <a:pt x="251751" y="673676"/>
                  </a:lnTo>
                  <a:lnTo>
                    <a:pt x="296375" y="682796"/>
                  </a:lnTo>
                  <a:lnTo>
                    <a:pt x="342900" y="685926"/>
                  </a:lnTo>
                  <a:lnTo>
                    <a:pt x="389424" y="682796"/>
                  </a:lnTo>
                  <a:lnTo>
                    <a:pt x="434048" y="673676"/>
                  </a:lnTo>
                  <a:lnTo>
                    <a:pt x="476363" y="658975"/>
                  </a:lnTo>
                  <a:lnTo>
                    <a:pt x="515958" y="639101"/>
                  </a:lnTo>
                  <a:lnTo>
                    <a:pt x="552426" y="614463"/>
                  </a:lnTo>
                  <a:lnTo>
                    <a:pt x="585358" y="585470"/>
                  </a:lnTo>
                  <a:lnTo>
                    <a:pt x="614345" y="552528"/>
                  </a:lnTo>
                  <a:lnTo>
                    <a:pt x="638979" y="516048"/>
                  </a:lnTo>
                  <a:lnTo>
                    <a:pt x="658850" y="476436"/>
                  </a:lnTo>
                  <a:lnTo>
                    <a:pt x="673549" y="434102"/>
                  </a:lnTo>
                  <a:lnTo>
                    <a:pt x="682669" y="389454"/>
                  </a:lnTo>
                  <a:lnTo>
                    <a:pt x="685800" y="342900"/>
                  </a:lnTo>
                  <a:lnTo>
                    <a:pt x="682669" y="296375"/>
                  </a:lnTo>
                  <a:lnTo>
                    <a:pt x="673549" y="251751"/>
                  </a:lnTo>
                  <a:lnTo>
                    <a:pt x="658850" y="209436"/>
                  </a:lnTo>
                  <a:lnTo>
                    <a:pt x="638979" y="169841"/>
                  </a:lnTo>
                  <a:lnTo>
                    <a:pt x="614345" y="133373"/>
                  </a:lnTo>
                  <a:lnTo>
                    <a:pt x="585358" y="100441"/>
                  </a:lnTo>
                  <a:lnTo>
                    <a:pt x="552426" y="71454"/>
                  </a:lnTo>
                  <a:lnTo>
                    <a:pt x="515958" y="46820"/>
                  </a:lnTo>
                  <a:lnTo>
                    <a:pt x="476363" y="26949"/>
                  </a:lnTo>
                  <a:lnTo>
                    <a:pt x="434048" y="12250"/>
                  </a:lnTo>
                  <a:lnTo>
                    <a:pt x="389424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9250" y="2210117"/>
              <a:ext cx="609600" cy="466788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2728722" y="2891027"/>
            <a:ext cx="76835" cy="976630"/>
          </a:xfrm>
          <a:custGeom>
            <a:avLst/>
            <a:gdLst/>
            <a:ahLst/>
            <a:cxnLst/>
            <a:rect l="l" t="t" r="r" b="b"/>
            <a:pathLst>
              <a:path w="76835" h="976629">
                <a:moveTo>
                  <a:pt x="53847" y="950849"/>
                </a:moveTo>
                <a:lnTo>
                  <a:pt x="28320" y="950976"/>
                </a:lnTo>
                <a:lnTo>
                  <a:pt x="28447" y="976503"/>
                </a:lnTo>
                <a:lnTo>
                  <a:pt x="53975" y="976503"/>
                </a:lnTo>
                <a:lnTo>
                  <a:pt x="53848" y="950976"/>
                </a:lnTo>
                <a:lnTo>
                  <a:pt x="53847" y="950849"/>
                </a:lnTo>
                <a:close/>
              </a:path>
              <a:path w="76835" h="976629">
                <a:moveTo>
                  <a:pt x="53593" y="848741"/>
                </a:moveTo>
                <a:lnTo>
                  <a:pt x="27939" y="848741"/>
                </a:lnTo>
                <a:lnTo>
                  <a:pt x="28066" y="874268"/>
                </a:lnTo>
                <a:lnTo>
                  <a:pt x="53593" y="874268"/>
                </a:lnTo>
                <a:lnTo>
                  <a:pt x="53593" y="848741"/>
                </a:lnTo>
                <a:close/>
              </a:path>
              <a:path w="76835" h="976629">
                <a:moveTo>
                  <a:pt x="53213" y="746506"/>
                </a:moveTo>
                <a:lnTo>
                  <a:pt x="27685" y="746506"/>
                </a:lnTo>
                <a:lnTo>
                  <a:pt x="27812" y="771906"/>
                </a:lnTo>
                <a:lnTo>
                  <a:pt x="27812" y="772033"/>
                </a:lnTo>
                <a:lnTo>
                  <a:pt x="53339" y="771906"/>
                </a:lnTo>
                <a:lnTo>
                  <a:pt x="53213" y="746506"/>
                </a:lnTo>
                <a:close/>
              </a:path>
              <a:path w="76835" h="976629">
                <a:moveTo>
                  <a:pt x="52958" y="644271"/>
                </a:moveTo>
                <a:lnTo>
                  <a:pt x="27431" y="644271"/>
                </a:lnTo>
                <a:lnTo>
                  <a:pt x="27431" y="669798"/>
                </a:lnTo>
                <a:lnTo>
                  <a:pt x="52958" y="669798"/>
                </a:lnTo>
                <a:lnTo>
                  <a:pt x="52958" y="644271"/>
                </a:lnTo>
                <a:close/>
              </a:path>
              <a:path w="76835" h="976629">
                <a:moveTo>
                  <a:pt x="52577" y="541909"/>
                </a:moveTo>
                <a:lnTo>
                  <a:pt x="27050" y="541909"/>
                </a:lnTo>
                <a:lnTo>
                  <a:pt x="27177" y="567563"/>
                </a:lnTo>
                <a:lnTo>
                  <a:pt x="52705" y="567563"/>
                </a:lnTo>
                <a:lnTo>
                  <a:pt x="52577" y="541909"/>
                </a:lnTo>
                <a:close/>
              </a:path>
              <a:path w="76835" h="976629">
                <a:moveTo>
                  <a:pt x="52323" y="439674"/>
                </a:moveTo>
                <a:lnTo>
                  <a:pt x="26796" y="439674"/>
                </a:lnTo>
                <a:lnTo>
                  <a:pt x="26796" y="465327"/>
                </a:lnTo>
                <a:lnTo>
                  <a:pt x="52323" y="465327"/>
                </a:lnTo>
                <a:lnTo>
                  <a:pt x="52323" y="439674"/>
                </a:lnTo>
                <a:close/>
              </a:path>
              <a:path w="76835" h="976629">
                <a:moveTo>
                  <a:pt x="51942" y="337438"/>
                </a:moveTo>
                <a:lnTo>
                  <a:pt x="26415" y="337438"/>
                </a:lnTo>
                <a:lnTo>
                  <a:pt x="26542" y="363093"/>
                </a:lnTo>
                <a:lnTo>
                  <a:pt x="52070" y="363093"/>
                </a:lnTo>
                <a:lnTo>
                  <a:pt x="51942" y="337438"/>
                </a:lnTo>
                <a:close/>
              </a:path>
              <a:path w="76835" h="976629">
                <a:moveTo>
                  <a:pt x="51688" y="235204"/>
                </a:moveTo>
                <a:lnTo>
                  <a:pt x="26161" y="235204"/>
                </a:lnTo>
                <a:lnTo>
                  <a:pt x="26161" y="260858"/>
                </a:lnTo>
                <a:lnTo>
                  <a:pt x="51688" y="260858"/>
                </a:lnTo>
                <a:lnTo>
                  <a:pt x="51688" y="235204"/>
                </a:lnTo>
                <a:close/>
              </a:path>
              <a:path w="76835" h="976629">
                <a:moveTo>
                  <a:pt x="51307" y="132969"/>
                </a:moveTo>
                <a:lnTo>
                  <a:pt x="25780" y="132969"/>
                </a:lnTo>
                <a:lnTo>
                  <a:pt x="25907" y="158623"/>
                </a:lnTo>
                <a:lnTo>
                  <a:pt x="51435" y="158623"/>
                </a:lnTo>
                <a:lnTo>
                  <a:pt x="51307" y="132969"/>
                </a:lnTo>
                <a:close/>
              </a:path>
              <a:path w="76835" h="976629">
                <a:moveTo>
                  <a:pt x="38226" y="0"/>
                </a:moveTo>
                <a:lnTo>
                  <a:pt x="3056" y="23288"/>
                </a:lnTo>
                <a:lnTo>
                  <a:pt x="0" y="38354"/>
                </a:lnTo>
                <a:lnTo>
                  <a:pt x="2991" y="53113"/>
                </a:lnTo>
                <a:lnTo>
                  <a:pt x="3028" y="53292"/>
                </a:lnTo>
                <a:lnTo>
                  <a:pt x="11163" y="65309"/>
                </a:lnTo>
                <a:lnTo>
                  <a:pt x="11271" y="65468"/>
                </a:lnTo>
                <a:lnTo>
                  <a:pt x="23467" y="73644"/>
                </a:lnTo>
                <a:lnTo>
                  <a:pt x="38353" y="76581"/>
                </a:lnTo>
                <a:lnTo>
                  <a:pt x="52842" y="73644"/>
                </a:lnTo>
                <a:lnTo>
                  <a:pt x="53157" y="73644"/>
                </a:lnTo>
                <a:lnTo>
                  <a:pt x="65468" y="65309"/>
                </a:lnTo>
                <a:lnTo>
                  <a:pt x="71449" y="56387"/>
                </a:lnTo>
                <a:lnTo>
                  <a:pt x="25526" y="56387"/>
                </a:lnTo>
                <a:lnTo>
                  <a:pt x="25526" y="38354"/>
                </a:lnTo>
                <a:lnTo>
                  <a:pt x="76580" y="38226"/>
                </a:lnTo>
                <a:lnTo>
                  <a:pt x="73589" y="23467"/>
                </a:lnTo>
                <a:lnTo>
                  <a:pt x="73552" y="23288"/>
                </a:lnTo>
                <a:lnTo>
                  <a:pt x="65417" y="11271"/>
                </a:lnTo>
                <a:lnTo>
                  <a:pt x="65309" y="11112"/>
                </a:lnTo>
                <a:lnTo>
                  <a:pt x="53249" y="3028"/>
                </a:lnTo>
                <a:lnTo>
                  <a:pt x="53576" y="3028"/>
                </a:lnTo>
                <a:lnTo>
                  <a:pt x="38226" y="0"/>
                </a:lnTo>
                <a:close/>
              </a:path>
              <a:path w="76835" h="976629">
                <a:moveTo>
                  <a:pt x="51053" y="38226"/>
                </a:moveTo>
                <a:lnTo>
                  <a:pt x="25526" y="38354"/>
                </a:lnTo>
                <a:lnTo>
                  <a:pt x="25526" y="56387"/>
                </a:lnTo>
                <a:lnTo>
                  <a:pt x="51181" y="56387"/>
                </a:lnTo>
                <a:lnTo>
                  <a:pt x="51054" y="38354"/>
                </a:lnTo>
                <a:lnTo>
                  <a:pt x="51053" y="38226"/>
                </a:lnTo>
                <a:close/>
              </a:path>
              <a:path w="76835" h="976629">
                <a:moveTo>
                  <a:pt x="76580" y="38226"/>
                </a:moveTo>
                <a:lnTo>
                  <a:pt x="51053" y="38226"/>
                </a:lnTo>
                <a:lnTo>
                  <a:pt x="51054" y="38354"/>
                </a:lnTo>
                <a:lnTo>
                  <a:pt x="51181" y="56387"/>
                </a:lnTo>
                <a:lnTo>
                  <a:pt x="71449" y="56387"/>
                </a:lnTo>
                <a:lnTo>
                  <a:pt x="73524" y="53292"/>
                </a:lnTo>
                <a:lnTo>
                  <a:pt x="73644" y="53113"/>
                </a:lnTo>
                <a:lnTo>
                  <a:pt x="76555" y="38354"/>
                </a:lnTo>
                <a:lnTo>
                  <a:pt x="76580" y="3822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520046" y="2871977"/>
            <a:ext cx="76835" cy="974725"/>
          </a:xfrm>
          <a:custGeom>
            <a:avLst/>
            <a:gdLst/>
            <a:ahLst/>
            <a:cxnLst/>
            <a:rect l="l" t="t" r="r" b="b"/>
            <a:pathLst>
              <a:path w="76834" h="974725">
                <a:moveTo>
                  <a:pt x="54228" y="949071"/>
                </a:moveTo>
                <a:lnTo>
                  <a:pt x="28701" y="949071"/>
                </a:lnTo>
                <a:lnTo>
                  <a:pt x="28701" y="974725"/>
                </a:lnTo>
                <a:lnTo>
                  <a:pt x="54356" y="974725"/>
                </a:lnTo>
                <a:lnTo>
                  <a:pt x="54228" y="949071"/>
                </a:lnTo>
                <a:close/>
              </a:path>
              <a:path w="76834" h="974725">
                <a:moveTo>
                  <a:pt x="53848" y="846836"/>
                </a:moveTo>
                <a:lnTo>
                  <a:pt x="28321" y="846836"/>
                </a:lnTo>
                <a:lnTo>
                  <a:pt x="28448" y="872490"/>
                </a:lnTo>
                <a:lnTo>
                  <a:pt x="53975" y="872490"/>
                </a:lnTo>
                <a:lnTo>
                  <a:pt x="53848" y="846836"/>
                </a:lnTo>
                <a:close/>
              </a:path>
              <a:path w="76834" h="974725">
                <a:moveTo>
                  <a:pt x="53467" y="744601"/>
                </a:moveTo>
                <a:lnTo>
                  <a:pt x="27939" y="744601"/>
                </a:lnTo>
                <a:lnTo>
                  <a:pt x="28067" y="770255"/>
                </a:lnTo>
                <a:lnTo>
                  <a:pt x="53594" y="770255"/>
                </a:lnTo>
                <a:lnTo>
                  <a:pt x="53467" y="744601"/>
                </a:lnTo>
                <a:close/>
              </a:path>
              <a:path w="76834" h="974725">
                <a:moveTo>
                  <a:pt x="53212" y="642366"/>
                </a:moveTo>
                <a:lnTo>
                  <a:pt x="27558" y="642366"/>
                </a:lnTo>
                <a:lnTo>
                  <a:pt x="27685" y="668020"/>
                </a:lnTo>
                <a:lnTo>
                  <a:pt x="53212" y="668020"/>
                </a:lnTo>
                <a:lnTo>
                  <a:pt x="53212" y="642366"/>
                </a:lnTo>
                <a:close/>
              </a:path>
              <a:path w="76834" h="974725">
                <a:moveTo>
                  <a:pt x="52831" y="540131"/>
                </a:moveTo>
                <a:lnTo>
                  <a:pt x="27304" y="540131"/>
                </a:lnTo>
                <a:lnTo>
                  <a:pt x="27304" y="565785"/>
                </a:lnTo>
                <a:lnTo>
                  <a:pt x="52831" y="565785"/>
                </a:lnTo>
                <a:lnTo>
                  <a:pt x="52831" y="540131"/>
                </a:lnTo>
                <a:close/>
              </a:path>
              <a:path w="76834" h="974725">
                <a:moveTo>
                  <a:pt x="52450" y="437896"/>
                </a:moveTo>
                <a:lnTo>
                  <a:pt x="26924" y="437896"/>
                </a:lnTo>
                <a:lnTo>
                  <a:pt x="26924" y="463550"/>
                </a:lnTo>
                <a:lnTo>
                  <a:pt x="52578" y="463550"/>
                </a:lnTo>
                <a:lnTo>
                  <a:pt x="52450" y="437896"/>
                </a:lnTo>
                <a:close/>
              </a:path>
              <a:path w="76834" h="974725">
                <a:moveTo>
                  <a:pt x="52070" y="335661"/>
                </a:moveTo>
                <a:lnTo>
                  <a:pt x="26543" y="335661"/>
                </a:lnTo>
                <a:lnTo>
                  <a:pt x="26670" y="361314"/>
                </a:lnTo>
                <a:lnTo>
                  <a:pt x="52197" y="361314"/>
                </a:lnTo>
                <a:lnTo>
                  <a:pt x="52070" y="335661"/>
                </a:lnTo>
                <a:close/>
              </a:path>
              <a:path w="76834" h="974725">
                <a:moveTo>
                  <a:pt x="51688" y="233425"/>
                </a:moveTo>
                <a:lnTo>
                  <a:pt x="26161" y="233425"/>
                </a:lnTo>
                <a:lnTo>
                  <a:pt x="26288" y="258952"/>
                </a:lnTo>
                <a:lnTo>
                  <a:pt x="51816" y="258952"/>
                </a:lnTo>
                <a:lnTo>
                  <a:pt x="51688" y="233425"/>
                </a:lnTo>
                <a:close/>
              </a:path>
              <a:path w="76834" h="974725">
                <a:moveTo>
                  <a:pt x="51434" y="131191"/>
                </a:moveTo>
                <a:lnTo>
                  <a:pt x="25780" y="131191"/>
                </a:lnTo>
                <a:lnTo>
                  <a:pt x="25907" y="156718"/>
                </a:lnTo>
                <a:lnTo>
                  <a:pt x="51434" y="156718"/>
                </a:lnTo>
                <a:lnTo>
                  <a:pt x="51434" y="131191"/>
                </a:lnTo>
                <a:close/>
              </a:path>
              <a:path w="76834" h="974725">
                <a:moveTo>
                  <a:pt x="51053" y="38226"/>
                </a:moveTo>
                <a:lnTo>
                  <a:pt x="0" y="38481"/>
                </a:lnTo>
                <a:lnTo>
                  <a:pt x="2971" y="53060"/>
                </a:lnTo>
                <a:lnTo>
                  <a:pt x="3030" y="53345"/>
                </a:lnTo>
                <a:lnTo>
                  <a:pt x="11287" y="65484"/>
                </a:lnTo>
                <a:lnTo>
                  <a:pt x="23520" y="73646"/>
                </a:lnTo>
                <a:lnTo>
                  <a:pt x="38480" y="76581"/>
                </a:lnTo>
                <a:lnTo>
                  <a:pt x="52878" y="73646"/>
                </a:lnTo>
                <a:lnTo>
                  <a:pt x="53205" y="73646"/>
                </a:lnTo>
                <a:lnTo>
                  <a:pt x="65484" y="65293"/>
                </a:lnTo>
                <a:lnTo>
                  <a:pt x="72696" y="54483"/>
                </a:lnTo>
                <a:lnTo>
                  <a:pt x="25526" y="54483"/>
                </a:lnTo>
                <a:lnTo>
                  <a:pt x="25526" y="38481"/>
                </a:lnTo>
                <a:lnTo>
                  <a:pt x="51055" y="38481"/>
                </a:lnTo>
                <a:lnTo>
                  <a:pt x="51053" y="38226"/>
                </a:lnTo>
                <a:close/>
              </a:path>
              <a:path w="76834" h="974725">
                <a:moveTo>
                  <a:pt x="51055" y="38481"/>
                </a:moveTo>
                <a:lnTo>
                  <a:pt x="25526" y="38481"/>
                </a:lnTo>
                <a:lnTo>
                  <a:pt x="25526" y="54483"/>
                </a:lnTo>
                <a:lnTo>
                  <a:pt x="51180" y="54483"/>
                </a:lnTo>
                <a:lnTo>
                  <a:pt x="51055" y="38481"/>
                </a:lnTo>
                <a:close/>
              </a:path>
              <a:path w="76834" h="974725">
                <a:moveTo>
                  <a:pt x="76556" y="38226"/>
                </a:moveTo>
                <a:lnTo>
                  <a:pt x="51053" y="38226"/>
                </a:lnTo>
                <a:lnTo>
                  <a:pt x="51180" y="54483"/>
                </a:lnTo>
                <a:lnTo>
                  <a:pt x="72696" y="54483"/>
                </a:lnTo>
                <a:lnTo>
                  <a:pt x="73646" y="53060"/>
                </a:lnTo>
                <a:lnTo>
                  <a:pt x="76506" y="38481"/>
                </a:lnTo>
                <a:lnTo>
                  <a:pt x="76556" y="38226"/>
                </a:lnTo>
                <a:close/>
              </a:path>
              <a:path w="76834" h="974725">
                <a:moveTo>
                  <a:pt x="38100" y="0"/>
                </a:moveTo>
                <a:lnTo>
                  <a:pt x="2934" y="23520"/>
                </a:lnTo>
                <a:lnTo>
                  <a:pt x="0" y="38481"/>
                </a:lnTo>
                <a:lnTo>
                  <a:pt x="76606" y="38226"/>
                </a:lnTo>
                <a:lnTo>
                  <a:pt x="73609" y="23520"/>
                </a:lnTo>
                <a:lnTo>
                  <a:pt x="73550" y="23235"/>
                </a:lnTo>
                <a:lnTo>
                  <a:pt x="65293" y="11096"/>
                </a:lnTo>
                <a:lnTo>
                  <a:pt x="53202" y="3030"/>
                </a:lnTo>
                <a:lnTo>
                  <a:pt x="53545" y="3030"/>
                </a:lnTo>
                <a:lnTo>
                  <a:pt x="381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4248150" y="5239384"/>
            <a:ext cx="685800" cy="676910"/>
            <a:chOff x="4248150" y="5239384"/>
            <a:chExt cx="685800" cy="676910"/>
          </a:xfrm>
        </p:grpSpPr>
        <p:sp>
          <p:nvSpPr>
            <p:cNvPr id="23" name="object 23"/>
            <p:cNvSpPr/>
            <p:nvPr/>
          </p:nvSpPr>
          <p:spPr>
            <a:xfrm>
              <a:off x="4248150" y="5239384"/>
              <a:ext cx="685800" cy="676910"/>
            </a:xfrm>
            <a:custGeom>
              <a:avLst/>
              <a:gdLst/>
              <a:ahLst/>
              <a:cxnLst/>
              <a:rect l="l" t="t" r="r" b="b"/>
              <a:pathLst>
                <a:path w="685800" h="676910">
                  <a:moveTo>
                    <a:pt x="342900" y="0"/>
                  </a:moveTo>
                  <a:lnTo>
                    <a:pt x="296375" y="3089"/>
                  </a:lnTo>
                  <a:lnTo>
                    <a:pt x="251751" y="12087"/>
                  </a:lnTo>
                  <a:lnTo>
                    <a:pt x="209436" y="26590"/>
                  </a:lnTo>
                  <a:lnTo>
                    <a:pt x="169841" y="46195"/>
                  </a:lnTo>
                  <a:lnTo>
                    <a:pt x="133373" y="70496"/>
                  </a:lnTo>
                  <a:lnTo>
                    <a:pt x="100441" y="99091"/>
                  </a:lnTo>
                  <a:lnTo>
                    <a:pt x="71454" y="131576"/>
                  </a:lnTo>
                  <a:lnTo>
                    <a:pt x="46820" y="167545"/>
                  </a:lnTo>
                  <a:lnTo>
                    <a:pt x="26949" y="206597"/>
                  </a:lnTo>
                  <a:lnTo>
                    <a:pt x="12250" y="248326"/>
                  </a:lnTo>
                  <a:lnTo>
                    <a:pt x="3130" y="292328"/>
                  </a:lnTo>
                  <a:lnTo>
                    <a:pt x="0" y="338200"/>
                  </a:lnTo>
                  <a:lnTo>
                    <a:pt x="3130" y="384097"/>
                  </a:lnTo>
                  <a:lnTo>
                    <a:pt x="12250" y="428116"/>
                  </a:lnTo>
                  <a:lnTo>
                    <a:pt x="26949" y="469854"/>
                  </a:lnTo>
                  <a:lnTo>
                    <a:pt x="46820" y="508910"/>
                  </a:lnTo>
                  <a:lnTo>
                    <a:pt x="71454" y="544879"/>
                  </a:lnTo>
                  <a:lnTo>
                    <a:pt x="100441" y="577359"/>
                  </a:lnTo>
                  <a:lnTo>
                    <a:pt x="133373" y="605947"/>
                  </a:lnTo>
                  <a:lnTo>
                    <a:pt x="169841" y="630241"/>
                  </a:lnTo>
                  <a:lnTo>
                    <a:pt x="209436" y="649838"/>
                  </a:lnTo>
                  <a:lnTo>
                    <a:pt x="251751" y="664334"/>
                  </a:lnTo>
                  <a:lnTo>
                    <a:pt x="296375" y="673327"/>
                  </a:lnTo>
                  <a:lnTo>
                    <a:pt x="342900" y="676414"/>
                  </a:lnTo>
                  <a:lnTo>
                    <a:pt x="389424" y="673327"/>
                  </a:lnTo>
                  <a:lnTo>
                    <a:pt x="434048" y="664334"/>
                  </a:lnTo>
                  <a:lnTo>
                    <a:pt x="476363" y="649838"/>
                  </a:lnTo>
                  <a:lnTo>
                    <a:pt x="515958" y="630241"/>
                  </a:lnTo>
                  <a:lnTo>
                    <a:pt x="552426" y="605947"/>
                  </a:lnTo>
                  <a:lnTo>
                    <a:pt x="585358" y="577359"/>
                  </a:lnTo>
                  <a:lnTo>
                    <a:pt x="614345" y="544879"/>
                  </a:lnTo>
                  <a:lnTo>
                    <a:pt x="638979" y="508910"/>
                  </a:lnTo>
                  <a:lnTo>
                    <a:pt x="658850" y="469854"/>
                  </a:lnTo>
                  <a:lnTo>
                    <a:pt x="673549" y="428116"/>
                  </a:lnTo>
                  <a:lnTo>
                    <a:pt x="682669" y="384097"/>
                  </a:lnTo>
                  <a:lnTo>
                    <a:pt x="685800" y="338200"/>
                  </a:lnTo>
                  <a:lnTo>
                    <a:pt x="682669" y="292328"/>
                  </a:lnTo>
                  <a:lnTo>
                    <a:pt x="673549" y="248326"/>
                  </a:lnTo>
                  <a:lnTo>
                    <a:pt x="658850" y="206597"/>
                  </a:lnTo>
                  <a:lnTo>
                    <a:pt x="638979" y="167545"/>
                  </a:lnTo>
                  <a:lnTo>
                    <a:pt x="614345" y="131576"/>
                  </a:lnTo>
                  <a:lnTo>
                    <a:pt x="585358" y="99091"/>
                  </a:lnTo>
                  <a:lnTo>
                    <a:pt x="552426" y="70496"/>
                  </a:lnTo>
                  <a:lnTo>
                    <a:pt x="515958" y="46195"/>
                  </a:lnTo>
                  <a:lnTo>
                    <a:pt x="476363" y="26590"/>
                  </a:lnTo>
                  <a:lnTo>
                    <a:pt x="434048" y="12087"/>
                  </a:lnTo>
                  <a:lnTo>
                    <a:pt x="389424" y="3089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91025" y="5410961"/>
              <a:ext cx="390525" cy="323850"/>
            </a:xfrm>
            <a:custGeom>
              <a:avLst/>
              <a:gdLst/>
              <a:ahLst/>
              <a:cxnLst/>
              <a:rect l="l" t="t" r="r" b="b"/>
              <a:pathLst>
                <a:path w="390525" h="323850">
                  <a:moveTo>
                    <a:pt x="304164" y="278523"/>
                  </a:moveTo>
                  <a:lnTo>
                    <a:pt x="233425" y="278523"/>
                  </a:lnTo>
                  <a:lnTo>
                    <a:pt x="257236" y="298275"/>
                  </a:lnTo>
                  <a:lnTo>
                    <a:pt x="280273" y="310291"/>
                  </a:lnTo>
                  <a:lnTo>
                    <a:pt x="310810" y="317751"/>
                  </a:lnTo>
                  <a:lnTo>
                    <a:pt x="357124" y="323837"/>
                  </a:lnTo>
                  <a:lnTo>
                    <a:pt x="331061" y="309465"/>
                  </a:lnTo>
                  <a:lnTo>
                    <a:pt x="317023" y="298099"/>
                  </a:lnTo>
                  <a:lnTo>
                    <a:pt x="309796" y="288273"/>
                  </a:lnTo>
                  <a:lnTo>
                    <a:pt x="304164" y="278523"/>
                  </a:lnTo>
                  <a:close/>
                </a:path>
                <a:path w="390525" h="323850">
                  <a:moveTo>
                    <a:pt x="350392" y="69468"/>
                  </a:moveTo>
                  <a:lnTo>
                    <a:pt x="308355" y="69468"/>
                  </a:lnTo>
                  <a:lnTo>
                    <a:pt x="308355" y="179133"/>
                  </a:lnTo>
                  <a:lnTo>
                    <a:pt x="305192" y="194850"/>
                  </a:lnTo>
                  <a:lnTo>
                    <a:pt x="296576" y="207683"/>
                  </a:lnTo>
                  <a:lnTo>
                    <a:pt x="283817" y="216334"/>
                  </a:lnTo>
                  <a:lnTo>
                    <a:pt x="268224" y="219506"/>
                  </a:lnTo>
                  <a:lnTo>
                    <a:pt x="168275" y="219506"/>
                  </a:lnTo>
                  <a:lnTo>
                    <a:pt x="150427" y="230753"/>
                  </a:lnTo>
                  <a:lnTo>
                    <a:pt x="133127" y="240239"/>
                  </a:lnTo>
                  <a:lnTo>
                    <a:pt x="115589" y="248163"/>
                  </a:lnTo>
                  <a:lnTo>
                    <a:pt x="97027" y="254723"/>
                  </a:lnTo>
                  <a:lnTo>
                    <a:pt x="103062" y="264368"/>
                  </a:lnTo>
                  <a:lnTo>
                    <a:pt x="111490" y="271891"/>
                  </a:lnTo>
                  <a:lnTo>
                    <a:pt x="121798" y="276780"/>
                  </a:lnTo>
                  <a:lnTo>
                    <a:pt x="133476" y="278523"/>
                  </a:lnTo>
                  <a:lnTo>
                    <a:pt x="350392" y="278523"/>
                  </a:lnTo>
                  <a:lnTo>
                    <a:pt x="365986" y="275349"/>
                  </a:lnTo>
                  <a:lnTo>
                    <a:pt x="378745" y="266693"/>
                  </a:lnTo>
                  <a:lnTo>
                    <a:pt x="387361" y="253856"/>
                  </a:lnTo>
                  <a:lnTo>
                    <a:pt x="390525" y="238137"/>
                  </a:lnTo>
                  <a:lnTo>
                    <a:pt x="390525" y="109854"/>
                  </a:lnTo>
                  <a:lnTo>
                    <a:pt x="387361" y="94114"/>
                  </a:lnTo>
                  <a:lnTo>
                    <a:pt x="378745" y="81280"/>
                  </a:lnTo>
                  <a:lnTo>
                    <a:pt x="365986" y="72636"/>
                  </a:lnTo>
                  <a:lnTo>
                    <a:pt x="350392" y="69468"/>
                  </a:lnTo>
                  <a:close/>
                </a:path>
                <a:path w="390525" h="323850">
                  <a:moveTo>
                    <a:pt x="157099" y="209029"/>
                  </a:moveTo>
                  <a:lnTo>
                    <a:pt x="86360" y="209029"/>
                  </a:lnTo>
                  <a:lnTo>
                    <a:pt x="73146" y="222161"/>
                  </a:lnTo>
                  <a:lnTo>
                    <a:pt x="60433" y="230753"/>
                  </a:lnTo>
                  <a:lnTo>
                    <a:pt x="16763" y="253504"/>
                  </a:lnTo>
                  <a:lnTo>
                    <a:pt x="64337" y="247198"/>
                  </a:lnTo>
                  <a:lnTo>
                    <a:pt x="97997" y="239500"/>
                  </a:lnTo>
                  <a:lnTo>
                    <a:pt x="101372" y="238137"/>
                  </a:lnTo>
                  <a:lnTo>
                    <a:pt x="126527" y="227594"/>
                  </a:lnTo>
                  <a:lnTo>
                    <a:pt x="157099" y="209029"/>
                  </a:lnTo>
                  <a:close/>
                </a:path>
                <a:path w="390525" h="323850">
                  <a:moveTo>
                    <a:pt x="257048" y="0"/>
                  </a:moveTo>
                  <a:lnTo>
                    <a:pt x="40132" y="0"/>
                  </a:lnTo>
                  <a:lnTo>
                    <a:pt x="24538" y="3165"/>
                  </a:lnTo>
                  <a:lnTo>
                    <a:pt x="11779" y="11795"/>
                  </a:lnTo>
                  <a:lnTo>
                    <a:pt x="3163" y="24592"/>
                  </a:lnTo>
                  <a:lnTo>
                    <a:pt x="0" y="40259"/>
                  </a:lnTo>
                  <a:lnTo>
                    <a:pt x="0" y="168656"/>
                  </a:lnTo>
                  <a:lnTo>
                    <a:pt x="3163" y="184367"/>
                  </a:lnTo>
                  <a:lnTo>
                    <a:pt x="11779" y="197200"/>
                  </a:lnTo>
                  <a:lnTo>
                    <a:pt x="24538" y="205855"/>
                  </a:lnTo>
                  <a:lnTo>
                    <a:pt x="40132" y="209029"/>
                  </a:lnTo>
                  <a:lnTo>
                    <a:pt x="257048" y="209029"/>
                  </a:lnTo>
                  <a:lnTo>
                    <a:pt x="272641" y="205855"/>
                  </a:lnTo>
                  <a:lnTo>
                    <a:pt x="285400" y="197200"/>
                  </a:lnTo>
                  <a:lnTo>
                    <a:pt x="294016" y="184367"/>
                  </a:lnTo>
                  <a:lnTo>
                    <a:pt x="297179" y="168656"/>
                  </a:lnTo>
                  <a:lnTo>
                    <a:pt x="297179" y="127000"/>
                  </a:lnTo>
                  <a:lnTo>
                    <a:pt x="74675" y="127000"/>
                  </a:lnTo>
                  <a:lnTo>
                    <a:pt x="65706" y="125174"/>
                  </a:lnTo>
                  <a:lnTo>
                    <a:pt x="58356" y="120205"/>
                  </a:lnTo>
                  <a:lnTo>
                    <a:pt x="53387" y="112855"/>
                  </a:lnTo>
                  <a:lnTo>
                    <a:pt x="51562" y="103885"/>
                  </a:lnTo>
                  <a:lnTo>
                    <a:pt x="53387" y="94843"/>
                  </a:lnTo>
                  <a:lnTo>
                    <a:pt x="58356" y="87455"/>
                  </a:lnTo>
                  <a:lnTo>
                    <a:pt x="65706" y="82472"/>
                  </a:lnTo>
                  <a:lnTo>
                    <a:pt x="74675" y="80644"/>
                  </a:lnTo>
                  <a:lnTo>
                    <a:pt x="297179" y="80644"/>
                  </a:lnTo>
                  <a:lnTo>
                    <a:pt x="297179" y="40259"/>
                  </a:lnTo>
                  <a:lnTo>
                    <a:pt x="294016" y="24592"/>
                  </a:lnTo>
                  <a:lnTo>
                    <a:pt x="285400" y="11795"/>
                  </a:lnTo>
                  <a:lnTo>
                    <a:pt x="272641" y="3165"/>
                  </a:lnTo>
                  <a:lnTo>
                    <a:pt x="257048" y="0"/>
                  </a:lnTo>
                  <a:close/>
                </a:path>
                <a:path w="390525" h="323850">
                  <a:moveTo>
                    <a:pt x="148589" y="80644"/>
                  </a:moveTo>
                  <a:lnTo>
                    <a:pt x="74675" y="80644"/>
                  </a:lnTo>
                  <a:lnTo>
                    <a:pt x="83625" y="82472"/>
                  </a:lnTo>
                  <a:lnTo>
                    <a:pt x="90932" y="87455"/>
                  </a:lnTo>
                  <a:lnTo>
                    <a:pt x="95857" y="94843"/>
                  </a:lnTo>
                  <a:lnTo>
                    <a:pt x="97662" y="103885"/>
                  </a:lnTo>
                  <a:lnTo>
                    <a:pt x="95857" y="112855"/>
                  </a:lnTo>
                  <a:lnTo>
                    <a:pt x="90931" y="120205"/>
                  </a:lnTo>
                  <a:lnTo>
                    <a:pt x="83625" y="125174"/>
                  </a:lnTo>
                  <a:lnTo>
                    <a:pt x="74675" y="127000"/>
                  </a:lnTo>
                  <a:lnTo>
                    <a:pt x="148589" y="127000"/>
                  </a:lnTo>
                  <a:lnTo>
                    <a:pt x="139620" y="125174"/>
                  </a:lnTo>
                  <a:lnTo>
                    <a:pt x="132270" y="120205"/>
                  </a:lnTo>
                  <a:lnTo>
                    <a:pt x="127301" y="112855"/>
                  </a:lnTo>
                  <a:lnTo>
                    <a:pt x="125475" y="103885"/>
                  </a:lnTo>
                  <a:lnTo>
                    <a:pt x="127301" y="94843"/>
                  </a:lnTo>
                  <a:lnTo>
                    <a:pt x="132270" y="87455"/>
                  </a:lnTo>
                  <a:lnTo>
                    <a:pt x="139620" y="82472"/>
                  </a:lnTo>
                  <a:lnTo>
                    <a:pt x="148589" y="80644"/>
                  </a:lnTo>
                  <a:close/>
                </a:path>
                <a:path w="390525" h="323850">
                  <a:moveTo>
                    <a:pt x="222503" y="80644"/>
                  </a:moveTo>
                  <a:lnTo>
                    <a:pt x="148589" y="80644"/>
                  </a:lnTo>
                  <a:lnTo>
                    <a:pt x="157539" y="82472"/>
                  </a:lnTo>
                  <a:lnTo>
                    <a:pt x="164846" y="87455"/>
                  </a:lnTo>
                  <a:lnTo>
                    <a:pt x="169771" y="94843"/>
                  </a:lnTo>
                  <a:lnTo>
                    <a:pt x="171576" y="103885"/>
                  </a:lnTo>
                  <a:lnTo>
                    <a:pt x="169771" y="112855"/>
                  </a:lnTo>
                  <a:lnTo>
                    <a:pt x="164845" y="120205"/>
                  </a:lnTo>
                  <a:lnTo>
                    <a:pt x="157539" y="125174"/>
                  </a:lnTo>
                  <a:lnTo>
                    <a:pt x="148589" y="127000"/>
                  </a:lnTo>
                  <a:lnTo>
                    <a:pt x="222503" y="127000"/>
                  </a:lnTo>
                  <a:lnTo>
                    <a:pt x="213554" y="125174"/>
                  </a:lnTo>
                  <a:lnTo>
                    <a:pt x="206247" y="120205"/>
                  </a:lnTo>
                  <a:lnTo>
                    <a:pt x="201322" y="112855"/>
                  </a:lnTo>
                  <a:lnTo>
                    <a:pt x="199516" y="103885"/>
                  </a:lnTo>
                  <a:lnTo>
                    <a:pt x="201322" y="94843"/>
                  </a:lnTo>
                  <a:lnTo>
                    <a:pt x="206248" y="87455"/>
                  </a:lnTo>
                  <a:lnTo>
                    <a:pt x="213554" y="82472"/>
                  </a:lnTo>
                  <a:lnTo>
                    <a:pt x="222503" y="80644"/>
                  </a:lnTo>
                  <a:close/>
                </a:path>
                <a:path w="390525" h="323850">
                  <a:moveTo>
                    <a:pt x="297179" y="80644"/>
                  </a:moveTo>
                  <a:lnTo>
                    <a:pt x="222503" y="80644"/>
                  </a:lnTo>
                  <a:lnTo>
                    <a:pt x="231453" y="82472"/>
                  </a:lnTo>
                  <a:lnTo>
                    <a:pt x="238760" y="87455"/>
                  </a:lnTo>
                  <a:lnTo>
                    <a:pt x="243685" y="94843"/>
                  </a:lnTo>
                  <a:lnTo>
                    <a:pt x="245490" y="103885"/>
                  </a:lnTo>
                  <a:lnTo>
                    <a:pt x="243685" y="112855"/>
                  </a:lnTo>
                  <a:lnTo>
                    <a:pt x="238759" y="120205"/>
                  </a:lnTo>
                  <a:lnTo>
                    <a:pt x="231453" y="125174"/>
                  </a:lnTo>
                  <a:lnTo>
                    <a:pt x="222503" y="127000"/>
                  </a:lnTo>
                  <a:lnTo>
                    <a:pt x="297179" y="127000"/>
                  </a:lnTo>
                  <a:lnTo>
                    <a:pt x="297179" y="806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7553325" y="5239384"/>
            <a:ext cx="685800" cy="676910"/>
            <a:chOff x="7553325" y="5239384"/>
            <a:chExt cx="685800" cy="676910"/>
          </a:xfrm>
        </p:grpSpPr>
        <p:sp>
          <p:nvSpPr>
            <p:cNvPr id="26" name="object 26"/>
            <p:cNvSpPr/>
            <p:nvPr/>
          </p:nvSpPr>
          <p:spPr>
            <a:xfrm>
              <a:off x="7553325" y="5239384"/>
              <a:ext cx="685800" cy="676910"/>
            </a:xfrm>
            <a:custGeom>
              <a:avLst/>
              <a:gdLst/>
              <a:ahLst/>
              <a:cxnLst/>
              <a:rect l="l" t="t" r="r" b="b"/>
              <a:pathLst>
                <a:path w="685800" h="676910">
                  <a:moveTo>
                    <a:pt x="342900" y="0"/>
                  </a:moveTo>
                  <a:lnTo>
                    <a:pt x="296375" y="3089"/>
                  </a:lnTo>
                  <a:lnTo>
                    <a:pt x="251751" y="12087"/>
                  </a:lnTo>
                  <a:lnTo>
                    <a:pt x="209436" y="26590"/>
                  </a:lnTo>
                  <a:lnTo>
                    <a:pt x="169841" y="46195"/>
                  </a:lnTo>
                  <a:lnTo>
                    <a:pt x="133373" y="70496"/>
                  </a:lnTo>
                  <a:lnTo>
                    <a:pt x="100441" y="99091"/>
                  </a:lnTo>
                  <a:lnTo>
                    <a:pt x="71454" y="131576"/>
                  </a:lnTo>
                  <a:lnTo>
                    <a:pt x="46820" y="167545"/>
                  </a:lnTo>
                  <a:lnTo>
                    <a:pt x="26949" y="206597"/>
                  </a:lnTo>
                  <a:lnTo>
                    <a:pt x="12250" y="248326"/>
                  </a:lnTo>
                  <a:lnTo>
                    <a:pt x="3130" y="292328"/>
                  </a:lnTo>
                  <a:lnTo>
                    <a:pt x="0" y="338200"/>
                  </a:lnTo>
                  <a:lnTo>
                    <a:pt x="3130" y="384097"/>
                  </a:lnTo>
                  <a:lnTo>
                    <a:pt x="12250" y="428116"/>
                  </a:lnTo>
                  <a:lnTo>
                    <a:pt x="26949" y="469854"/>
                  </a:lnTo>
                  <a:lnTo>
                    <a:pt x="46820" y="508910"/>
                  </a:lnTo>
                  <a:lnTo>
                    <a:pt x="71454" y="544879"/>
                  </a:lnTo>
                  <a:lnTo>
                    <a:pt x="100441" y="577359"/>
                  </a:lnTo>
                  <a:lnTo>
                    <a:pt x="133373" y="605947"/>
                  </a:lnTo>
                  <a:lnTo>
                    <a:pt x="169841" y="630241"/>
                  </a:lnTo>
                  <a:lnTo>
                    <a:pt x="209436" y="649838"/>
                  </a:lnTo>
                  <a:lnTo>
                    <a:pt x="251751" y="664334"/>
                  </a:lnTo>
                  <a:lnTo>
                    <a:pt x="296375" y="673327"/>
                  </a:lnTo>
                  <a:lnTo>
                    <a:pt x="342900" y="676414"/>
                  </a:lnTo>
                  <a:lnTo>
                    <a:pt x="389424" y="673327"/>
                  </a:lnTo>
                  <a:lnTo>
                    <a:pt x="434048" y="664334"/>
                  </a:lnTo>
                  <a:lnTo>
                    <a:pt x="476363" y="649838"/>
                  </a:lnTo>
                  <a:lnTo>
                    <a:pt x="515958" y="630241"/>
                  </a:lnTo>
                  <a:lnTo>
                    <a:pt x="552426" y="605947"/>
                  </a:lnTo>
                  <a:lnTo>
                    <a:pt x="585358" y="577359"/>
                  </a:lnTo>
                  <a:lnTo>
                    <a:pt x="614345" y="544879"/>
                  </a:lnTo>
                  <a:lnTo>
                    <a:pt x="638979" y="508910"/>
                  </a:lnTo>
                  <a:lnTo>
                    <a:pt x="658850" y="469854"/>
                  </a:lnTo>
                  <a:lnTo>
                    <a:pt x="673549" y="428116"/>
                  </a:lnTo>
                  <a:lnTo>
                    <a:pt x="682669" y="384097"/>
                  </a:lnTo>
                  <a:lnTo>
                    <a:pt x="685800" y="338200"/>
                  </a:lnTo>
                  <a:lnTo>
                    <a:pt x="682669" y="292328"/>
                  </a:lnTo>
                  <a:lnTo>
                    <a:pt x="673549" y="248326"/>
                  </a:lnTo>
                  <a:lnTo>
                    <a:pt x="658850" y="206597"/>
                  </a:lnTo>
                  <a:lnTo>
                    <a:pt x="638979" y="167545"/>
                  </a:lnTo>
                  <a:lnTo>
                    <a:pt x="614345" y="131576"/>
                  </a:lnTo>
                  <a:lnTo>
                    <a:pt x="585358" y="99091"/>
                  </a:lnTo>
                  <a:lnTo>
                    <a:pt x="552426" y="70496"/>
                  </a:lnTo>
                  <a:lnTo>
                    <a:pt x="515958" y="46195"/>
                  </a:lnTo>
                  <a:lnTo>
                    <a:pt x="476363" y="26590"/>
                  </a:lnTo>
                  <a:lnTo>
                    <a:pt x="434048" y="12087"/>
                  </a:lnTo>
                  <a:lnTo>
                    <a:pt x="389424" y="3089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740395" y="5409691"/>
              <a:ext cx="396875" cy="383540"/>
            </a:xfrm>
            <a:custGeom>
              <a:avLst/>
              <a:gdLst/>
              <a:ahLst/>
              <a:cxnLst/>
              <a:rect l="l" t="t" r="r" b="b"/>
              <a:pathLst>
                <a:path w="396875" h="383539">
                  <a:moveTo>
                    <a:pt x="104527" y="196291"/>
                  </a:moveTo>
                  <a:lnTo>
                    <a:pt x="28067" y="196291"/>
                  </a:lnTo>
                  <a:lnTo>
                    <a:pt x="37145" y="229933"/>
                  </a:lnTo>
                  <a:lnTo>
                    <a:pt x="39115" y="237401"/>
                  </a:lnTo>
                  <a:lnTo>
                    <a:pt x="45084" y="242481"/>
                  </a:lnTo>
                  <a:lnTo>
                    <a:pt x="51943" y="243573"/>
                  </a:lnTo>
                  <a:lnTo>
                    <a:pt x="85851" y="369722"/>
                  </a:lnTo>
                  <a:lnTo>
                    <a:pt x="89155" y="376378"/>
                  </a:lnTo>
                  <a:lnTo>
                    <a:pt x="94567" y="381087"/>
                  </a:lnTo>
                  <a:lnTo>
                    <a:pt x="101336" y="383422"/>
                  </a:lnTo>
                  <a:lnTo>
                    <a:pt x="108711" y="382955"/>
                  </a:lnTo>
                  <a:lnTo>
                    <a:pt x="125729" y="378383"/>
                  </a:lnTo>
                  <a:lnTo>
                    <a:pt x="132421" y="375075"/>
                  </a:lnTo>
                  <a:lnTo>
                    <a:pt x="137104" y="369722"/>
                  </a:lnTo>
                  <a:lnTo>
                    <a:pt x="139517" y="362871"/>
                  </a:lnTo>
                  <a:lnTo>
                    <a:pt x="139064" y="355447"/>
                  </a:lnTo>
                  <a:lnTo>
                    <a:pt x="104775" y="227393"/>
                  </a:lnTo>
                  <a:lnTo>
                    <a:pt x="108584" y="223126"/>
                  </a:lnTo>
                  <a:lnTo>
                    <a:pt x="110108" y="217043"/>
                  </a:lnTo>
                  <a:lnTo>
                    <a:pt x="108584" y="211061"/>
                  </a:lnTo>
                  <a:lnTo>
                    <a:pt x="104527" y="196291"/>
                  </a:lnTo>
                  <a:close/>
                </a:path>
                <a:path w="396875" h="383539">
                  <a:moveTo>
                    <a:pt x="282575" y="14732"/>
                  </a:moveTo>
                  <a:lnTo>
                    <a:pt x="117094" y="60706"/>
                  </a:lnTo>
                  <a:lnTo>
                    <a:pt x="117094" y="183997"/>
                  </a:lnTo>
                  <a:lnTo>
                    <a:pt x="282448" y="229933"/>
                  </a:lnTo>
                  <a:lnTo>
                    <a:pt x="282575" y="14732"/>
                  </a:lnTo>
                  <a:close/>
                </a:path>
                <a:path w="396875" h="383539">
                  <a:moveTo>
                    <a:pt x="105028" y="60325"/>
                  </a:moveTo>
                  <a:lnTo>
                    <a:pt x="7874" y="60325"/>
                  </a:lnTo>
                  <a:lnTo>
                    <a:pt x="0" y="68072"/>
                  </a:lnTo>
                  <a:lnTo>
                    <a:pt x="0" y="176657"/>
                  </a:lnTo>
                  <a:lnTo>
                    <a:pt x="7874" y="184518"/>
                  </a:lnTo>
                  <a:lnTo>
                    <a:pt x="105028" y="184518"/>
                  </a:lnTo>
                  <a:lnTo>
                    <a:pt x="105028" y="60325"/>
                  </a:lnTo>
                  <a:close/>
                </a:path>
                <a:path w="396875" h="383539">
                  <a:moveTo>
                    <a:pt x="352425" y="81915"/>
                  </a:moveTo>
                  <a:lnTo>
                    <a:pt x="352997" y="142601"/>
                  </a:lnTo>
                  <a:lnTo>
                    <a:pt x="353050" y="147923"/>
                  </a:lnTo>
                  <a:lnTo>
                    <a:pt x="353154" y="156654"/>
                  </a:lnTo>
                  <a:lnTo>
                    <a:pt x="353269" y="166231"/>
                  </a:lnTo>
                  <a:lnTo>
                    <a:pt x="353313" y="169926"/>
                  </a:lnTo>
                  <a:lnTo>
                    <a:pt x="370369" y="166231"/>
                  </a:lnTo>
                  <a:lnTo>
                    <a:pt x="384222" y="156654"/>
                  </a:lnTo>
                  <a:lnTo>
                    <a:pt x="393479" y="142601"/>
                  </a:lnTo>
                  <a:lnTo>
                    <a:pt x="396748" y="125476"/>
                  </a:lnTo>
                  <a:lnTo>
                    <a:pt x="393126" y="108418"/>
                  </a:lnTo>
                  <a:lnTo>
                    <a:pt x="383587" y="94551"/>
                  </a:lnTo>
                  <a:lnTo>
                    <a:pt x="369548" y="85256"/>
                  </a:lnTo>
                  <a:lnTo>
                    <a:pt x="352425" y="81915"/>
                  </a:lnTo>
                  <a:close/>
                </a:path>
                <a:path w="396875" h="383539">
                  <a:moveTo>
                    <a:pt x="335660" y="0"/>
                  </a:moveTo>
                  <a:lnTo>
                    <a:pt x="299084" y="0"/>
                  </a:lnTo>
                  <a:lnTo>
                    <a:pt x="294639" y="4445"/>
                  </a:lnTo>
                  <a:lnTo>
                    <a:pt x="294512" y="240169"/>
                  </a:lnTo>
                  <a:lnTo>
                    <a:pt x="298957" y="244602"/>
                  </a:lnTo>
                  <a:lnTo>
                    <a:pt x="335521" y="244602"/>
                  </a:lnTo>
                  <a:lnTo>
                    <a:pt x="339966" y="240169"/>
                  </a:lnTo>
                  <a:lnTo>
                    <a:pt x="340105" y="4445"/>
                  </a:lnTo>
                  <a:lnTo>
                    <a:pt x="335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023220" y="5172773"/>
            <a:ext cx="868044" cy="5137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dirty="0" sz="1550" spc="-10">
                <a:solidFill>
                  <a:srgbClr val="3E3E3E"/>
                </a:solidFill>
                <a:latin typeface="Times New Roman"/>
                <a:cs typeface="Times New Roman"/>
              </a:rPr>
              <a:t>Submissio </a:t>
            </a:r>
            <a:r>
              <a:rPr dirty="0" sz="1550" spc="-50">
                <a:solidFill>
                  <a:srgbClr val="3E3E3E"/>
                </a:solidFill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54975" y="4447603"/>
            <a:ext cx="2743835" cy="5041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28600" marR="5080" indent="-216535">
              <a:lnSpc>
                <a:spcPct val="100899"/>
              </a:lnSpc>
              <a:spcBef>
                <a:spcPts val="110"/>
              </a:spcBef>
              <a:buClr>
                <a:srgbClr val="3E3E3E"/>
              </a:buClr>
              <a:buFont typeface="Segoe UI Symbol"/>
              <a:buChar char="❖"/>
              <a:tabLst>
                <a:tab pos="228600" algn="l"/>
                <a:tab pos="1980564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Clinical trial with</a:t>
            </a:r>
            <a:r>
              <a:rPr dirty="0" sz="1550" spc="50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E3E3E"/>
                </a:solidFill>
                <a:latin typeface="Segoe UI Symbol"/>
                <a:cs typeface="Segoe UI Symbol"/>
              </a:rPr>
              <a:t>❖</a:t>
            </a:r>
            <a:r>
              <a:rPr dirty="0" sz="1550" spc="-80">
                <a:solidFill>
                  <a:srgbClr val="3E3E3E"/>
                </a:solidFill>
                <a:latin typeface="Segoe UI Symbol"/>
                <a:cs typeface="Segoe UI Symbol"/>
              </a:rPr>
              <a:t>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Pre </a:t>
            </a:r>
            <a:r>
              <a:rPr dirty="0" sz="1550" spc="-20">
                <a:solidFill>
                  <a:srgbClr val="3E3E3E"/>
                </a:solidFill>
                <a:latin typeface="Times New Roman"/>
                <a:cs typeface="Times New Roman"/>
              </a:rPr>
              <a:t>PhD-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SRM</a:t>
            </a:r>
            <a:r>
              <a:rPr dirty="0" sz="1550" spc="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1F253E"/>
                </a:solidFill>
                <a:latin typeface="Times New Roman"/>
                <a:cs typeface="Times New Roman"/>
              </a:rPr>
              <a:t>MCH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	</a:t>
            </a:r>
            <a:r>
              <a:rPr dirty="0" sz="1550" spc="-20">
                <a:solidFill>
                  <a:srgbClr val="3E3E3E"/>
                </a:solidFill>
                <a:latin typeface="Times New Roman"/>
                <a:cs typeface="Times New Roman"/>
              </a:rPr>
              <a:t>Talk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54975" y="4933886"/>
            <a:ext cx="278066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25"/>
              </a:spcBef>
              <a:buClr>
                <a:srgbClr val="3E3E3E"/>
              </a:buClr>
              <a:buFont typeface="Segoe UI Symbol"/>
              <a:buChar char="❖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Edge-deployment</a:t>
            </a:r>
            <a:r>
              <a:rPr dirty="0" sz="1550" spc="459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E3E3E"/>
                </a:solidFill>
                <a:latin typeface="Segoe UI Symbol"/>
                <a:cs typeface="Segoe UI Symbol"/>
              </a:rPr>
              <a:t>❖</a:t>
            </a:r>
            <a:r>
              <a:rPr dirty="0" sz="1550" spc="409">
                <a:solidFill>
                  <a:srgbClr val="3E3E3E"/>
                </a:solidFill>
                <a:latin typeface="Segoe UI Symbol"/>
                <a:cs typeface="Segoe UI Symbol"/>
              </a:rPr>
              <a:t> </a:t>
            </a:r>
            <a:r>
              <a:rPr dirty="0" sz="1550" spc="-10">
                <a:solidFill>
                  <a:srgbClr val="3E3E3E"/>
                </a:solidFill>
                <a:latin typeface="Times New Roman"/>
                <a:cs typeface="Times New Roman"/>
              </a:rPr>
              <a:t>Synopsis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3937" y="3862908"/>
            <a:ext cx="1485900" cy="362585"/>
          </a:xfrm>
          <a:prstGeom prst="rect">
            <a:avLst/>
          </a:prstGeom>
          <a:solidFill>
            <a:srgbClr val="6FAC46"/>
          </a:solidFill>
          <a:ln w="12600">
            <a:solidFill>
              <a:srgbClr val="F1F1F1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273050">
              <a:lnSpc>
                <a:spcPct val="100000"/>
              </a:lnSpc>
              <a:spcBef>
                <a:spcPts val="265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June2025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45629" y="4215384"/>
            <a:ext cx="76835" cy="977900"/>
          </a:xfrm>
          <a:custGeom>
            <a:avLst/>
            <a:gdLst/>
            <a:ahLst/>
            <a:cxnLst/>
            <a:rect l="l" t="t" r="r" b="b"/>
            <a:pathLst>
              <a:path w="76834" h="977900">
                <a:moveTo>
                  <a:pt x="48234" y="0"/>
                </a:moveTo>
                <a:lnTo>
                  <a:pt x="22682" y="0"/>
                </a:lnTo>
                <a:lnTo>
                  <a:pt x="22758" y="25527"/>
                </a:lnTo>
                <a:lnTo>
                  <a:pt x="48310" y="25527"/>
                </a:lnTo>
                <a:lnTo>
                  <a:pt x="48234" y="0"/>
                </a:lnTo>
                <a:close/>
              </a:path>
              <a:path w="76834" h="977900">
                <a:moveTo>
                  <a:pt x="48552" y="102235"/>
                </a:moveTo>
                <a:lnTo>
                  <a:pt x="22987" y="102235"/>
                </a:lnTo>
                <a:lnTo>
                  <a:pt x="23075" y="127762"/>
                </a:lnTo>
                <a:lnTo>
                  <a:pt x="48628" y="127762"/>
                </a:lnTo>
                <a:lnTo>
                  <a:pt x="48552" y="102235"/>
                </a:lnTo>
                <a:close/>
              </a:path>
              <a:path w="76834" h="977900">
                <a:moveTo>
                  <a:pt x="48856" y="204470"/>
                </a:moveTo>
                <a:lnTo>
                  <a:pt x="23304" y="204470"/>
                </a:lnTo>
                <a:lnTo>
                  <a:pt x="23380" y="229997"/>
                </a:lnTo>
                <a:lnTo>
                  <a:pt x="48945" y="229997"/>
                </a:lnTo>
                <a:lnTo>
                  <a:pt x="48856" y="204470"/>
                </a:lnTo>
                <a:close/>
              </a:path>
              <a:path w="76834" h="977900">
                <a:moveTo>
                  <a:pt x="49174" y="306705"/>
                </a:moveTo>
                <a:lnTo>
                  <a:pt x="23621" y="306705"/>
                </a:lnTo>
                <a:lnTo>
                  <a:pt x="23698" y="332232"/>
                </a:lnTo>
                <a:lnTo>
                  <a:pt x="49250" y="332232"/>
                </a:lnTo>
                <a:lnTo>
                  <a:pt x="49174" y="306705"/>
                </a:lnTo>
                <a:close/>
              </a:path>
              <a:path w="76834" h="977900">
                <a:moveTo>
                  <a:pt x="49491" y="408940"/>
                </a:moveTo>
                <a:lnTo>
                  <a:pt x="23926" y="408940"/>
                </a:lnTo>
                <a:lnTo>
                  <a:pt x="24015" y="434594"/>
                </a:lnTo>
                <a:lnTo>
                  <a:pt x="49568" y="434594"/>
                </a:lnTo>
                <a:lnTo>
                  <a:pt x="49491" y="408940"/>
                </a:lnTo>
                <a:close/>
              </a:path>
              <a:path w="76834" h="977900">
                <a:moveTo>
                  <a:pt x="49796" y="511175"/>
                </a:moveTo>
                <a:lnTo>
                  <a:pt x="24244" y="511175"/>
                </a:lnTo>
                <a:lnTo>
                  <a:pt x="24320" y="536829"/>
                </a:lnTo>
                <a:lnTo>
                  <a:pt x="49886" y="536829"/>
                </a:lnTo>
                <a:lnTo>
                  <a:pt x="49796" y="511175"/>
                </a:lnTo>
                <a:close/>
              </a:path>
              <a:path w="76834" h="977900">
                <a:moveTo>
                  <a:pt x="50114" y="613410"/>
                </a:moveTo>
                <a:lnTo>
                  <a:pt x="24561" y="613410"/>
                </a:lnTo>
                <a:lnTo>
                  <a:pt x="24637" y="639064"/>
                </a:lnTo>
                <a:lnTo>
                  <a:pt x="50190" y="638937"/>
                </a:lnTo>
                <a:lnTo>
                  <a:pt x="50114" y="613410"/>
                </a:lnTo>
                <a:close/>
              </a:path>
              <a:path w="76834" h="977900">
                <a:moveTo>
                  <a:pt x="50431" y="715645"/>
                </a:moveTo>
                <a:lnTo>
                  <a:pt x="24866" y="715645"/>
                </a:lnTo>
                <a:lnTo>
                  <a:pt x="24955" y="741299"/>
                </a:lnTo>
                <a:lnTo>
                  <a:pt x="50508" y="741299"/>
                </a:lnTo>
                <a:lnTo>
                  <a:pt x="50431" y="715645"/>
                </a:lnTo>
                <a:close/>
              </a:path>
              <a:path w="76834" h="977900">
                <a:moveTo>
                  <a:pt x="50736" y="817880"/>
                </a:moveTo>
                <a:lnTo>
                  <a:pt x="25184" y="817880"/>
                </a:lnTo>
                <a:lnTo>
                  <a:pt x="25260" y="843534"/>
                </a:lnTo>
                <a:lnTo>
                  <a:pt x="50825" y="843534"/>
                </a:lnTo>
                <a:lnTo>
                  <a:pt x="50736" y="817880"/>
                </a:lnTo>
                <a:close/>
              </a:path>
              <a:path w="76834" h="977900">
                <a:moveTo>
                  <a:pt x="38214" y="901192"/>
                </a:moveTo>
                <a:lnTo>
                  <a:pt x="3086" y="924552"/>
                </a:lnTo>
                <a:lnTo>
                  <a:pt x="0" y="939673"/>
                </a:lnTo>
                <a:lnTo>
                  <a:pt x="3010" y="954379"/>
                </a:lnTo>
                <a:lnTo>
                  <a:pt x="3058" y="954611"/>
                </a:lnTo>
                <a:lnTo>
                  <a:pt x="11194" y="966612"/>
                </a:lnTo>
                <a:lnTo>
                  <a:pt x="11312" y="966787"/>
                </a:lnTo>
                <a:lnTo>
                  <a:pt x="23524" y="974963"/>
                </a:lnTo>
                <a:lnTo>
                  <a:pt x="38455" y="977900"/>
                </a:lnTo>
                <a:lnTo>
                  <a:pt x="52908" y="974963"/>
                </a:lnTo>
                <a:lnTo>
                  <a:pt x="53229" y="974963"/>
                </a:lnTo>
                <a:lnTo>
                  <a:pt x="65525" y="966612"/>
                </a:lnTo>
                <a:lnTo>
                  <a:pt x="73702" y="954379"/>
                </a:lnTo>
                <a:lnTo>
                  <a:pt x="76619" y="939673"/>
                </a:lnTo>
                <a:lnTo>
                  <a:pt x="25565" y="939673"/>
                </a:lnTo>
                <a:lnTo>
                  <a:pt x="25501" y="920115"/>
                </a:lnTo>
                <a:lnTo>
                  <a:pt x="70600" y="920115"/>
                </a:lnTo>
                <a:lnTo>
                  <a:pt x="65448" y="912526"/>
                </a:lnTo>
                <a:lnTo>
                  <a:pt x="65362" y="912399"/>
                </a:lnTo>
                <a:lnTo>
                  <a:pt x="53263" y="904275"/>
                </a:lnTo>
                <a:lnTo>
                  <a:pt x="53525" y="904275"/>
                </a:lnTo>
                <a:lnTo>
                  <a:pt x="38214" y="901192"/>
                </a:lnTo>
                <a:close/>
              </a:path>
              <a:path w="76834" h="977900">
                <a:moveTo>
                  <a:pt x="51053" y="920115"/>
                </a:moveTo>
                <a:lnTo>
                  <a:pt x="25501" y="920115"/>
                </a:lnTo>
                <a:lnTo>
                  <a:pt x="25565" y="939673"/>
                </a:lnTo>
                <a:lnTo>
                  <a:pt x="51117" y="939673"/>
                </a:lnTo>
                <a:lnTo>
                  <a:pt x="51053" y="920115"/>
                </a:lnTo>
                <a:close/>
              </a:path>
              <a:path w="76834" h="977900">
                <a:moveTo>
                  <a:pt x="70600" y="920115"/>
                </a:moveTo>
                <a:lnTo>
                  <a:pt x="51053" y="920115"/>
                </a:lnTo>
                <a:lnTo>
                  <a:pt x="51117" y="939673"/>
                </a:lnTo>
                <a:lnTo>
                  <a:pt x="76619" y="939673"/>
                </a:lnTo>
                <a:lnTo>
                  <a:pt x="76669" y="939419"/>
                </a:lnTo>
                <a:lnTo>
                  <a:pt x="73650" y="924730"/>
                </a:lnTo>
                <a:lnTo>
                  <a:pt x="73613" y="924552"/>
                </a:lnTo>
                <a:lnTo>
                  <a:pt x="70600" y="920115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298828" y="4339272"/>
            <a:ext cx="1050925" cy="81915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0"/>
              </a:spcBef>
            </a:pPr>
            <a:r>
              <a:rPr dirty="0" sz="1800">
                <a:solidFill>
                  <a:srgbClr val="3E3E3E"/>
                </a:solidFill>
                <a:latin typeface="Times New Roman"/>
                <a:cs typeface="Times New Roman"/>
              </a:rPr>
              <a:t>Date</a:t>
            </a:r>
            <a:r>
              <a:rPr dirty="0" sz="1800" spc="-5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3E3E3E"/>
                </a:solidFill>
                <a:latin typeface="Times New Roman"/>
                <a:cs typeface="Times New Roman"/>
              </a:rPr>
              <a:t>of </a:t>
            </a:r>
            <a:r>
              <a:rPr dirty="0" sz="1800" spc="-10">
                <a:solidFill>
                  <a:srgbClr val="3E3E3E"/>
                </a:solidFill>
                <a:latin typeface="Times New Roman"/>
                <a:cs typeface="Times New Roman"/>
              </a:rPr>
              <a:t>Enrollment </a:t>
            </a:r>
            <a:r>
              <a:rPr dirty="0" sz="1550" spc="-10">
                <a:solidFill>
                  <a:srgbClr val="3E3E3E"/>
                </a:solidFill>
                <a:latin typeface="Times New Roman"/>
                <a:cs typeface="Times New Roman"/>
              </a:rPr>
              <a:t>01/07/2025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4677359"/>
            <a:ext cx="571500" cy="42867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069970" y="2779712"/>
            <a:ext cx="1148080" cy="7524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8100" marR="30480">
              <a:lnSpc>
                <a:spcPct val="103000"/>
              </a:lnSpc>
              <a:spcBef>
                <a:spcPts val="70"/>
              </a:spcBef>
            </a:pP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1</a:t>
            </a:r>
            <a:r>
              <a:rPr dirty="0" baseline="23809" sz="1575">
                <a:solidFill>
                  <a:srgbClr val="3E3E3E"/>
                </a:solidFill>
                <a:latin typeface="Times New Roman"/>
                <a:cs typeface="Times New Roman"/>
              </a:rPr>
              <a:t>st</a:t>
            </a:r>
            <a:r>
              <a:rPr dirty="0" baseline="23809" sz="1575" spc="307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sem</a:t>
            </a:r>
            <a:r>
              <a:rPr dirty="0" sz="1550" spc="6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 spc="-35">
                <a:solidFill>
                  <a:srgbClr val="3E3E3E"/>
                </a:solidFill>
                <a:latin typeface="Times New Roman"/>
                <a:cs typeface="Times New Roman"/>
              </a:rPr>
              <a:t>of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Course</a:t>
            </a:r>
            <a:r>
              <a:rPr dirty="0" sz="1550" spc="5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3E3E3E"/>
                </a:solidFill>
                <a:latin typeface="Times New Roman"/>
                <a:cs typeface="Times New Roman"/>
              </a:rPr>
              <a:t>Work </a:t>
            </a:r>
            <a:r>
              <a:rPr dirty="0" sz="1550" spc="-10">
                <a:solidFill>
                  <a:srgbClr val="3E3E3E"/>
                </a:solidFill>
                <a:latin typeface="Times New Roman"/>
                <a:cs typeface="Times New Roman"/>
              </a:rPr>
              <a:t>Completion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90415" y="2894266"/>
            <a:ext cx="1149350" cy="7524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8100" marR="30480" indent="83820">
              <a:lnSpc>
                <a:spcPct val="103000"/>
              </a:lnSpc>
              <a:spcBef>
                <a:spcPts val="70"/>
              </a:spcBef>
            </a:pP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2</a:t>
            </a:r>
            <a:r>
              <a:rPr dirty="0" baseline="26455" sz="1575">
                <a:solidFill>
                  <a:srgbClr val="3E3E3E"/>
                </a:solidFill>
                <a:latin typeface="Times New Roman"/>
                <a:cs typeface="Times New Roman"/>
              </a:rPr>
              <a:t>nd</a:t>
            </a:r>
            <a:r>
              <a:rPr dirty="0" baseline="26455" sz="1575" spc="89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sem</a:t>
            </a:r>
            <a:r>
              <a:rPr dirty="0" sz="1550" spc="85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 spc="-35">
                <a:solidFill>
                  <a:srgbClr val="3E3E3E"/>
                </a:solidFill>
                <a:latin typeface="Times New Roman"/>
                <a:cs typeface="Times New Roman"/>
              </a:rPr>
              <a:t>of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Course</a:t>
            </a:r>
            <a:r>
              <a:rPr dirty="0" sz="1550" spc="65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3E3E3E"/>
                </a:solidFill>
                <a:latin typeface="Times New Roman"/>
                <a:cs typeface="Times New Roman"/>
              </a:rPr>
              <a:t>Work </a:t>
            </a:r>
            <a:r>
              <a:rPr dirty="0" sz="1550" spc="-10">
                <a:solidFill>
                  <a:srgbClr val="3E3E3E"/>
                </a:solidFill>
                <a:latin typeface="Times New Roman"/>
                <a:cs typeface="Times New Roman"/>
              </a:rPr>
              <a:t>Completion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68541" y="2205672"/>
            <a:ext cx="1805305" cy="123888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28600" marR="92710" indent="-215900">
              <a:lnSpc>
                <a:spcPct val="103000"/>
              </a:lnSpc>
              <a:spcBef>
                <a:spcPts val="70"/>
              </a:spcBef>
              <a:buClr>
                <a:srgbClr val="3E3E3E"/>
              </a:buClr>
              <a:buFont typeface="Segoe UI Symbol"/>
              <a:buChar char="❖"/>
              <a:tabLst>
                <a:tab pos="228600" algn="l"/>
              </a:tabLst>
            </a:pP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MobileConformer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–</a:t>
            </a:r>
            <a:r>
              <a:rPr dirty="0" sz="1550" spc="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Journal Submission(Q1)</a:t>
            </a:r>
            <a:endParaRPr sz="1550">
              <a:latin typeface="Times New Roman"/>
              <a:cs typeface="Times New Roman"/>
            </a:endParaRPr>
          </a:p>
          <a:p>
            <a:pPr marL="228600" marR="5080" indent="-215900">
              <a:lnSpc>
                <a:spcPts val="1950"/>
              </a:lnSpc>
              <a:spcBef>
                <a:spcPts val="10"/>
              </a:spcBef>
              <a:buClr>
                <a:srgbClr val="3E3E3E"/>
              </a:buClr>
              <a:buFont typeface="Segoe UI Symbol"/>
              <a:buChar char="❖"/>
              <a:tabLst>
                <a:tab pos="228600" algn="l"/>
              </a:tabLst>
            </a:pP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Clinical</a:t>
            </a:r>
            <a:r>
              <a:rPr dirty="0" sz="1550" spc="13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data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collection</a:t>
            </a:r>
            <a:r>
              <a:rPr dirty="0" sz="1550" spc="185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planning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271129" y="5172773"/>
            <a:ext cx="1376680" cy="5137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Journal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submission</a:t>
            </a:r>
            <a:r>
              <a:rPr dirty="0" sz="1550" spc="229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F253E"/>
                </a:solidFill>
                <a:latin typeface="Times New Roman"/>
                <a:cs typeface="Times New Roman"/>
              </a:rPr>
              <a:t>(Q1)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5582" y="2781617"/>
            <a:ext cx="1937385" cy="504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1st</a:t>
            </a:r>
            <a:r>
              <a:rPr dirty="0" sz="1550" spc="10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Doctoral</a:t>
            </a:r>
            <a:r>
              <a:rPr dirty="0" sz="1550" spc="10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3E3E3E"/>
                </a:solidFill>
                <a:latin typeface="Times New Roman"/>
                <a:cs typeface="Times New Roman"/>
              </a:rPr>
              <a:t>committee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meeting</a:t>
            </a:r>
            <a:r>
              <a:rPr dirty="0" sz="1550" spc="16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on</a:t>
            </a:r>
            <a:r>
              <a:rPr dirty="0" sz="1550" spc="165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E3E3E"/>
                </a:solidFill>
                <a:latin typeface="Times New Roman"/>
                <a:cs typeface="Times New Roman"/>
              </a:rPr>
              <a:t>1</a:t>
            </a:r>
            <a:r>
              <a:rPr dirty="0" sz="1550">
                <a:latin typeface="Times New Roman"/>
                <a:cs typeface="Times New Roman"/>
              </a:rPr>
              <a:t>7-07-</a:t>
            </a:r>
            <a:r>
              <a:rPr dirty="0" sz="1550" spc="-20">
                <a:latin typeface="Times New Roman"/>
                <a:cs typeface="Times New Roman"/>
              </a:rPr>
              <a:t>2024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48850" y="295325"/>
            <a:ext cx="1885950" cy="600151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4757165" y="4358957"/>
            <a:ext cx="1118235" cy="123888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</a:pP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DysfluentNet Unified </a:t>
            </a:r>
            <a:r>
              <a:rPr dirty="0" sz="1550">
                <a:solidFill>
                  <a:srgbClr val="1F253E"/>
                </a:solidFill>
                <a:latin typeface="Times New Roman"/>
                <a:cs typeface="Times New Roman"/>
              </a:rPr>
              <a:t>Models</a:t>
            </a:r>
            <a:r>
              <a:rPr dirty="0" sz="1550" spc="150">
                <a:solidFill>
                  <a:srgbClr val="1F253E"/>
                </a:solidFill>
                <a:latin typeface="Times New Roman"/>
                <a:cs typeface="Times New Roman"/>
              </a:rPr>
              <a:t> </a:t>
            </a:r>
            <a:r>
              <a:rPr dirty="0" sz="1550" spc="-50">
                <a:solidFill>
                  <a:srgbClr val="1F253E"/>
                </a:solidFill>
                <a:latin typeface="Times New Roman"/>
                <a:cs typeface="Times New Roman"/>
              </a:rPr>
              <a:t>– </a:t>
            </a:r>
            <a:r>
              <a:rPr dirty="0" sz="1550" spc="-10">
                <a:solidFill>
                  <a:srgbClr val="1F253E"/>
                </a:solidFill>
                <a:latin typeface="Times New Roman"/>
                <a:cs typeface="Times New Roman"/>
              </a:rPr>
              <a:t>Systematic Review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361" rIns="0" bIns="0" rtlCol="0" vert="horz">
            <a:spAutoFit/>
          </a:bodyPr>
          <a:lstStyle/>
          <a:p>
            <a:pPr marL="1072515">
              <a:lnSpc>
                <a:spcPct val="100000"/>
              </a:lnSpc>
              <a:spcBef>
                <a:spcPts val="125"/>
              </a:spcBef>
            </a:pPr>
            <a:r>
              <a:rPr dirty="0" sz="2750" spc="-10">
                <a:solidFill>
                  <a:srgbClr val="212A35"/>
                </a:solidFill>
              </a:rPr>
              <a:t>PUBLICATIONS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915987" y="1889442"/>
            <a:ext cx="10043795" cy="25863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227965" algn="l"/>
              </a:tabLst>
            </a:pP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DysfluentNet</a:t>
            </a:r>
            <a:r>
              <a:rPr dirty="0" sz="2000" spc="-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has</a:t>
            </a:r>
            <a:r>
              <a:rPr dirty="0" sz="2000" spc="-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been</a:t>
            </a:r>
            <a:r>
              <a:rPr dirty="0" sz="2000" spc="-5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accepted</a:t>
            </a:r>
            <a:r>
              <a:rPr dirty="0" sz="2000" spc="-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at</a:t>
            </a:r>
            <a:r>
              <a:rPr dirty="0" sz="2000" spc="-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Interspeech</a:t>
            </a:r>
            <a:r>
              <a:rPr dirty="0" sz="2000" spc="-6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2026,</a:t>
            </a:r>
            <a:r>
              <a:rPr dirty="0" sz="2000" spc="-3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with</a:t>
            </a:r>
            <a:r>
              <a:rPr dirty="0" sz="2000" spc="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2000" spc="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30" b="1" i="1">
                <a:solidFill>
                  <a:srgbClr val="1A1A2D"/>
                </a:solidFill>
                <a:latin typeface="Times New Roman"/>
                <a:cs typeface="Times New Roman"/>
              </a:rPr>
              <a:t>camera-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ready</a:t>
            </a:r>
            <a:r>
              <a:rPr dirty="0" sz="2000" spc="-5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version</a:t>
            </a:r>
            <a:r>
              <a:rPr dirty="0" sz="2000" spc="1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complete.</a:t>
            </a:r>
            <a:endParaRPr sz="20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173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292100" algn="l"/>
              </a:tabLst>
            </a:pP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My</a:t>
            </a:r>
            <a:r>
              <a:rPr dirty="0" sz="2000" spc="-7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IEEE conference</a:t>
            </a:r>
            <a:r>
              <a:rPr dirty="0" sz="2000" spc="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paper</a:t>
            </a:r>
            <a:r>
              <a:rPr dirty="0" sz="2000" spc="-3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2000" spc="-3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ICDSBS</a:t>
            </a:r>
            <a:r>
              <a:rPr dirty="0" sz="2000" spc="-6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2026,</a:t>
            </a:r>
            <a:r>
              <a:rPr dirty="0" sz="2000" spc="-4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on a</a:t>
            </a:r>
            <a:r>
              <a:rPr dirty="0" sz="2000" spc="-3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unified</a:t>
            </a:r>
            <a:r>
              <a:rPr dirty="0" sz="2000" spc="-3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disfluency-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detection</a:t>
            </a:r>
            <a:r>
              <a:rPr dirty="0" sz="2000" spc="1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2000" spc="-10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 i="1">
                <a:solidFill>
                  <a:srgbClr val="1A1A2D"/>
                </a:solidFill>
                <a:latin typeface="Times New Roman"/>
                <a:cs typeface="Times New Roman"/>
              </a:rPr>
              <a:t>ASR</a:t>
            </a:r>
            <a:endParaRPr sz="20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605"/>
              </a:spcBef>
            </a:pP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architecture</a:t>
            </a:r>
            <a:r>
              <a:rPr dirty="0" sz="2000" spc="-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2000" spc="-5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resource-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constrained</a:t>
            </a:r>
            <a:r>
              <a:rPr dirty="0" sz="2000" spc="-5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devices,</a:t>
            </a:r>
            <a:r>
              <a:rPr dirty="0" sz="2000" spc="-6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has</a:t>
            </a:r>
            <a:r>
              <a:rPr dirty="0" sz="2000" spc="-5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been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prepared</a:t>
            </a:r>
            <a:r>
              <a:rPr dirty="0" sz="2000" spc="-5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2000" spc="-5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presented.</a:t>
            </a:r>
            <a:endParaRPr sz="200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655"/>
              </a:spcBef>
              <a:buClr>
                <a:srgbClr val="000000"/>
              </a:buClr>
              <a:buSzPct val="48387"/>
              <a:buFont typeface="Wingdings"/>
              <a:buChar char=""/>
              <a:tabLst>
                <a:tab pos="227965" algn="l"/>
              </a:tabLst>
            </a:pPr>
            <a:r>
              <a:rPr dirty="0" u="sng" sz="1550" spc="-10" b="1" i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Calibri"/>
                <a:cs typeface="Calibri"/>
                <a:hlinkClick r:id="rId2"/>
              </a:rPr>
              <a:t>https://xplorestaging.ieee.org/document/11634690</a:t>
            </a:r>
            <a:endParaRPr sz="1550">
              <a:latin typeface="Calibri"/>
              <a:cs typeface="Calibri"/>
            </a:endParaRPr>
          </a:p>
          <a:p>
            <a:pPr marL="139700" marR="554990" indent="-127000">
              <a:lnSpc>
                <a:spcPct val="125200"/>
              </a:lnSpc>
              <a:spcBef>
                <a:spcPts val="1070"/>
              </a:spcBef>
              <a:buFont typeface="Wingdings"/>
              <a:buChar char=""/>
              <a:tabLst>
                <a:tab pos="139700" algn="l"/>
                <a:tab pos="227965" algn="l"/>
              </a:tabLst>
            </a:pPr>
            <a:r>
              <a:rPr dirty="0" sz="900">
                <a:latin typeface="Times New Roman"/>
                <a:cs typeface="Times New Roman"/>
              </a:rPr>
              <a:t>	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dirty="0" sz="2000" spc="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MobileConformer</a:t>
            </a:r>
            <a:r>
              <a:rPr dirty="0" sz="2000" spc="-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journal</a:t>
            </a:r>
            <a:r>
              <a:rPr dirty="0" sz="2000" spc="-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manuscript,</a:t>
            </a:r>
            <a:r>
              <a:rPr dirty="0" sz="2000" spc="-3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targeting</a:t>
            </a:r>
            <a:r>
              <a:rPr dirty="0" sz="2000" spc="-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2000" spc="-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Q1</a:t>
            </a:r>
            <a:r>
              <a:rPr dirty="0" sz="2000" spc="-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venue</a:t>
            </a:r>
            <a:r>
              <a:rPr dirty="0" sz="2000" spc="2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such</a:t>
            </a:r>
            <a:r>
              <a:rPr dirty="0" sz="2000" spc="-4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as</a:t>
            </a:r>
            <a:r>
              <a:rPr dirty="0" sz="2000" spc="-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Computational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Linguistics,</a:t>
            </a:r>
            <a:r>
              <a:rPr dirty="0" sz="2000" spc="-7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is</a:t>
            </a:r>
            <a:r>
              <a:rPr dirty="0" sz="2000" spc="-5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currently</a:t>
            </a:r>
            <a:r>
              <a:rPr dirty="0" sz="2000" spc="-15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1A1A2D"/>
                </a:solidFill>
                <a:latin typeface="Times New Roman"/>
                <a:cs typeface="Times New Roman"/>
              </a:rPr>
              <a:t>in</a:t>
            </a:r>
            <a:r>
              <a:rPr dirty="0" sz="2000" spc="-20" b="1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1A1A2D"/>
                </a:solidFill>
                <a:latin typeface="Times New Roman"/>
                <a:cs typeface="Times New Roman"/>
              </a:rPr>
              <a:t>preparation.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987" y="6435090"/>
            <a:ext cx="798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r>
              <a:rPr dirty="0" sz="1200" spc="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Aug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 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6976" y="6343015"/>
            <a:ext cx="4439285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01930" marR="5080" indent="-18986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808080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</a:t>
            </a:r>
            <a:r>
              <a:rPr dirty="0" sz="1200" spc="-1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Learning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1750" y="6343015"/>
            <a:ext cx="694944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730500" marR="5080" indent="-271843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and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Using</a:t>
            </a:r>
            <a:r>
              <a:rPr dirty="0" sz="1200" spc="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Deep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0125" y="961072"/>
            <a:ext cx="9817735" cy="4837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269240" algn="l"/>
              </a:tabLst>
            </a:pP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Baevski,</a:t>
            </a:r>
            <a:r>
              <a:rPr dirty="0" sz="2000" spc="-1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A.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et</a:t>
            </a:r>
            <a:r>
              <a:rPr dirty="0" sz="20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al.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wav2vec</a:t>
            </a:r>
            <a:r>
              <a:rPr dirty="0" sz="200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2.0:</a:t>
            </a:r>
            <a:r>
              <a:rPr dirty="0" sz="2000" spc="-9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dirty="0" sz="2000" spc="-1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framework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2000" spc="-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self-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speech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representations.</a:t>
            </a:r>
            <a:r>
              <a:rPr dirty="0" sz="2000" spc="-7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NeurIPS,</a:t>
            </a:r>
            <a:r>
              <a:rPr dirty="0" sz="2000" spc="-7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2020.</a:t>
            </a:r>
            <a:endParaRPr sz="2000">
              <a:latin typeface="Times New Roman"/>
              <a:cs typeface="Times New Roman"/>
            </a:endParaRPr>
          </a:p>
          <a:p>
            <a:pPr marL="12700" marR="766445" indent="314325">
              <a:lnSpc>
                <a:spcPct val="100000"/>
              </a:lnSpc>
              <a:spcBef>
                <a:spcPts val="605"/>
              </a:spcBef>
              <a:buAutoNum type="arabicPeriod" startAt="2"/>
              <a:tabLst>
                <a:tab pos="327025" algn="l"/>
              </a:tabLst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Hsu,</a:t>
            </a:r>
            <a:r>
              <a:rPr dirty="0" sz="2000" spc="-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75">
                <a:solidFill>
                  <a:srgbClr val="1A1A1A"/>
                </a:solidFill>
                <a:latin typeface="Times New Roman"/>
                <a:cs typeface="Times New Roman"/>
              </a:rPr>
              <a:t>W.-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N.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et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al.</a:t>
            </a:r>
            <a:r>
              <a:rPr dirty="0" sz="2000" spc="-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HuBERT: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Self-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speech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representation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by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masked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prediction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dirty="0" sz="2000" spc="-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hidden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units.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IEEE/ACM</a:t>
            </a:r>
            <a:r>
              <a:rPr dirty="0" sz="2000" spc="-65">
                <a:solidFill>
                  <a:srgbClr val="1A1A1A"/>
                </a:solidFill>
                <a:latin typeface="Times New Roman"/>
                <a:cs typeface="Times New Roman"/>
              </a:rPr>
              <a:t> TASLP,</a:t>
            </a:r>
            <a:r>
              <a:rPr dirty="0" sz="20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2021.</a:t>
            </a:r>
            <a:endParaRPr sz="2000">
              <a:latin typeface="Times New Roman"/>
              <a:cs typeface="Times New Roman"/>
            </a:endParaRPr>
          </a:p>
          <a:p>
            <a:pPr marL="327025" indent="-314325">
              <a:lnSpc>
                <a:spcPct val="100000"/>
              </a:lnSpc>
              <a:spcBef>
                <a:spcPts val="605"/>
              </a:spcBef>
              <a:buAutoNum type="arabicPeriod" startAt="2"/>
              <a:tabLst>
                <a:tab pos="327025" algn="l"/>
              </a:tabLst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Chen,</a:t>
            </a:r>
            <a:r>
              <a:rPr dirty="0" sz="2000" spc="-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S.</a:t>
            </a:r>
            <a:r>
              <a:rPr dirty="0" sz="2000" spc="-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et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al.</a:t>
            </a:r>
            <a:r>
              <a:rPr dirty="0" sz="2000" spc="-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WavLM: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Large-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scale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self-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pre-training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full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stack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speech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processing.</a:t>
            </a:r>
            <a:r>
              <a:rPr dirty="0" sz="2000" spc="-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IEEE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JSTSP,</a:t>
            </a:r>
            <a:r>
              <a:rPr dirty="0" sz="2000" spc="-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2022.</a:t>
            </a:r>
            <a:endParaRPr sz="2000">
              <a:latin typeface="Times New Roman"/>
              <a:cs typeface="Times New Roman"/>
            </a:endParaRPr>
          </a:p>
          <a:p>
            <a:pPr marL="327025" indent="-314325">
              <a:lnSpc>
                <a:spcPct val="100000"/>
              </a:lnSpc>
              <a:spcBef>
                <a:spcPts val="605"/>
              </a:spcBef>
              <a:buAutoNum type="arabicPeriod" startAt="4"/>
              <a:tabLst>
                <a:tab pos="327025" algn="l"/>
              </a:tabLst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Lea,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C.</a:t>
            </a:r>
            <a:r>
              <a:rPr dirty="0" sz="20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et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al.</a:t>
            </a:r>
            <a:r>
              <a:rPr dirty="0" sz="2000" spc="-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SEP-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28k:</a:t>
            </a:r>
            <a:r>
              <a:rPr dirty="0" sz="2000" spc="-10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dirty="0" sz="2000" spc="-17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dataset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2000" spc="-7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stuttering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event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detection.</a:t>
            </a:r>
            <a:r>
              <a:rPr dirty="0" sz="2000" spc="-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ICASSP,</a:t>
            </a:r>
            <a:r>
              <a:rPr dirty="0" sz="2000" spc="-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2021.</a:t>
            </a:r>
            <a:endParaRPr sz="2000">
              <a:latin typeface="Times New Roman"/>
              <a:cs typeface="Times New Roman"/>
            </a:endParaRPr>
          </a:p>
          <a:p>
            <a:pPr marL="12700" marR="66675" indent="314325">
              <a:lnSpc>
                <a:spcPct val="100000"/>
              </a:lnSpc>
              <a:spcBef>
                <a:spcPts val="605"/>
              </a:spcBef>
              <a:buAutoNum type="arabicPeriod" startAt="4"/>
              <a:tabLst>
                <a:tab pos="327025" algn="l"/>
              </a:tabLst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Bernstein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Ratner,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N.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&amp;</a:t>
            </a:r>
            <a:r>
              <a:rPr dirty="0" sz="2000" spc="-6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MacWhinney,</a:t>
            </a:r>
            <a:r>
              <a:rPr dirty="0" sz="20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B.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Fluency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Bank:</a:t>
            </a:r>
            <a:r>
              <a:rPr dirty="0" sz="2000" spc="-1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dirty="0" sz="2000" spc="-1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new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resource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2000" spc="-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fluency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research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and</a:t>
            </a:r>
            <a:r>
              <a:rPr dirty="0" sz="2000" spc="-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practice.</a:t>
            </a:r>
            <a:r>
              <a:rPr dirty="0" sz="20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Journal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dirty="0" sz="2000" spc="-7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Fluency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Disorders,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2018.</a:t>
            </a:r>
            <a:endParaRPr sz="2000">
              <a:latin typeface="Times New Roman"/>
              <a:cs typeface="Times New Roman"/>
            </a:endParaRPr>
          </a:p>
          <a:p>
            <a:pPr marL="12700" marR="5080" indent="314325">
              <a:lnSpc>
                <a:spcPct val="100000"/>
              </a:lnSpc>
              <a:spcBef>
                <a:spcPts val="610"/>
              </a:spcBef>
              <a:buAutoNum type="arabicPeriod" startAt="4"/>
              <a:tabLst>
                <a:tab pos="327025" algn="l"/>
              </a:tabLst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Graves,</a:t>
            </a:r>
            <a:r>
              <a:rPr dirty="0" sz="2000" spc="-1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A.</a:t>
            </a:r>
            <a:r>
              <a:rPr dirty="0" sz="2000" spc="-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et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al.</a:t>
            </a:r>
            <a:r>
              <a:rPr dirty="0" sz="20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Connectionist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temporal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classification: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Labelling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unsegmented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sequence 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data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with</a:t>
            </a:r>
            <a:r>
              <a:rPr dirty="0" sz="2000" spc="-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recurrent</a:t>
            </a:r>
            <a:r>
              <a:rPr dirty="0" sz="2000" spc="-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neural</a:t>
            </a:r>
            <a:r>
              <a:rPr dirty="0" sz="2000" spc="-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networks. ICML,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2006.</a:t>
            </a:r>
            <a:endParaRPr sz="2000">
              <a:latin typeface="Times New Roman"/>
              <a:cs typeface="Times New Roman"/>
            </a:endParaRPr>
          </a:p>
          <a:p>
            <a:pPr marL="327025" indent="-314325">
              <a:lnSpc>
                <a:spcPct val="100000"/>
              </a:lnSpc>
              <a:spcBef>
                <a:spcPts val="605"/>
              </a:spcBef>
              <a:buAutoNum type="arabicPeriod" startAt="4"/>
              <a:tabLst>
                <a:tab pos="327025" algn="l"/>
              </a:tabLst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Lin,</a:t>
            </a:r>
            <a:r>
              <a:rPr dirty="0" sz="2000" spc="-7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60">
                <a:solidFill>
                  <a:srgbClr val="1A1A1A"/>
                </a:solidFill>
                <a:latin typeface="Times New Roman"/>
                <a:cs typeface="Times New Roman"/>
              </a:rPr>
              <a:t>T.-</a:t>
            </a:r>
            <a:r>
              <a:rPr dirty="0" sz="2000" spc="-135">
                <a:solidFill>
                  <a:srgbClr val="1A1A1A"/>
                </a:solidFill>
                <a:latin typeface="Times New Roman"/>
                <a:cs typeface="Times New Roman"/>
              </a:rPr>
              <a:t>Y.</a:t>
            </a:r>
            <a:r>
              <a:rPr dirty="0" sz="200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et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al.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Focal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loss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2000" spc="-7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dense</a:t>
            </a:r>
            <a:r>
              <a:rPr dirty="0" sz="2000" spc="-7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object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detection.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ICCV,</a:t>
            </a:r>
            <a:r>
              <a:rPr dirty="0" sz="20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2017.</a:t>
            </a:r>
            <a:endParaRPr sz="2000">
              <a:latin typeface="Times New Roman"/>
              <a:cs typeface="Times New Roman"/>
            </a:endParaRPr>
          </a:p>
          <a:p>
            <a:pPr marL="327025" indent="-314325">
              <a:lnSpc>
                <a:spcPct val="100000"/>
              </a:lnSpc>
              <a:spcBef>
                <a:spcPts val="605"/>
              </a:spcBef>
              <a:buAutoNum type="arabicPeriod" startAt="4"/>
              <a:tabLst>
                <a:tab pos="327025" algn="l"/>
              </a:tabLst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Gulati,</a:t>
            </a:r>
            <a:r>
              <a:rPr dirty="0" sz="2000" spc="-1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A.</a:t>
            </a:r>
            <a:r>
              <a:rPr dirty="0" sz="2000" spc="-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et</a:t>
            </a:r>
            <a:r>
              <a:rPr dirty="0" sz="200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al.</a:t>
            </a:r>
            <a:r>
              <a:rPr dirty="0" sz="200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Conformer: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Convolution-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augmented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transformer</a:t>
            </a:r>
            <a:r>
              <a:rPr dirty="0" sz="2000" spc="-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speech</a:t>
            </a:r>
            <a:r>
              <a:rPr dirty="0" sz="2000" spc="-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recognition.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Interspeech,</a:t>
            </a:r>
            <a:r>
              <a:rPr dirty="0" sz="2000" spc="-6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2020.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845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  <a:r>
              <a:rPr dirty="0" sz="1800" spc="-10"/>
              <a:t>: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1750" y="6343015"/>
            <a:ext cx="6949440" cy="4000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730500" marR="5080" indent="-2718435">
              <a:lnSpc>
                <a:spcPct val="104299"/>
              </a:lnSpc>
              <a:spcBef>
                <a:spcPts val="40"/>
              </a:spcBef>
            </a:pPr>
            <a:r>
              <a:rPr dirty="0" sz="1200" spc="-10" b="1">
                <a:solidFill>
                  <a:srgbClr val="808080"/>
                </a:solidFill>
                <a:latin typeface="Times New Roman"/>
                <a:cs typeface="Times New Roman"/>
              </a:rPr>
              <a:t>RA2513003011012</a:t>
            </a:r>
            <a:r>
              <a:rPr dirty="0" sz="1200" spc="-10">
                <a:solidFill>
                  <a:srgbClr val="808080"/>
                </a:solidFill>
                <a:latin typeface="Calibri"/>
                <a:cs typeface="Calibri"/>
              </a:rPr>
              <a:t>,</a:t>
            </a:r>
            <a:r>
              <a:rPr dirty="0" sz="1200" spc="2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Multilingual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Stuttering</a:t>
            </a:r>
            <a:r>
              <a:rPr dirty="0" sz="1200" spc="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Speech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Detection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and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 Using</a:t>
            </a:r>
            <a:r>
              <a:rPr dirty="0" sz="1200" spc="3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1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Deep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Learning</a:t>
            </a:r>
            <a:r>
              <a:rPr dirty="0" sz="1200" spc="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1451" y="6435090"/>
            <a:ext cx="17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13"/>
            <a:ext cx="1918017" cy="5156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2" y="267089"/>
            <a:ext cx="1417987" cy="5404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5902" y="3318695"/>
            <a:ext cx="5188381" cy="887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2026-09-21T07:28:05Z</dcterms:created>
  <dcterms:modified xsi:type="dcterms:W3CDTF">2026-09-21T07:28:05Z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2026-09-18T00:00:00Z</vt:filetime>
  </property>
  <property fmtid="{D5CDD505-2E9C-101B-9397-08002B2CF9AE}" pid="4" name="LastSaved">
    <vt:filetime>2026-09-21T00:00:00Z</vt:filetime>
  </property>
</Properties>
</file>