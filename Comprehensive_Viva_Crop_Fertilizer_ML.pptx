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jpg" ContentType="image/jp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02A3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2A3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2A3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2A3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5413" y="229615"/>
            <a:ext cx="443166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02A3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31950" y="2335148"/>
            <a:ext cx="9461500" cy="192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jpg"/><Relationship Id="rId12" Type="http://schemas.openxmlformats.org/officeDocument/2006/relationships/image" Target="../media/image2.png"/><Relationship Id="rId13" Type="http://schemas.openxmlformats.org/officeDocument/2006/relationships/image" Target="../media/image18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rosdebbu/l-data-seT---ML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hyperlink" Target="https://github.com/rosdebbu/l-data-seT---ML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599" y="265163"/>
            <a:ext cx="4461510" cy="6300470"/>
            <a:chOff x="274599" y="265163"/>
            <a:chExt cx="4461510" cy="6300470"/>
          </a:xfrm>
        </p:grpSpPr>
        <p:sp>
          <p:nvSpPr>
            <p:cNvPr id="3" name="object 3"/>
            <p:cNvSpPr/>
            <p:nvPr/>
          </p:nvSpPr>
          <p:spPr>
            <a:xfrm>
              <a:off x="338137" y="328701"/>
              <a:ext cx="4333875" cy="6173470"/>
            </a:xfrm>
            <a:custGeom>
              <a:avLst/>
              <a:gdLst/>
              <a:ahLst/>
              <a:cxnLst/>
              <a:rect l="l" t="t" r="r" b="b"/>
              <a:pathLst>
                <a:path w="4333875" h="6173470">
                  <a:moveTo>
                    <a:pt x="4333875" y="0"/>
                  </a:moveTo>
                  <a:lnTo>
                    <a:pt x="0" y="0"/>
                  </a:lnTo>
                  <a:lnTo>
                    <a:pt x="0" y="6172962"/>
                  </a:lnTo>
                  <a:lnTo>
                    <a:pt x="4333875" y="6172962"/>
                  </a:lnTo>
                  <a:lnTo>
                    <a:pt x="4333875" y="0"/>
                  </a:lnTo>
                  <a:close/>
                </a:path>
              </a:pathLst>
            </a:custGeom>
            <a:solidFill>
              <a:srgbClr val="404040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38137" y="328701"/>
              <a:ext cx="4333875" cy="6173470"/>
            </a:xfrm>
            <a:custGeom>
              <a:avLst/>
              <a:gdLst/>
              <a:ahLst/>
              <a:cxnLst/>
              <a:rect l="l" t="t" r="r" b="b"/>
              <a:pathLst>
                <a:path w="4333875" h="6173470">
                  <a:moveTo>
                    <a:pt x="0" y="6172962"/>
                  </a:moveTo>
                  <a:lnTo>
                    <a:pt x="4333875" y="6172962"/>
                  </a:lnTo>
                  <a:lnTo>
                    <a:pt x="4333875" y="0"/>
                  </a:lnTo>
                  <a:lnTo>
                    <a:pt x="0" y="0"/>
                  </a:lnTo>
                  <a:lnTo>
                    <a:pt x="0" y="6172962"/>
                  </a:lnTo>
                  <a:close/>
                </a:path>
              </a:pathLst>
            </a:custGeom>
            <a:ln w="127076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3578" y="471551"/>
            <a:ext cx="6101080" cy="16189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3088513"/>
            <a:ext cx="4882515" cy="184810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78942" y="77715"/>
            <a:ext cx="3364229" cy="33845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725805">
              <a:lnSpc>
                <a:spcPct val="153300"/>
              </a:lnSpc>
              <a:spcBef>
                <a:spcPts val="95"/>
              </a:spcBef>
            </a:pPr>
            <a:r>
              <a:rPr dirty="0" sz="2400" spc="-20">
                <a:solidFill>
                  <a:srgbClr val="FFFFFF"/>
                </a:solidFill>
              </a:rPr>
              <a:t>AI-</a:t>
            </a:r>
            <a:r>
              <a:rPr dirty="0" sz="2400">
                <a:solidFill>
                  <a:srgbClr val="FFFFFF"/>
                </a:solidFill>
              </a:rPr>
              <a:t>Driven</a:t>
            </a:r>
            <a:r>
              <a:rPr dirty="0" sz="2400" spc="-15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Precision Agriculture:</a:t>
            </a:r>
            <a:endParaRPr sz="2400"/>
          </a:p>
          <a:p>
            <a:pPr marL="12700" marR="5080">
              <a:lnSpc>
                <a:spcPct val="153000"/>
              </a:lnSpc>
              <a:tabLst>
                <a:tab pos="3313429" algn="l"/>
              </a:tabLst>
            </a:pPr>
            <a:r>
              <a:rPr dirty="0" sz="2400">
                <a:solidFill>
                  <a:srgbClr val="FFFFFF"/>
                </a:solidFill>
              </a:rPr>
              <a:t>Crop</a:t>
            </a:r>
            <a:r>
              <a:rPr dirty="0" sz="2400" spc="-75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Recommendation </a:t>
            </a:r>
            <a:r>
              <a:rPr dirty="0" sz="2400">
                <a:solidFill>
                  <a:srgbClr val="FFFFFF"/>
                </a:solidFill>
              </a:rPr>
              <a:t>and</a:t>
            </a:r>
            <a:r>
              <a:rPr dirty="0" sz="2400" spc="-3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Fertilizer</a:t>
            </a:r>
            <a:r>
              <a:rPr dirty="0" sz="2400" spc="-5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Prediction </a:t>
            </a:r>
            <a:r>
              <a:rPr dirty="0" sz="2400">
                <a:solidFill>
                  <a:srgbClr val="FFFFFF"/>
                </a:solidFill>
              </a:rPr>
              <a:t>Using</a:t>
            </a:r>
            <a:r>
              <a:rPr dirty="0" sz="2400" spc="-9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Advanced</a:t>
            </a:r>
            <a:r>
              <a:rPr dirty="0" sz="2400" spc="-8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Machine </a:t>
            </a:r>
            <a:r>
              <a:rPr dirty="0" sz="2400">
                <a:solidFill>
                  <a:srgbClr val="FFFFFF"/>
                </a:solidFill>
              </a:rPr>
              <a:t>Lear</a:t>
            </a:r>
            <a:r>
              <a:rPr dirty="0" u="sng" sz="2400">
                <a:solidFill>
                  <a:srgbClr val="FFFFFF"/>
                </a:solidFill>
                <a:uFill>
                  <a:solidFill>
                    <a:srgbClr val="D9D9D9"/>
                  </a:solidFill>
                </a:uFill>
              </a:rPr>
              <a:t>ning</a:t>
            </a:r>
            <a:r>
              <a:rPr dirty="0" u="sng" sz="2400" spc="-35">
                <a:solidFill>
                  <a:srgbClr val="FFFFFF"/>
                </a:solidFill>
                <a:uFill>
                  <a:solidFill>
                    <a:srgbClr val="D9D9D9"/>
                  </a:solidFill>
                </a:uFill>
              </a:rPr>
              <a:t> </a:t>
            </a:r>
            <a:r>
              <a:rPr dirty="0" u="sng" sz="2400" spc="-10">
                <a:solidFill>
                  <a:srgbClr val="FFFFFF"/>
                </a:solidFill>
                <a:uFill>
                  <a:solidFill>
                    <a:srgbClr val="D9D9D9"/>
                  </a:solidFill>
                </a:uFill>
              </a:rPr>
              <a:t>Frameworks</a:t>
            </a:r>
            <a:r>
              <a:rPr dirty="0" u="sng" sz="2400">
                <a:solidFill>
                  <a:srgbClr val="FFFFFF"/>
                </a:solidFill>
                <a:uFill>
                  <a:solidFill>
                    <a:srgbClr val="D9D9D9"/>
                  </a:solidFill>
                </a:uFill>
              </a:rPr>
              <a:t>	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739851" y="3578507"/>
            <a:ext cx="3277235" cy="176148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37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CANDIDATE</a:t>
            </a:r>
            <a:r>
              <a:rPr dirty="0" sz="12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NAMES</a:t>
            </a:r>
            <a:endParaRPr sz="1200">
              <a:latin typeface="Times New Roman"/>
              <a:cs typeface="Times New Roman"/>
            </a:endParaRPr>
          </a:p>
          <a:p>
            <a:pPr marL="12700" marR="284480">
              <a:lnSpc>
                <a:spcPts val="1860"/>
              </a:lnSpc>
              <a:spcBef>
                <a:spcPts val="110"/>
              </a:spcBef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DEBJIT</a:t>
            </a:r>
            <a:r>
              <a:rPr dirty="0" sz="13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DAS</a:t>
            </a:r>
            <a:r>
              <a:rPr dirty="0" sz="1300" spc="3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00" spc="3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RA2411056010276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ANSHUMAAN</a:t>
            </a:r>
            <a:r>
              <a:rPr dirty="0" sz="13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DAS</a:t>
            </a:r>
            <a:r>
              <a:rPr dirty="0" sz="1300" spc="2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00" spc="2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RA2411056010283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B.Tech</a:t>
            </a:r>
            <a:r>
              <a:rPr dirty="0" sz="11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11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dirty="0" sz="11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dirty="0" sz="11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1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100" b="1">
                <a:solidFill>
                  <a:srgbClr val="FFFFFF"/>
                </a:solidFill>
                <a:latin typeface="Times New Roman"/>
                <a:cs typeface="Times New Roman"/>
              </a:rPr>
              <a:t>School</a:t>
            </a:r>
            <a:r>
              <a:rPr dirty="0" sz="11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100" spc="-10" b="1">
                <a:solidFill>
                  <a:srgbClr val="FFFFFF"/>
                </a:solidFill>
                <a:latin typeface="Times New Roman"/>
                <a:cs typeface="Times New Roman"/>
              </a:rPr>
              <a:t> Computing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dirty="0" sz="1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VIVA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Faculty</a:t>
            </a:r>
            <a:r>
              <a:rPr dirty="0" sz="11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1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11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1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SRM</a:t>
            </a: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sz="11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1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dirty="0" sz="11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1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FFFFF"/>
                </a:solidFill>
                <a:latin typeface="Times New Roman"/>
                <a:cs typeface="Times New Roman"/>
              </a:rPr>
              <a:t>Technology,</a:t>
            </a:r>
            <a:r>
              <a:rPr dirty="0" sz="11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Kattankulathur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7927" y="4774183"/>
            <a:ext cx="6142355" cy="1914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F3863"/>
                </a:solidFill>
                <a:latin typeface="Times New Roman"/>
                <a:cs typeface="Times New Roman"/>
              </a:rPr>
              <a:t>AI-</a:t>
            </a: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Driven</a:t>
            </a:r>
            <a:r>
              <a:rPr dirty="0" sz="2400" spc="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Precision</a:t>
            </a:r>
            <a:r>
              <a:rPr dirty="0" sz="24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F3863"/>
                </a:solidFill>
                <a:latin typeface="Times New Roman"/>
                <a:cs typeface="Times New Roman"/>
              </a:rPr>
              <a:t>Agriculture:</a:t>
            </a:r>
            <a:endParaRPr sz="2400">
              <a:latin typeface="Times New Roman"/>
              <a:cs typeface="Times New Roman"/>
            </a:endParaRPr>
          </a:p>
          <a:p>
            <a:pPr marL="2336800" marR="5080">
              <a:lnSpc>
                <a:spcPct val="104099"/>
              </a:lnSpc>
            </a:pP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Crop</a:t>
            </a:r>
            <a:r>
              <a:rPr dirty="0" sz="2400" spc="-9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Recommendation</a:t>
            </a:r>
            <a:r>
              <a:rPr dirty="0" sz="2400" spc="-9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F3863"/>
                </a:solidFill>
                <a:latin typeface="Times New Roman"/>
                <a:cs typeface="Times New Roman"/>
              </a:rPr>
              <a:t>and </a:t>
            </a: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Fertilizer</a:t>
            </a:r>
            <a:r>
              <a:rPr dirty="0" sz="24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Prediction</a:t>
            </a:r>
            <a:r>
              <a:rPr dirty="0" sz="2400" spc="-8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F3863"/>
                </a:solidFill>
                <a:latin typeface="Times New Roman"/>
                <a:cs typeface="Times New Roman"/>
              </a:rPr>
              <a:t>Using </a:t>
            </a: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Advanced</a:t>
            </a:r>
            <a:r>
              <a:rPr dirty="0" sz="24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3863"/>
                </a:solidFill>
                <a:latin typeface="Times New Roman"/>
                <a:cs typeface="Times New Roman"/>
              </a:rPr>
              <a:t>Machine</a:t>
            </a:r>
            <a:r>
              <a:rPr dirty="0" sz="24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F3863"/>
                </a:solidFill>
                <a:latin typeface="Times New Roman"/>
                <a:cs typeface="Times New Roman"/>
              </a:rPr>
              <a:t>Learning Frameworks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27028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7575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0127" y="6225641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0905" y="2451354"/>
            <a:ext cx="41141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2D5395"/>
                </a:solidFill>
                <a:latin typeface="Times New Roman"/>
                <a:cs typeface="Times New Roman"/>
              </a:rPr>
              <a:t>Comprehensive</a:t>
            </a:r>
            <a:r>
              <a:rPr dirty="0" sz="2200" spc="-6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2D5395"/>
                </a:solidFill>
                <a:latin typeface="Times New Roman"/>
                <a:cs typeface="Times New Roman"/>
              </a:rPr>
              <a:t>Project</a:t>
            </a:r>
            <a:r>
              <a:rPr dirty="0" sz="2200" spc="-7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2D5395"/>
                </a:solidFill>
                <a:latin typeface="Times New Roman"/>
                <a:cs typeface="Times New Roman"/>
              </a:rPr>
              <a:t>Viva</a:t>
            </a:r>
            <a:r>
              <a:rPr dirty="0" sz="2200" spc="-8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2200" spc="-20" b="1">
                <a:solidFill>
                  <a:srgbClr val="2D5395"/>
                </a:solidFill>
                <a:latin typeface="Times New Roman"/>
                <a:cs typeface="Times New Roman"/>
              </a:rPr>
              <a:t>Voce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5221" y="382600"/>
            <a:ext cx="178308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>
                <a:solidFill>
                  <a:srgbClr val="000000"/>
                </a:solidFill>
              </a:rPr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5440" y="6327444"/>
            <a:ext cx="565277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626870" marR="5080" indent="-161417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0444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94789" y="1348587"/>
            <a:ext cx="5205095" cy="404939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08279" indent="-183515">
              <a:lnSpc>
                <a:spcPct val="100000"/>
              </a:lnSpc>
              <a:spcBef>
                <a:spcPts val="700"/>
              </a:spcBef>
              <a:buChar char="•"/>
              <a:tabLst>
                <a:tab pos="208279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Course</a:t>
            </a:r>
            <a:r>
              <a:rPr dirty="0" sz="1700" spc="-4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Work</a:t>
            </a:r>
            <a:r>
              <a:rPr dirty="0" sz="1700" spc="-3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/</a:t>
            </a:r>
            <a:r>
              <a:rPr dirty="0" sz="1700" spc="-1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Lab</a:t>
            </a:r>
            <a:r>
              <a:rPr dirty="0" sz="1700" spc="-1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Foundation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Introduction</a:t>
            </a:r>
            <a:r>
              <a:rPr dirty="0" sz="1700" spc="-3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&amp;</a:t>
            </a:r>
            <a:r>
              <a:rPr dirty="0" sz="1700" spc="-3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Motivation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Literature</a:t>
            </a:r>
            <a:r>
              <a:rPr dirty="0" sz="1700" spc="-5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Survey</a:t>
            </a:r>
            <a:r>
              <a:rPr dirty="0" sz="1700" spc="-2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(10</a:t>
            </a:r>
            <a:r>
              <a:rPr dirty="0" sz="1700" spc="-3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Comprehensive</a:t>
            </a:r>
            <a:r>
              <a:rPr dirty="0" sz="1700" spc="-4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Studies)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Research</a:t>
            </a:r>
            <a:r>
              <a:rPr dirty="0" sz="1700" spc="-4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Gap</a:t>
            </a:r>
            <a:r>
              <a:rPr dirty="0" sz="1700" spc="-1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&amp;</a:t>
            </a:r>
            <a:r>
              <a:rPr dirty="0" sz="1700" spc="-1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Problem</a:t>
            </a:r>
            <a:r>
              <a:rPr dirty="0" sz="1700" spc="-3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Formulation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Problem</a:t>
            </a:r>
            <a:r>
              <a:rPr dirty="0" sz="1700" spc="-2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Statement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Proposed</a:t>
            </a:r>
            <a:r>
              <a:rPr dirty="0" sz="1700" spc="-5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Objectives</a:t>
            </a:r>
            <a:r>
              <a:rPr dirty="0" sz="1700" spc="-4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Overview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Objective</a:t>
            </a:r>
            <a:r>
              <a:rPr dirty="0" sz="1700" spc="-2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1:</a:t>
            </a:r>
            <a:r>
              <a:rPr dirty="0" sz="1700" spc="-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Agro-Climatic</a:t>
            </a:r>
            <a:r>
              <a:rPr dirty="0" sz="1700" spc="-3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Preprocessing</a:t>
            </a:r>
            <a:r>
              <a:rPr dirty="0" sz="1700" spc="-3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&amp;</a:t>
            </a:r>
            <a:r>
              <a:rPr dirty="0" sz="1700" spc="-1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Features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Objective</a:t>
            </a:r>
            <a:r>
              <a:rPr dirty="0" sz="1700" spc="-3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2:</a:t>
            </a:r>
            <a:r>
              <a:rPr dirty="0" sz="1700" spc="-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Dual-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Engine</a:t>
            </a:r>
            <a:r>
              <a:rPr dirty="0" sz="1700" spc="-1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Cascaded</a:t>
            </a:r>
            <a:r>
              <a:rPr dirty="0" sz="1700" spc="-4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ML</a:t>
            </a:r>
            <a:r>
              <a:rPr dirty="0" sz="1700" spc="-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Architecture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Objective</a:t>
            </a:r>
            <a:r>
              <a:rPr dirty="0" sz="1700" spc="-3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3: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 Full-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Stack</a:t>
            </a:r>
            <a:r>
              <a:rPr dirty="0" sz="1700" spc="-2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Web</a:t>
            </a:r>
            <a:r>
              <a:rPr dirty="0" sz="1700" spc="-2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Deployment</a:t>
            </a:r>
            <a:r>
              <a:rPr dirty="0" sz="1700" spc="-4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&amp;</a:t>
            </a:r>
            <a:r>
              <a:rPr dirty="0" sz="1700" spc="-2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Field</a:t>
            </a:r>
            <a:r>
              <a:rPr dirty="0" sz="1700" spc="-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25" b="1">
                <a:solidFill>
                  <a:srgbClr val="44526A"/>
                </a:solidFill>
                <a:latin typeface="Times New Roman"/>
                <a:cs typeface="Times New Roman"/>
              </a:rPr>
              <a:t>DSS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Project</a:t>
            </a:r>
            <a:r>
              <a:rPr dirty="0" sz="1700" spc="-5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Milestones</a:t>
            </a:r>
            <a:r>
              <a:rPr dirty="0" sz="1700" spc="-2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&amp;</a:t>
            </a:r>
            <a:r>
              <a:rPr dirty="0" sz="1700" spc="-2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Timeline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Publications</a:t>
            </a:r>
            <a:r>
              <a:rPr dirty="0" sz="1700" spc="-3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&amp;</a:t>
            </a:r>
            <a:r>
              <a:rPr dirty="0" sz="1700" spc="-3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Research</a:t>
            </a:r>
            <a:r>
              <a:rPr dirty="0" sz="1700" spc="-5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Dissemination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Char char="•"/>
              <a:tabLst>
                <a:tab pos="196215" algn="l"/>
              </a:tabLst>
            </a:pP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References</a:t>
            </a:r>
            <a:r>
              <a:rPr dirty="0" sz="1700" spc="-50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44526A"/>
                </a:solidFill>
                <a:latin typeface="Times New Roman"/>
                <a:cs typeface="Times New Roman"/>
              </a:rPr>
              <a:t>&amp;</a:t>
            </a:r>
            <a:r>
              <a:rPr dirty="0" sz="1700" spc="-25" b="1">
                <a:solidFill>
                  <a:srgbClr val="44526A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44526A"/>
                </a:solidFill>
                <a:latin typeface="Times New Roman"/>
                <a:cs typeface="Times New Roman"/>
              </a:rPr>
              <a:t>Conclusion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14165" y="402082"/>
            <a:ext cx="49999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COURSE</a:t>
            </a:r>
            <a:r>
              <a:rPr dirty="0" spc="-18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WORK</a:t>
            </a:r>
            <a:r>
              <a:rPr dirty="0" spc="-1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8629" y="6327444"/>
            <a:ext cx="494411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01420" marR="5080" indent="-1188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5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0444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70050" y="2335148"/>
          <a:ext cx="9461500" cy="1924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1430"/>
                <a:gridCol w="2899410"/>
                <a:gridCol w="1177925"/>
                <a:gridCol w="2742565"/>
              </a:tblGrid>
              <a:tr h="6413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dirty="0" sz="18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BA5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r>
                        <a:rPr dirty="0" sz="18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BA5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BA5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60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Month</a:t>
                      </a:r>
                      <a:r>
                        <a:rPr dirty="0" sz="18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dirty="0" sz="18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Completion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BA58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91440" marR="5518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Anshumaan</a:t>
                      </a:r>
                      <a:r>
                        <a:rPr dirty="0" sz="18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Das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(RA2411056010283)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38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Machine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Learning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Analytics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(21CSC307P)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SEP-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2026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NOV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91440" marR="5518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Debjit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Das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(RA2411056010276)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3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Machine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Learning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Analytics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(21CSC307P)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SEP-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2026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NOV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8078" y="6324396"/>
            <a:ext cx="5111115" cy="521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Agriculture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primary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livelihood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over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58%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India's</a:t>
            </a:r>
            <a:endParaRPr sz="1600">
              <a:latin typeface="Times New Roman"/>
              <a:cs typeface="Times New Roman"/>
            </a:endParaRPr>
          </a:p>
          <a:p>
            <a:pPr marL="1201420">
              <a:lnSpc>
                <a:spcPct val="100000"/>
              </a:lnSpc>
              <a:spcBef>
                <a:spcPts val="70"/>
              </a:spcBef>
            </a:pPr>
            <a:r>
              <a:rPr dirty="0" sz="1600">
                <a:latin typeface="Times New Roman"/>
                <a:cs typeface="Times New Roman"/>
              </a:rPr>
              <a:t>population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constitutes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~18%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national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80444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5876" y="1318386"/>
            <a:ext cx="10643870" cy="337248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11150" marR="939800" indent="-287020">
              <a:lnSpc>
                <a:spcPct val="77200"/>
              </a:lnSpc>
              <a:spcBef>
                <a:spcPts val="530"/>
              </a:spcBef>
              <a:buFont typeface="Arial MT"/>
              <a:buChar char="•"/>
              <a:tabLst>
                <a:tab pos="311150" algn="l"/>
              </a:tabLst>
            </a:pPr>
            <a:r>
              <a:rPr dirty="0" sz="1600">
                <a:latin typeface="Times New Roman"/>
                <a:cs typeface="Times New Roman"/>
              </a:rPr>
              <a:t>Agriculture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primary livelihood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over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58%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India's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population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constitutes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~18%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national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GDP. </a:t>
            </a:r>
            <a:r>
              <a:rPr dirty="0" sz="1600">
                <a:latin typeface="Times New Roman"/>
                <a:cs typeface="Times New Roman"/>
              </a:rPr>
              <a:t>However,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traditional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farming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subjective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intuition,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leading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chronic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crop-soil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mismatches,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soil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nutrient </a:t>
            </a:r>
            <a:r>
              <a:rPr dirty="0" sz="1600">
                <a:latin typeface="Times New Roman"/>
                <a:cs typeface="Times New Roman"/>
              </a:rPr>
              <a:t>exhaustion,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heavy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yield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losses.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Soil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fertility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governed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vital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macro-</a:t>
            </a:r>
            <a:r>
              <a:rPr dirty="0" sz="1600">
                <a:latin typeface="Times New Roman"/>
                <a:cs typeface="Times New Roman"/>
              </a:rPr>
              <a:t>nutrients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(Nitrogen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Phosphorus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Potassium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K)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interacting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non-linearly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with </a:t>
            </a:r>
            <a:r>
              <a:rPr dirty="0" sz="1600">
                <a:latin typeface="Times New Roman"/>
                <a:cs typeface="Times New Roman"/>
              </a:rPr>
              <a:t>dynamic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climatic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variables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including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temperature,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relative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humidity,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soil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pH,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precipitation.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Unbalanced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chemical</a:t>
            </a:r>
            <a:r>
              <a:rPr dirty="0" sz="1600" spc="-10">
                <a:latin typeface="Times New Roman"/>
                <a:cs typeface="Times New Roman"/>
              </a:rPr>
              <a:t> fertilizer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degrades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arable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causes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extreme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economic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stress.</a:t>
            </a:r>
            <a:endParaRPr sz="1600">
              <a:latin typeface="Times New Roman"/>
              <a:cs typeface="Times New Roman"/>
            </a:endParaRPr>
          </a:p>
          <a:p>
            <a:pPr marL="299085" marR="589280" indent="-28702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Automated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Machine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Learning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decision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support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offer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paradigm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shift: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data-driven,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site-</a:t>
            </a:r>
            <a:r>
              <a:rPr dirty="0" sz="1600">
                <a:latin typeface="Times New Roman"/>
                <a:cs typeface="Times New Roman"/>
              </a:rPr>
              <a:t>specific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crop </a:t>
            </a:r>
            <a:r>
              <a:rPr dirty="0" sz="1600">
                <a:latin typeface="Times New Roman"/>
                <a:cs typeface="Times New Roman"/>
              </a:rPr>
              <a:t>recommendation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tailored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fertilizer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deficit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diagnosis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maximize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crop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productivity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while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preserving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ecological sustainability.</a:t>
            </a:r>
            <a:endParaRPr sz="1600">
              <a:latin typeface="Times New Roman"/>
              <a:cs typeface="Times New Roman"/>
            </a:endParaRPr>
          </a:p>
          <a:p>
            <a:pPr algn="just" marL="299085" marR="385445" indent="-28702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299085" algn="l"/>
                <a:tab pos="300355" algn="l"/>
              </a:tabLst>
            </a:pPr>
            <a:r>
              <a:rPr dirty="0" sz="1600">
                <a:latin typeface="Times New Roman"/>
                <a:cs typeface="Times New Roman"/>
              </a:rPr>
              <a:t>	Existing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either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predict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crop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type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fertilizer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independently.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bridges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critical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gap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 </a:t>
            </a:r>
            <a:r>
              <a:rPr dirty="0" sz="1600">
                <a:latin typeface="Times New Roman"/>
                <a:cs typeface="Times New Roman"/>
              </a:rPr>
              <a:t>integrated,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dual-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ML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architecture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cascades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crop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recommendations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directly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customized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fertilizer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deficiency </a:t>
            </a:r>
            <a:r>
              <a:rPr dirty="0" sz="1600">
                <a:latin typeface="Times New Roman"/>
                <a:cs typeface="Times New Roman"/>
              </a:rPr>
              <a:t>remedies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 field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advisory.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549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000000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720" y="6427114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2172" y="6463995"/>
            <a:ext cx="494411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00785" marR="5080" indent="-1188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5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80444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68515" y="881189"/>
          <a:ext cx="11443970" cy="5071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Pudumalar,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Ramanujam,</a:t>
                      </a:r>
                      <a:r>
                        <a:rPr dirty="0" sz="14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Rajashree,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Kavitha,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Kiruthika,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J.</a:t>
                      </a:r>
                      <a:r>
                        <a:rPr dirty="0" sz="14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Prasmitha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9505">
                <a:tc>
                  <a:txBody>
                    <a:bodyPr/>
                    <a:lstStyle/>
                    <a:p>
                      <a:pPr algn="ctr" marL="196850" marR="19113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“Crop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Recommendation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Agriculture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Learning,”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Proc.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Eighth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Conference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(ICoAC),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32–36,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2017.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2045">
                <a:tc>
                  <a:txBody>
                    <a:bodyPr/>
                    <a:lstStyle/>
                    <a:p>
                      <a:pPr marL="21590" marR="13970" indent="13525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6203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Extracts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macro-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nutrients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(N,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K, pH)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</a:t>
                      </a:r>
                      <a:r>
                        <a:rPr dirty="0" sz="1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framework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combining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Forest,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Bayes,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SVM,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KNN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majority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voting.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08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benchmark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classical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learning;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staple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crops;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bagging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individual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variance.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highest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(~90.2%),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demonstrating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non-linear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tree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ensembles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chemical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boundary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classifiers.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4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localized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5 crops;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recommendation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component;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purely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offline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desktop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implementation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real-time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capability.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720" y="6427114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8629" y="6327444"/>
            <a:ext cx="494411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01420" marR="5080" indent="-1188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5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80444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60527" y="900239"/>
          <a:ext cx="11443335" cy="5296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Kumar,</a:t>
                      </a:r>
                      <a:r>
                        <a:rPr dirty="0" sz="14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Singh,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Prabhat,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V. K.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Singh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9505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6953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“Crop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Selection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Yield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Prediction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Multi-Spectral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Climatic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Factors,”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Computers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Electronics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(Elsevier),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175,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105584,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2020.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21590" marR="13970" indent="13525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565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Applies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Regression,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CART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Trees,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Gradient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Boosting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Regressors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historical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meteorological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soil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card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Indian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agro-climatic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zones.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8923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district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empirical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dataset;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seasonal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monsoon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rainfall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fluctuations;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incorporates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organic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carbon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micro-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profiles.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91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Tree-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non-linear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regressors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outperformed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18%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R² score,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proving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weather-soil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interactions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exhibit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non-linear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thresholds.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91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4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5594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strictly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yield estimation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categorical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recommendation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prescription;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sensitivity</a:t>
                      </a:r>
                      <a:r>
                        <a:rPr dirty="0" sz="14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extreme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rainfall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anomalies;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computationally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heavy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devices.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720" y="6427114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0444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0527" y="900239"/>
          <a:ext cx="11452860" cy="5387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46894"/>
              </a:tblGrid>
              <a:tr h="5988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Sharma,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Jain,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Gupta,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Chouhan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“Machine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Recommendation: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Comprehensive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Analysis,”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Access,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9,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pp.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161704–161725,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2021.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6965">
                <a:tc>
                  <a:txBody>
                    <a:bodyPr/>
                    <a:lstStyle/>
                    <a:p>
                      <a:pPr marL="21590" marR="13970" indent="13525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96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Surveys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designs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multi-class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utilizing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XGBoost,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Forest,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Vector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Machines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conditioned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chemical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types.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Comprehensive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commercial fertilizer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formulations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(Urea,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DAP,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NPK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complexes);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metric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(F1-score,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Cohen's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Kappa,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ROC-AUC).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605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Gradient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boosted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trees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&gt;95%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grades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N-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deficits,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tabular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chemical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well-suited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trees.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136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Treated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prediction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as an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isolated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assuming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choice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is already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user;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modeling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crop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selection;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account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moisture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dynamics.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80444" y="642680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1718" y="774636"/>
          <a:ext cx="11443335" cy="5770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17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Suchithra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Maya L.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Pai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274445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635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“Deep Learning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Architectures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Suitability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Variables,”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Ambient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Intelligence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Humanized Computing,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11,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10,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4347–4360,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2020.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274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Designs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Multi-Layer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Perceptrons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(MLP)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1D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Networks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(1D-CNN)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latent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representations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chemistry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climate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series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suitability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08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854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representation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learning;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hierarchy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extraction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crafting;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both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regional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national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datasets.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0039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networks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matched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(~96.5%)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epochs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resources,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indicating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networks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overfitting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tabular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datasets.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68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911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overhead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parameter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footprint;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black-box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nature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hinders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agronomist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interpretability;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prone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catastrophic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forgetting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adapted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regional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micro-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climates.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15167" y="6477685"/>
            <a:ext cx="149860" cy="153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55">
                <a:solidFill>
                  <a:srgbClr val="878787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7329" y="873696"/>
          <a:ext cx="11443335" cy="571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62293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Maya</a:t>
                      </a:r>
                      <a:r>
                        <a:rPr dirty="0" sz="14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Gopal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Bhargavi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“Feature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Selection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Selection,”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Computers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Electronics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Agriculture,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161,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115–124,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2019.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299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Applies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recursive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elimination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(RFE),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correlation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matrices,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Principal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Component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(PCA)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soil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parameters,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followed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C4.5,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Bayes, 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KNN.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835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dimensionality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reduction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importance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ranking;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reveals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Nitrogen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Rainfall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dominant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predictors</a:t>
                      </a:r>
                      <a:r>
                        <a:rPr dirty="0" sz="14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grain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legume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varieties.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7716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Pruning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low-variance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redundant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42%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preserving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98%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classification accuracy.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770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2965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transformation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obscured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interpretability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N-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ratios;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cascading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downstream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fertilizer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advisory;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solely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historical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records.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6628" y="6530137"/>
            <a:ext cx="399605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Transcription</a:t>
            </a:r>
            <a:r>
              <a:rPr dirty="0" sz="1200" spc="-3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Using</a:t>
            </a:r>
            <a:r>
              <a:rPr dirty="0" sz="1200" spc="2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808080"/>
                </a:solidFill>
                <a:latin typeface="Cambria"/>
                <a:cs typeface="Cambria"/>
              </a:rPr>
              <a:t>Advanced</a:t>
            </a:r>
            <a:r>
              <a:rPr dirty="0" sz="1200" spc="-40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808080"/>
                </a:solidFill>
                <a:latin typeface="Cambria"/>
                <a:cs typeface="Cambria"/>
              </a:rPr>
              <a:t>Deep Learning</a:t>
            </a:r>
            <a:r>
              <a:rPr dirty="0" sz="1200" spc="25" b="1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808080"/>
                </a:solidFill>
                <a:latin typeface="Cambria"/>
                <a:cs typeface="Cambria"/>
              </a:rPr>
              <a:t>Techniques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0097" y="6327315"/>
            <a:ext cx="6905625" cy="164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0"/>
              </a:lnSpc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-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 Crop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ML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0527" y="865314"/>
          <a:ext cx="11443335" cy="572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J.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Bondre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Mahagaonkar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9505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64389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“Prediction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Yield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Recommendation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Bayes,”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Science,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10,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24–28,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2019.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 marL="21590" marR="13970" indent="13525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778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Proposes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dual-stage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conceptual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Bayes</a:t>
                      </a:r>
                      <a:r>
                        <a:rPr dirty="0" sz="14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predicts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crops,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followed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rule-based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lookup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 fertilizer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quantities.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23685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Attempts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connect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selection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advisory;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extension services.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168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Demonstrated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practical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necessity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linking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choice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management; highlighted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farmer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dissatisfaction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when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receiving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advice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actionable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remedies.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2628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relied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rigid,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lookup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tables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machine-learned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models;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Bayes</a:t>
                      </a:r>
                      <a:r>
                        <a:rPr dirty="0" sz="14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conditional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independence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assumption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failed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correlated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(N,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K).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15167" y="6477685"/>
            <a:ext cx="149860" cy="153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55">
                <a:solidFill>
                  <a:srgbClr val="878787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6263" y="832548"/>
          <a:ext cx="11443335" cy="5719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66103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V.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Sellam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Sasikala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 marL="196850" marR="19113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5543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“Classification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Suitability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Supervised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Macro-nutrients,”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International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Computer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Applications,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156,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12,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1–6,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2016.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2045">
                <a:tc>
                  <a:txBody>
                    <a:bodyPr/>
                    <a:lstStyle/>
                    <a:p>
                      <a:pPr marL="21590" marR="13970" indent="13525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9497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Implements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utilizing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Vector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Machines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RBF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kernels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trees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categorize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soil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samples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crop-friendly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agronomic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clusters.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719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117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Rigorous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macro-nutrient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bounds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Tamil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Nadu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zones;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maps regional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fertility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indices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dirty="0" sz="14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tolerance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limits.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2019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SVM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non-linear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RBF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kernel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92.4%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confirming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soil-crop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suitability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boundaries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intrinsically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require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non-linear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kernel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transformations.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48260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SVM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scales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quadratically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size,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creating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scaling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bottlenecks;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real-time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interactive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interface;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climate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variable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integration.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0422" y="6588962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27329" y="863028"/>
          <a:ext cx="11443335" cy="5680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Mary,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Sasikala,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V.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N.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Santhosh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Kumar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9505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238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“Dual-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Selection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Optimization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Indian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Agro-Climatic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Zones,”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Access,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10,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88412–88425,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2022.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2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Builds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 sequential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integrating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multi-class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prediction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adaptive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neuro-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fuzzy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(ANFIS)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site-specific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dosing.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0833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Pioneers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dual-stage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sequential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inference;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incorporates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fuzzy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manage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uncertainty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farmer-reported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soil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measurements;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diverse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varieties.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5384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Sequential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conditioning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94.8%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rate,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confirming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conditioning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drastically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improves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recommendation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precision.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ANFIS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grows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exponentially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dimensions;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feedback;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requires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expert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tuning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fuzzy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membership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functions.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7229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03200" marR="5080" indent="-19050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0527" y="865314"/>
          <a:ext cx="11443335" cy="5109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5988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Z.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Diao,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K.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Wang, 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F.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Meng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9505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603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“Explainable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(SHAP-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Tree)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Interpretable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Systems,”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Agricultural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(Elsevier),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5,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100238,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2023.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2045">
                <a:tc>
                  <a:txBody>
                    <a:bodyPr/>
                    <a:lstStyle/>
                    <a:p>
                      <a:pPr marL="21590" marR="13970" indent="13525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835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Applies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SHAP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(SHapley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Additive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exPlanations)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TreeExplainer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tree-based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quantify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global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attributions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suitability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decisions.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Addresses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agronomist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trust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attribution;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generates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intuitive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waterfall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force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plots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explaining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why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optimal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 given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parcel.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Demonstrated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explainability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increases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farmer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adoption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advice;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proved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Nitrogen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Rainfall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contribute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&gt;55%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Shapley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attribution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cereals.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42925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exact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Shapley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incurs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substantial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cost;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provide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prescriptive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dosages;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purely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diagnostic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interactive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engine.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000000"/>
                </a:solidFill>
              </a:rPr>
              <a:t>LITERATURE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15420" y="6477685"/>
            <a:ext cx="146685" cy="153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2392" y="881570"/>
          <a:ext cx="11443970" cy="5742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9437369"/>
              </a:tblGrid>
              <a:tr h="661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H. Patel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D.</a:t>
                      </a:r>
                      <a:r>
                        <a:rPr dirty="0" sz="1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Patel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19505">
                <a:tc>
                  <a:txBody>
                    <a:bodyPr/>
                    <a:lstStyle/>
                    <a:p>
                      <a:pPr algn="ctr" marL="196850" marR="1905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Journal,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Publications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974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“Edge-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Enabled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Frameworks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DSS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Resource-Constrained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Devices,”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Frontiers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Artificial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Intelligence,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7,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pp.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1290384,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2024.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22680">
                <a:tc>
                  <a:txBody>
                    <a:bodyPr/>
                    <a:lstStyle/>
                    <a:p>
                      <a:pPr marL="21590" marR="13970" indent="13525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Algorithm/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Compresses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exports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ensembles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shallow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networks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ONNX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runtime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INT8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quantization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low-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gateways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Android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clients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rural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regions.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Sailent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342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Edge-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native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requiring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zero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persistent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connectivity;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ms on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low-cost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ARM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Cortex-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processors;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dirty="0" sz="14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footprints.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quantization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footprint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negligible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loss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(&lt;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0.4%),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proving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agritech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dirty="0" sz="14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run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rural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devices.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2D5395"/>
                    </a:solidFill>
                  </a:tcPr>
                </a:tc>
                <a:tc>
                  <a:txBody>
                    <a:bodyPr/>
                    <a:lstStyle/>
                    <a:p>
                      <a:pPr marR="4089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Quantization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single-stage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classifiers;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unified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web/cloud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synchronization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backend;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multi-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consensus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validation.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175">
                      <a:solidFill>
                        <a:srgbClr val="4470C4"/>
                      </a:solidFill>
                      <a:prstDash val="solid"/>
                    </a:lnL>
                    <a:lnR w="3175">
                      <a:solidFill>
                        <a:srgbClr val="4470C4"/>
                      </a:solidFill>
                      <a:prstDash val="solid"/>
                    </a:lnR>
                    <a:lnT w="3175">
                      <a:solidFill>
                        <a:srgbClr val="4470C4"/>
                      </a:solidFill>
                      <a:prstDash val="solid"/>
                    </a:lnT>
                    <a:lnB w="3175">
                      <a:solidFill>
                        <a:srgbClr val="4470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518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Problem</a:t>
            </a:r>
            <a:r>
              <a:rPr dirty="0" spc="-17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078" y="6327444"/>
            <a:ext cx="494411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01420" marR="5080" indent="-1189355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5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3528" y="1357630"/>
            <a:ext cx="9773920" cy="37198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 marR="109855">
              <a:lnSpc>
                <a:spcPct val="109100"/>
              </a:lnSpc>
              <a:spcBef>
                <a:spcPts val="95"/>
              </a:spcBef>
            </a:pP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There</a:t>
            </a:r>
            <a:r>
              <a:rPr dirty="0" sz="1800" spc="-4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is</a:t>
            </a:r>
            <a:r>
              <a:rPr dirty="0" sz="1800" spc="-3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no</a:t>
            </a:r>
            <a:r>
              <a:rPr dirty="0" sz="18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accurate,</a:t>
            </a:r>
            <a:r>
              <a:rPr dirty="0" sz="18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integrated,</a:t>
            </a:r>
            <a:r>
              <a:rPr dirty="0" sz="18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dirty="0" sz="1800" spc="-3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computationally</a:t>
            </a:r>
            <a:r>
              <a:rPr dirty="0" sz="18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deployable</a:t>
            </a:r>
            <a:r>
              <a:rPr dirty="0" sz="1800" spc="-4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machine</a:t>
            </a:r>
            <a:r>
              <a:rPr dirty="0" sz="18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learning</a:t>
            </a:r>
            <a:r>
              <a:rPr dirty="0" sz="18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framework</a:t>
            </a:r>
            <a:r>
              <a:rPr dirty="0" sz="1800" spc="-6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1F3863"/>
                </a:solidFill>
                <a:latin typeface="Times New Roman"/>
                <a:cs typeface="Times New Roman"/>
              </a:rPr>
              <a:t>for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joint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crop</a:t>
            </a:r>
            <a:r>
              <a:rPr dirty="0" sz="1800" spc="-4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recommendation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crop-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conditioned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fertilizer</a:t>
            </a:r>
            <a:r>
              <a:rPr dirty="0" sz="1800" spc="-4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prediction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across</a:t>
            </a:r>
            <a:r>
              <a:rPr dirty="0" sz="1800" spc="-5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diverse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Indian</a:t>
            </a:r>
            <a:r>
              <a:rPr dirty="0" sz="1800" spc="-4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agro-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climatic</a:t>
            </a:r>
            <a:r>
              <a:rPr dirty="0" sz="1800" spc="-4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zones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that</a:t>
            </a:r>
            <a:r>
              <a:rPr dirty="0" sz="18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can</a:t>
            </a:r>
            <a:r>
              <a:rPr dirty="0" sz="18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also</a:t>
            </a:r>
            <a:r>
              <a:rPr dirty="0" sz="18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deliver</a:t>
            </a:r>
            <a:r>
              <a:rPr dirty="0" sz="18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real-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time,</a:t>
            </a:r>
            <a:r>
              <a:rPr dirty="0" sz="18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explainable,</a:t>
            </a:r>
            <a:r>
              <a:rPr dirty="0" sz="18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dirty="0" sz="1800" spc="-3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accessible</a:t>
            </a:r>
            <a:r>
              <a:rPr dirty="0" sz="18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decision</a:t>
            </a:r>
            <a:r>
              <a:rPr dirty="0" sz="1800" spc="-3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support</a:t>
            </a:r>
            <a:r>
              <a:rPr dirty="0" sz="18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r>
              <a:rPr dirty="0" sz="18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rural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agricultural</a:t>
            </a:r>
            <a:r>
              <a:rPr dirty="0" sz="1800" spc="-11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stakeholders.</a:t>
            </a:r>
            <a:endParaRPr sz="1800">
              <a:latin typeface="Times New Roman"/>
              <a:cs typeface="Times New Roman"/>
            </a:endParaRPr>
          </a:p>
          <a:p>
            <a:pPr marL="216535" indent="-203835">
              <a:lnSpc>
                <a:spcPct val="100000"/>
              </a:lnSpc>
              <a:spcBef>
                <a:spcPts val="1570"/>
              </a:spcBef>
              <a:buAutoNum type="arabicParenR"/>
              <a:tabLst>
                <a:tab pos="216535" algn="l"/>
              </a:tabLst>
            </a:pP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Non-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Linear</a:t>
            </a:r>
            <a:r>
              <a:rPr dirty="0" sz="1500" spc="-1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Agro-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Climatic</a:t>
            </a: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 Dynamics</a:t>
            </a:r>
            <a:endParaRPr sz="1500">
              <a:latin typeface="Times New Roman"/>
              <a:cs typeface="Times New Roman"/>
            </a:endParaRPr>
          </a:p>
          <a:p>
            <a:pPr marL="12700" marR="129539">
              <a:lnSpc>
                <a:spcPct val="100000"/>
              </a:lnSpc>
              <a:spcBef>
                <a:spcPts val="210"/>
              </a:spcBef>
            </a:pPr>
            <a:r>
              <a:rPr dirty="0" sz="1400">
                <a:latin typeface="Times New Roman"/>
                <a:cs typeface="Times New Roman"/>
              </a:rPr>
              <a:t>Soil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macro-</a:t>
            </a:r>
            <a:r>
              <a:rPr dirty="0" sz="1400">
                <a:latin typeface="Times New Roman"/>
                <a:cs typeface="Times New Roman"/>
              </a:rPr>
              <a:t>nutrients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(N,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K)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</a:t>
            </a:r>
            <a:r>
              <a:rPr dirty="0" sz="1400">
                <a:latin typeface="Times New Roman"/>
                <a:cs typeface="Times New Roman"/>
              </a:rPr>
              <a:t>climate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 exhibit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non-linear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interaction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empirical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 fail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 spc="-10">
                <a:latin typeface="Times New Roman"/>
                <a:cs typeface="Times New Roman"/>
              </a:rPr>
              <a:t>generalize.</a:t>
            </a:r>
            <a:endParaRPr sz="1400">
              <a:latin typeface="Times New Roman"/>
              <a:cs typeface="Times New Roman"/>
            </a:endParaRPr>
          </a:p>
          <a:p>
            <a:pPr marL="216535" indent="-203835">
              <a:lnSpc>
                <a:spcPct val="100000"/>
              </a:lnSpc>
              <a:spcBef>
                <a:spcPts val="995"/>
              </a:spcBef>
              <a:buAutoNum type="arabicParenR" startAt="2"/>
              <a:tabLst>
                <a:tab pos="216535" algn="l"/>
              </a:tabLst>
            </a:pP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Decoupled</a:t>
            </a:r>
            <a:r>
              <a:rPr dirty="0" sz="1500" spc="-6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Decision</a:t>
            </a:r>
            <a:r>
              <a:rPr dirty="0" sz="1500" spc="-7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Siloing</a:t>
            </a:r>
            <a:endParaRPr sz="1500">
              <a:latin typeface="Times New Roman"/>
              <a:cs typeface="Times New Roman"/>
            </a:endParaRPr>
          </a:p>
          <a:p>
            <a:pPr marL="12700" marR="139700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Times New Roman"/>
                <a:cs typeface="Times New Roman"/>
              </a:rPr>
              <a:t>Crop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selection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fertilizer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recommendation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routinely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solved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separate,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disconnected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tasks,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acute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nutrient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imbalances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 </a:t>
            </a:r>
            <a:r>
              <a:rPr dirty="0" sz="1400">
                <a:latin typeface="Times New Roman"/>
                <a:cs typeface="Times New Roman"/>
              </a:rPr>
              <a:t>field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application.</a:t>
            </a:r>
            <a:endParaRPr sz="1400">
              <a:latin typeface="Times New Roman"/>
              <a:cs typeface="Times New Roman"/>
            </a:endParaRPr>
          </a:p>
          <a:p>
            <a:pPr marL="216535" indent="-203835">
              <a:lnSpc>
                <a:spcPct val="100000"/>
              </a:lnSpc>
              <a:spcBef>
                <a:spcPts val="995"/>
              </a:spcBef>
              <a:buAutoNum type="arabicParenR" startAt="3"/>
              <a:tabLst>
                <a:tab pos="216535" algn="l"/>
              </a:tabLst>
            </a:pP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Deployment</a:t>
            </a:r>
            <a:r>
              <a:rPr dirty="0" sz="1500" spc="-4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&amp;</a:t>
            </a:r>
            <a:r>
              <a:rPr dirty="0" sz="1500" spc="-5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Accessibility</a:t>
            </a:r>
            <a:r>
              <a:rPr dirty="0" sz="1500" spc="-7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Barrier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dirty="0" sz="1400" spc="-10">
                <a:latin typeface="Times New Roman"/>
                <a:cs typeface="Times New Roman"/>
              </a:rPr>
              <a:t>State-of-the-</a:t>
            </a:r>
            <a:r>
              <a:rPr dirty="0" sz="1400">
                <a:latin typeface="Times New Roman"/>
                <a:cs typeface="Times New Roman"/>
              </a:rPr>
              <a:t>art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 heavy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black-box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pipelines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lacking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responsive,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low-latency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 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edge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deployment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real-world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farmer usage.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02030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solidFill>
                  <a:srgbClr val="000000"/>
                </a:solidFill>
              </a:rPr>
              <a:t>Research</a:t>
            </a:r>
            <a:r>
              <a:rPr dirty="0" spc="-16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Gap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146" y="6327444"/>
            <a:ext cx="43230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03200" marR="5080" indent="-191135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5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3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4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5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10183" y="1629537"/>
            <a:ext cx="10253345" cy="2720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Four</a:t>
            </a:r>
            <a:r>
              <a:rPr dirty="0" sz="20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Critical</a:t>
            </a:r>
            <a:r>
              <a:rPr dirty="0" sz="2000" spc="-4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Gaps</a:t>
            </a:r>
            <a:r>
              <a:rPr dirty="0" sz="20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This</a:t>
            </a:r>
            <a:r>
              <a:rPr dirty="0" sz="20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Work</a:t>
            </a:r>
            <a:r>
              <a:rPr dirty="0" sz="20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Sets</a:t>
            </a:r>
            <a:r>
              <a:rPr dirty="0" sz="2000" spc="-2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Out</a:t>
            </a:r>
            <a:r>
              <a:rPr dirty="0" sz="20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to</a:t>
            </a:r>
            <a:r>
              <a:rPr dirty="0" sz="20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Times New Roman"/>
                <a:cs typeface="Times New Roman"/>
              </a:rPr>
              <a:t>Close</a:t>
            </a:r>
            <a:endParaRPr sz="2000">
              <a:latin typeface="Times New Roman"/>
              <a:cs typeface="Times New Roman"/>
            </a:endParaRPr>
          </a:p>
          <a:p>
            <a:pPr marL="12700" marR="76835" indent="161290">
              <a:lnSpc>
                <a:spcPct val="100000"/>
              </a:lnSpc>
              <a:spcBef>
                <a:spcPts val="1410"/>
              </a:spcBef>
              <a:buChar char="•"/>
              <a:tabLst>
                <a:tab pos="173990" algn="l"/>
              </a:tabLst>
            </a:pPr>
            <a:r>
              <a:rPr dirty="0" sz="1500">
                <a:latin typeface="Times New Roman"/>
                <a:cs typeface="Times New Roman"/>
              </a:rPr>
              <a:t>Joint-Task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Cascading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Gap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—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Absence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unified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end-to-end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framework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where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crop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recommendation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dynamically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conditions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and </a:t>
            </a:r>
            <a:r>
              <a:rPr dirty="0" sz="1500">
                <a:latin typeface="Times New Roman"/>
                <a:cs typeface="Times New Roman"/>
              </a:rPr>
              <a:t>guides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specific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fertilizer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nutrient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deficiency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remediation.</a:t>
            </a:r>
            <a:endParaRPr sz="1500">
              <a:latin typeface="Times New Roman"/>
              <a:cs typeface="Times New Roman"/>
            </a:endParaRPr>
          </a:p>
          <a:p>
            <a:pPr marL="12700" marR="5080" indent="161290">
              <a:lnSpc>
                <a:spcPct val="100000"/>
              </a:lnSpc>
              <a:spcBef>
                <a:spcPts val="1010"/>
              </a:spcBef>
              <a:buChar char="•"/>
              <a:tabLst>
                <a:tab pos="173990" algn="l"/>
              </a:tabLst>
            </a:pPr>
            <a:r>
              <a:rPr dirty="0" sz="1500" spc="-10">
                <a:latin typeface="Times New Roman"/>
                <a:cs typeface="Times New Roman"/>
              </a:rPr>
              <a:t>Agro-</a:t>
            </a:r>
            <a:r>
              <a:rPr dirty="0" sz="1500">
                <a:latin typeface="Times New Roman"/>
                <a:cs typeface="Times New Roman"/>
              </a:rPr>
              <a:t>Climatic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Generalization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Gap —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Existing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classifiers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suffer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sharp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performance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drops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when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exposed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diverse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multi-class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crops </a:t>
            </a:r>
            <a:r>
              <a:rPr dirty="0" sz="1500">
                <a:latin typeface="Times New Roman"/>
                <a:cs typeface="Times New Roman"/>
              </a:rPr>
              <a:t>(22+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classes)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extreme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seasonal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rainfall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variations.</a:t>
            </a:r>
            <a:endParaRPr sz="1500">
              <a:latin typeface="Times New Roman"/>
              <a:cs typeface="Times New Roman"/>
            </a:endParaRPr>
          </a:p>
          <a:p>
            <a:pPr marL="12700" marR="248285" indent="161290">
              <a:lnSpc>
                <a:spcPct val="100000"/>
              </a:lnSpc>
              <a:spcBef>
                <a:spcPts val="994"/>
              </a:spcBef>
              <a:buChar char="•"/>
              <a:tabLst>
                <a:tab pos="173990" algn="l"/>
              </a:tabLst>
            </a:pPr>
            <a:r>
              <a:rPr dirty="0" sz="1500">
                <a:latin typeface="Times New Roman"/>
                <a:cs typeface="Times New Roman"/>
              </a:rPr>
              <a:t>Feature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Stoichiometry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Gap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—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Rarely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do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existing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systems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physiological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nutrient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balance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ratios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(N/P,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N/K,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P/K),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relying </a:t>
            </a:r>
            <a:r>
              <a:rPr dirty="0" sz="1500">
                <a:latin typeface="Times New Roman"/>
                <a:cs typeface="Times New Roman"/>
              </a:rPr>
              <a:t>solely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on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raw,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unscaled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sensor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values.</a:t>
            </a:r>
            <a:endParaRPr sz="1500">
              <a:latin typeface="Times New Roman"/>
              <a:cs typeface="Times New Roman"/>
            </a:endParaRPr>
          </a:p>
          <a:p>
            <a:pPr marL="173990" indent="-161290">
              <a:lnSpc>
                <a:spcPct val="100000"/>
              </a:lnSpc>
              <a:spcBef>
                <a:spcPts val="994"/>
              </a:spcBef>
              <a:buChar char="•"/>
              <a:tabLst>
                <a:tab pos="173990" algn="l"/>
              </a:tabLst>
            </a:pPr>
            <a:r>
              <a:rPr dirty="0" sz="1500" spc="-10">
                <a:latin typeface="Times New Roman"/>
                <a:cs typeface="Times New Roman"/>
              </a:rPr>
              <a:t>Full-</a:t>
            </a:r>
            <a:r>
              <a:rPr dirty="0" sz="1500">
                <a:latin typeface="Times New Roman"/>
                <a:cs typeface="Times New Roman"/>
              </a:rPr>
              <a:t>Stack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Decision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Support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Gap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—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Few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systems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bridge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gap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between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academic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ML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notebooks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production-grade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REST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Times New Roman"/>
                <a:cs typeface="Times New Roman"/>
              </a:rPr>
              <a:t>APIs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delivering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sub-</a:t>
            </a:r>
            <a:r>
              <a:rPr dirty="0" sz="1500">
                <a:latin typeface="Times New Roman"/>
                <a:cs typeface="Times New Roman"/>
              </a:rPr>
              <a:t>25ms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inference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rural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farmers.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5720" y="6427114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4798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785" marR="5080" indent="-172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7321" y="-31906"/>
            <a:ext cx="8154034" cy="137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18715">
              <a:lnSpc>
                <a:spcPct val="138800"/>
              </a:lnSpc>
              <a:spcBef>
                <a:spcPts val="100"/>
              </a:spcBef>
            </a:pPr>
            <a:r>
              <a:rPr dirty="0" sz="3200" b="1">
                <a:solidFill>
                  <a:srgbClr val="0D0D0D"/>
                </a:solidFill>
                <a:latin typeface="Times New Roman"/>
                <a:cs typeface="Times New Roman"/>
              </a:rPr>
              <a:t>Objectives</a:t>
            </a:r>
            <a:r>
              <a:rPr dirty="0" sz="3200" spc="-9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3200" spc="-9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3200" spc="-1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D0D0D"/>
                </a:solidFill>
                <a:latin typeface="Times New Roman"/>
                <a:cs typeface="Times New Roman"/>
              </a:rPr>
              <a:t>Proposed</a:t>
            </a:r>
            <a:r>
              <a:rPr dirty="0" sz="3200" spc="-15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0D0D0D"/>
                </a:solidFill>
                <a:latin typeface="Times New Roman"/>
                <a:cs typeface="Times New Roman"/>
              </a:rPr>
              <a:t>Work </a:t>
            </a:r>
            <a:r>
              <a:rPr dirty="0" sz="3200" spc="-10" b="1">
                <a:solidFill>
                  <a:srgbClr val="1E275F"/>
                </a:solidFill>
                <a:latin typeface="Times New Roman"/>
                <a:cs typeface="Times New Roman"/>
              </a:rPr>
              <a:t>Three</a:t>
            </a:r>
            <a:r>
              <a:rPr dirty="0" sz="3200" spc="-165" b="1">
                <a:solidFill>
                  <a:srgbClr val="1E275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1E275F"/>
                </a:solidFill>
                <a:latin typeface="Times New Roman"/>
                <a:cs typeface="Times New Roman"/>
              </a:rPr>
              <a:t>Core</a:t>
            </a:r>
            <a:r>
              <a:rPr dirty="0" sz="3200" spc="-155" b="1">
                <a:solidFill>
                  <a:srgbClr val="1E275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1E275F"/>
                </a:solidFill>
                <a:latin typeface="Times New Roman"/>
                <a:cs typeface="Times New Roman"/>
              </a:rPr>
              <a:t>Objectives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249" y="1666722"/>
            <a:ext cx="3672204" cy="4215130"/>
            <a:chOff x="495249" y="1666722"/>
            <a:chExt cx="3672204" cy="421513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249" y="1666722"/>
              <a:ext cx="3672078" cy="42150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2449" y="1695704"/>
              <a:ext cx="3562350" cy="4105910"/>
            </a:xfrm>
            <a:custGeom>
              <a:avLst/>
              <a:gdLst/>
              <a:ahLst/>
              <a:cxnLst/>
              <a:rect l="l" t="t" r="r" b="b"/>
              <a:pathLst>
                <a:path w="3562350" h="4105910">
                  <a:moveTo>
                    <a:pt x="3471037" y="0"/>
                  </a:moveTo>
                  <a:lnTo>
                    <a:pt x="91338" y="0"/>
                  </a:lnTo>
                  <a:lnTo>
                    <a:pt x="55778" y="7238"/>
                  </a:lnTo>
                  <a:lnTo>
                    <a:pt x="26746" y="26797"/>
                  </a:lnTo>
                  <a:lnTo>
                    <a:pt x="7175" y="55753"/>
                  </a:lnTo>
                  <a:lnTo>
                    <a:pt x="0" y="91312"/>
                  </a:lnTo>
                  <a:lnTo>
                    <a:pt x="0" y="4014419"/>
                  </a:lnTo>
                  <a:lnTo>
                    <a:pt x="7175" y="4049979"/>
                  </a:lnTo>
                  <a:lnTo>
                    <a:pt x="26746" y="4079011"/>
                  </a:lnTo>
                  <a:lnTo>
                    <a:pt x="55778" y="4098594"/>
                  </a:lnTo>
                  <a:lnTo>
                    <a:pt x="91338" y="4105770"/>
                  </a:lnTo>
                  <a:lnTo>
                    <a:pt x="3471037" y="4105770"/>
                  </a:lnTo>
                  <a:lnTo>
                    <a:pt x="3506597" y="4098594"/>
                  </a:lnTo>
                  <a:lnTo>
                    <a:pt x="3535553" y="4079011"/>
                  </a:lnTo>
                  <a:lnTo>
                    <a:pt x="3555111" y="4049979"/>
                  </a:lnTo>
                  <a:lnTo>
                    <a:pt x="3562350" y="4014419"/>
                  </a:lnTo>
                  <a:lnTo>
                    <a:pt x="3562350" y="91312"/>
                  </a:lnTo>
                  <a:lnTo>
                    <a:pt x="3555111" y="55753"/>
                  </a:lnTo>
                  <a:lnTo>
                    <a:pt x="3535553" y="26797"/>
                  </a:lnTo>
                  <a:lnTo>
                    <a:pt x="3506597" y="7238"/>
                  </a:lnTo>
                  <a:lnTo>
                    <a:pt x="3471037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438650" y="1619097"/>
            <a:ext cx="3681729" cy="4224655"/>
            <a:chOff x="4438650" y="1619097"/>
            <a:chExt cx="3681729" cy="422465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8650" y="1619097"/>
              <a:ext cx="3681603" cy="422452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95800" y="1648078"/>
              <a:ext cx="3571875" cy="4115435"/>
            </a:xfrm>
            <a:custGeom>
              <a:avLst/>
              <a:gdLst/>
              <a:ahLst/>
              <a:cxnLst/>
              <a:rect l="l" t="t" r="r" b="b"/>
              <a:pathLst>
                <a:path w="3571875" h="4115435">
                  <a:moveTo>
                    <a:pt x="3480307" y="0"/>
                  </a:moveTo>
                  <a:lnTo>
                    <a:pt x="91566" y="0"/>
                  </a:lnTo>
                  <a:lnTo>
                    <a:pt x="55879" y="7238"/>
                  </a:lnTo>
                  <a:lnTo>
                    <a:pt x="26797" y="26797"/>
                  </a:lnTo>
                  <a:lnTo>
                    <a:pt x="7238" y="55880"/>
                  </a:lnTo>
                  <a:lnTo>
                    <a:pt x="0" y="91567"/>
                  </a:lnTo>
                  <a:lnTo>
                    <a:pt x="0" y="4023702"/>
                  </a:lnTo>
                  <a:lnTo>
                    <a:pt x="7238" y="4059351"/>
                  </a:lnTo>
                  <a:lnTo>
                    <a:pt x="26797" y="4088460"/>
                  </a:lnTo>
                  <a:lnTo>
                    <a:pt x="55879" y="4108094"/>
                  </a:lnTo>
                  <a:lnTo>
                    <a:pt x="91566" y="4115295"/>
                  </a:lnTo>
                  <a:lnTo>
                    <a:pt x="3480307" y="4115295"/>
                  </a:lnTo>
                  <a:lnTo>
                    <a:pt x="3515995" y="4108094"/>
                  </a:lnTo>
                  <a:lnTo>
                    <a:pt x="3545078" y="4088460"/>
                  </a:lnTo>
                  <a:lnTo>
                    <a:pt x="3564635" y="4059351"/>
                  </a:lnTo>
                  <a:lnTo>
                    <a:pt x="3571875" y="4023702"/>
                  </a:lnTo>
                  <a:lnTo>
                    <a:pt x="3571875" y="91567"/>
                  </a:lnTo>
                  <a:lnTo>
                    <a:pt x="3564635" y="55880"/>
                  </a:lnTo>
                  <a:lnTo>
                    <a:pt x="3545078" y="26797"/>
                  </a:lnTo>
                  <a:lnTo>
                    <a:pt x="3515995" y="7238"/>
                  </a:lnTo>
                  <a:lnTo>
                    <a:pt x="3480307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8248904" y="1641792"/>
            <a:ext cx="3672204" cy="4224655"/>
            <a:chOff x="8248904" y="1641792"/>
            <a:chExt cx="3672204" cy="422465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8904" y="1641792"/>
              <a:ext cx="3672078" cy="42245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06181" y="1670811"/>
              <a:ext cx="3562350" cy="4115435"/>
            </a:xfrm>
            <a:custGeom>
              <a:avLst/>
              <a:gdLst/>
              <a:ahLst/>
              <a:cxnLst/>
              <a:rect l="l" t="t" r="r" b="b"/>
              <a:pathLst>
                <a:path w="3562350" h="4115435">
                  <a:moveTo>
                    <a:pt x="3471037" y="0"/>
                  </a:moveTo>
                  <a:lnTo>
                    <a:pt x="91313" y="0"/>
                  </a:lnTo>
                  <a:lnTo>
                    <a:pt x="55752" y="7112"/>
                  </a:lnTo>
                  <a:lnTo>
                    <a:pt x="26797" y="26670"/>
                  </a:lnTo>
                  <a:lnTo>
                    <a:pt x="7112" y="55752"/>
                  </a:lnTo>
                  <a:lnTo>
                    <a:pt x="0" y="91312"/>
                  </a:lnTo>
                  <a:lnTo>
                    <a:pt x="0" y="4023906"/>
                  </a:lnTo>
                  <a:lnTo>
                    <a:pt x="7112" y="4059466"/>
                  </a:lnTo>
                  <a:lnTo>
                    <a:pt x="26797" y="4088498"/>
                  </a:lnTo>
                  <a:lnTo>
                    <a:pt x="55752" y="4108081"/>
                  </a:lnTo>
                  <a:lnTo>
                    <a:pt x="91313" y="4115257"/>
                  </a:lnTo>
                  <a:lnTo>
                    <a:pt x="3471037" y="4115257"/>
                  </a:lnTo>
                  <a:lnTo>
                    <a:pt x="3506597" y="4108081"/>
                  </a:lnTo>
                  <a:lnTo>
                    <a:pt x="3535553" y="4088498"/>
                  </a:lnTo>
                  <a:lnTo>
                    <a:pt x="3555111" y="4059466"/>
                  </a:lnTo>
                  <a:lnTo>
                    <a:pt x="3562350" y="4023906"/>
                  </a:lnTo>
                  <a:lnTo>
                    <a:pt x="3562350" y="91312"/>
                  </a:lnTo>
                  <a:lnTo>
                    <a:pt x="3555111" y="55752"/>
                  </a:lnTo>
                  <a:lnTo>
                    <a:pt x="3535553" y="26670"/>
                  </a:lnTo>
                  <a:lnTo>
                    <a:pt x="3506597" y="7112"/>
                  </a:lnTo>
                  <a:lnTo>
                    <a:pt x="3471037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946810" y="1973960"/>
            <a:ext cx="38671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">
                <a:solidFill>
                  <a:srgbClr val="1E275F"/>
                </a:solidFill>
                <a:latin typeface="Cambria"/>
                <a:cs typeface="Cambria"/>
              </a:rPr>
              <a:t>1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6810" y="2972180"/>
            <a:ext cx="200660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F3863"/>
                </a:solidFill>
                <a:latin typeface="Times New Roman"/>
                <a:cs typeface="Times New Roman"/>
              </a:rPr>
              <a:t>Agro-</a:t>
            </a:r>
            <a:r>
              <a:rPr dirty="0" sz="1600" b="1">
                <a:solidFill>
                  <a:srgbClr val="1F3863"/>
                </a:solidFill>
                <a:latin typeface="Times New Roman"/>
                <a:cs typeface="Times New Roman"/>
              </a:rPr>
              <a:t>Climatic</a:t>
            </a:r>
            <a:r>
              <a:rPr dirty="0" sz="1600" spc="-10" b="1">
                <a:solidFill>
                  <a:srgbClr val="1F3863"/>
                </a:solidFill>
                <a:latin typeface="Times New Roman"/>
                <a:cs typeface="Times New Roman"/>
              </a:rPr>
              <a:t> Feature </a:t>
            </a:r>
            <a:r>
              <a:rPr dirty="0" sz="1600" b="1">
                <a:solidFill>
                  <a:srgbClr val="1F3863"/>
                </a:solidFill>
                <a:latin typeface="Times New Roman"/>
                <a:cs typeface="Times New Roman"/>
              </a:rPr>
              <a:t>Engineering</a:t>
            </a:r>
            <a:r>
              <a:rPr dirty="0" sz="1600" spc="-4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1F3863"/>
                </a:solidFill>
                <a:latin typeface="Times New Roman"/>
                <a:cs typeface="Times New Roman"/>
              </a:rPr>
              <a:t>&amp; </a:t>
            </a:r>
            <a:r>
              <a:rPr dirty="0" sz="1600" spc="-10" b="1">
                <a:solidFill>
                  <a:srgbClr val="1F3863"/>
                </a:solidFill>
                <a:latin typeface="Times New Roman"/>
                <a:cs typeface="Times New Roman"/>
              </a:rPr>
              <a:t>Preprocessing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98619" y="1975485"/>
            <a:ext cx="367665" cy="71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550" spc="-50" b="1">
                <a:solidFill>
                  <a:srgbClr val="E8A13B"/>
                </a:solidFill>
                <a:latin typeface="Cambria"/>
                <a:cs typeface="Cambria"/>
              </a:rPr>
              <a:t>2</a:t>
            </a:r>
            <a:endParaRPr sz="45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50706" y="2067306"/>
            <a:ext cx="1786889" cy="1692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0" b="1">
                <a:solidFill>
                  <a:srgbClr val="1F3863"/>
                </a:solidFill>
                <a:latin typeface="Cambria"/>
                <a:cs typeface="Cambria"/>
              </a:rPr>
              <a:t>3</a:t>
            </a:r>
            <a:endParaRPr sz="44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2080"/>
              </a:spcBef>
            </a:pPr>
            <a:r>
              <a:rPr dirty="0" sz="1600" spc="-10" b="1">
                <a:solidFill>
                  <a:srgbClr val="1F3863"/>
                </a:solidFill>
                <a:latin typeface="Times New Roman"/>
                <a:cs typeface="Times New Roman"/>
              </a:rPr>
              <a:t>Full-</a:t>
            </a:r>
            <a:r>
              <a:rPr dirty="0" sz="1600" b="1">
                <a:solidFill>
                  <a:srgbClr val="1F3863"/>
                </a:solidFill>
                <a:latin typeface="Times New Roman"/>
                <a:cs typeface="Times New Roman"/>
              </a:rPr>
              <a:t>Stack</a:t>
            </a:r>
            <a:r>
              <a:rPr dirty="0" sz="16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600" spc="-25" b="1">
                <a:solidFill>
                  <a:srgbClr val="1F3863"/>
                </a:solidFill>
                <a:latin typeface="Times New Roman"/>
                <a:cs typeface="Times New Roman"/>
              </a:rPr>
              <a:t>Web </a:t>
            </a:r>
            <a:r>
              <a:rPr dirty="0" sz="1600" b="1">
                <a:solidFill>
                  <a:srgbClr val="1F3863"/>
                </a:solidFill>
                <a:latin typeface="Times New Roman"/>
                <a:cs typeface="Times New Roman"/>
              </a:rPr>
              <a:t>Deployment</a:t>
            </a:r>
            <a:r>
              <a:rPr dirty="0" sz="1600" spc="-3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F3863"/>
                </a:solidFill>
                <a:latin typeface="Times New Roman"/>
                <a:cs typeface="Times New Roman"/>
              </a:rPr>
              <a:t>&amp;</a:t>
            </a:r>
            <a:r>
              <a:rPr dirty="0" sz="1600" spc="-5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1F3863"/>
                </a:solidFill>
                <a:latin typeface="Times New Roman"/>
                <a:cs typeface="Times New Roman"/>
              </a:rPr>
              <a:t>Field </a:t>
            </a:r>
            <a:r>
              <a:rPr dirty="0" sz="1600" spc="-25" b="1">
                <a:solidFill>
                  <a:srgbClr val="1F3863"/>
                </a:solidFill>
                <a:latin typeface="Times New Roman"/>
                <a:cs typeface="Times New Roman"/>
              </a:rPr>
              <a:t>DSS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6810" y="4294784"/>
            <a:ext cx="2509520" cy="121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300">
                <a:latin typeface="Times New Roman"/>
                <a:cs typeface="Times New Roman"/>
              </a:rPr>
              <a:t>Design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engineer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robust</a:t>
            </a:r>
            <a:r>
              <a:rPr dirty="0" sz="1300" spc="-20">
                <a:latin typeface="Times New Roman"/>
                <a:cs typeface="Times New Roman"/>
              </a:rPr>
              <a:t> data </a:t>
            </a:r>
            <a:r>
              <a:rPr dirty="0" sz="1300" spc="-10">
                <a:latin typeface="Times New Roman"/>
                <a:cs typeface="Times New Roman"/>
              </a:rPr>
              <a:t>ingestion,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outlier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mitigation, </a:t>
            </a:r>
            <a:r>
              <a:rPr dirty="0" sz="1300">
                <a:latin typeface="Times New Roman"/>
                <a:cs typeface="Times New Roman"/>
              </a:rPr>
              <a:t>stoichiometric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nutrient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ratio </a:t>
            </a:r>
            <a:r>
              <a:rPr dirty="0" sz="1300">
                <a:latin typeface="Times New Roman"/>
                <a:cs typeface="Times New Roman"/>
              </a:rPr>
              <a:t>featurization,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stratified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validation </a:t>
            </a:r>
            <a:r>
              <a:rPr dirty="0" sz="1300">
                <a:latin typeface="Times New Roman"/>
                <a:cs typeface="Times New Roman"/>
              </a:rPr>
              <a:t>pipeline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across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22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crops.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8619" y="3235579"/>
            <a:ext cx="23831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F3863"/>
                </a:solidFill>
                <a:latin typeface="Times New Roman"/>
                <a:cs typeface="Times New Roman"/>
              </a:rPr>
              <a:t>Dual-</a:t>
            </a:r>
            <a:r>
              <a:rPr dirty="0" sz="1600" b="1">
                <a:solidFill>
                  <a:srgbClr val="1F3863"/>
                </a:solidFill>
                <a:latin typeface="Times New Roman"/>
                <a:cs typeface="Times New Roman"/>
              </a:rPr>
              <a:t>Engine</a:t>
            </a:r>
            <a:r>
              <a:rPr dirty="0" sz="16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F3863"/>
                </a:solidFill>
                <a:latin typeface="Times New Roman"/>
                <a:cs typeface="Times New Roman"/>
              </a:rPr>
              <a:t>Cascaded</a:t>
            </a:r>
            <a:r>
              <a:rPr dirty="0" sz="1600" spc="-25" b="1">
                <a:solidFill>
                  <a:srgbClr val="1F3863"/>
                </a:solidFill>
                <a:latin typeface="Times New Roman"/>
                <a:cs typeface="Times New Roman"/>
              </a:rPr>
              <a:t> ML </a:t>
            </a:r>
            <a:r>
              <a:rPr dirty="0" sz="1600" spc="-10" b="1">
                <a:solidFill>
                  <a:srgbClr val="1F3863"/>
                </a:solidFill>
                <a:latin typeface="Times New Roman"/>
                <a:cs typeface="Times New Roman"/>
              </a:rPr>
              <a:t>Architecture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98619" y="4294784"/>
            <a:ext cx="2600325" cy="121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300">
                <a:latin typeface="Times New Roman"/>
                <a:cs typeface="Times New Roman"/>
              </a:rPr>
              <a:t>Build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high-</a:t>
            </a:r>
            <a:r>
              <a:rPr dirty="0" sz="1300">
                <a:latin typeface="Times New Roman"/>
                <a:cs typeface="Times New Roman"/>
              </a:rPr>
              <a:t>precision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dual-stage </a:t>
            </a:r>
            <a:r>
              <a:rPr dirty="0" sz="1300">
                <a:latin typeface="Times New Roman"/>
                <a:cs typeface="Times New Roman"/>
              </a:rPr>
              <a:t>predictive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pipeline: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Stage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multi-class </a:t>
            </a:r>
            <a:r>
              <a:rPr dirty="0" sz="1300">
                <a:latin typeface="Times New Roman"/>
                <a:cs typeface="Times New Roman"/>
              </a:rPr>
              <a:t>crop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ensemble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cascading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directly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into </a:t>
            </a:r>
            <a:r>
              <a:rPr dirty="0" sz="1300">
                <a:latin typeface="Times New Roman"/>
                <a:cs typeface="Times New Roman"/>
              </a:rPr>
              <a:t>Stage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2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crop-conditioned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fertilizer recommendation.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50706" y="4294784"/>
            <a:ext cx="2613660" cy="121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300">
                <a:latin typeface="Times New Roman"/>
                <a:cs typeface="Times New Roman"/>
              </a:rPr>
              <a:t>Deploy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production-</a:t>
            </a:r>
            <a:r>
              <a:rPr dirty="0" sz="1300">
                <a:latin typeface="Times New Roman"/>
                <a:cs typeface="Times New Roman"/>
              </a:rPr>
              <a:t>grade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web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DSS </a:t>
            </a:r>
            <a:r>
              <a:rPr dirty="0" sz="1300">
                <a:latin typeface="Times New Roman"/>
                <a:cs typeface="Times New Roman"/>
              </a:rPr>
              <a:t>(FastAPI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+</a:t>
            </a:r>
            <a:r>
              <a:rPr dirty="0" sz="1300" spc="-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React/Vite)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delivering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real-</a:t>
            </a:r>
            <a:r>
              <a:rPr dirty="0" sz="1300">
                <a:latin typeface="Times New Roman"/>
                <a:cs typeface="Times New Roman"/>
              </a:rPr>
              <a:t>time</a:t>
            </a:r>
            <a:r>
              <a:rPr dirty="0" sz="1300" spc="-10">
                <a:latin typeface="Times New Roman"/>
                <a:cs typeface="Times New Roman"/>
              </a:rPr>
              <a:t> predictions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(&lt;25ms), 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validate </a:t>
            </a:r>
            <a:r>
              <a:rPr dirty="0" sz="1300">
                <a:latin typeface="Times New Roman"/>
                <a:cs typeface="Times New Roman"/>
              </a:rPr>
              <a:t>model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accuracy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against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official </a:t>
            </a:r>
            <a:r>
              <a:rPr dirty="0" sz="1300">
                <a:latin typeface="Times New Roman"/>
                <a:cs typeface="Times New Roman"/>
              </a:rPr>
              <a:t>agricultural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standards.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8585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OBJECTIVE</a:t>
            </a:r>
            <a:r>
              <a:rPr dirty="0" spc="-12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4502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785" marR="5080" indent="-172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720" y="1423161"/>
            <a:ext cx="10985500" cy="3491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159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Times New Roman"/>
              <a:buChar char="•"/>
              <a:tabLst>
                <a:tab pos="240665" algn="l"/>
              </a:tabLst>
            </a:pPr>
            <a:r>
              <a:rPr dirty="0" sz="1900" spc="-20" b="1">
                <a:solidFill>
                  <a:srgbClr val="1F3863"/>
                </a:solidFill>
                <a:latin typeface="Times New Roman"/>
                <a:cs typeface="Times New Roman"/>
              </a:rPr>
              <a:t>Agro-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Climatic</a:t>
            </a:r>
            <a:r>
              <a:rPr dirty="0" sz="1900" spc="-1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Preprocessing</a:t>
            </a:r>
            <a:r>
              <a:rPr dirty="0" sz="19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&amp;</a:t>
            </a:r>
            <a:r>
              <a:rPr dirty="0" sz="19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Feature</a:t>
            </a:r>
            <a:r>
              <a:rPr dirty="0" sz="19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1F3863"/>
                </a:solidFill>
                <a:latin typeface="Times New Roman"/>
                <a:cs typeface="Times New Roman"/>
              </a:rPr>
              <a:t>Engineering</a:t>
            </a:r>
            <a:r>
              <a:rPr dirty="0" sz="1900" spc="-6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—</a:t>
            </a:r>
            <a:r>
              <a:rPr dirty="0" sz="19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Objective</a:t>
            </a:r>
            <a:r>
              <a:rPr dirty="0" sz="1900" spc="-2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spc="-50" b="1">
                <a:solidFill>
                  <a:srgbClr val="1F3863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L="12700" marR="774065">
              <a:lnSpc>
                <a:spcPct val="100000"/>
              </a:lnSpc>
              <a:spcBef>
                <a:spcPts val="1220"/>
              </a:spcBef>
            </a:pPr>
            <a:r>
              <a:rPr dirty="0" sz="1500">
                <a:latin typeface="Times New Roman"/>
                <a:cs typeface="Times New Roman"/>
              </a:rPr>
              <a:t>Raw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agro-</a:t>
            </a:r>
            <a:r>
              <a:rPr dirty="0" sz="1500">
                <a:latin typeface="Times New Roman"/>
                <a:cs typeface="Times New Roman"/>
              </a:rPr>
              <a:t>climatic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measurements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(Soil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N,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P,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K,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Temperature,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Humidity,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pH,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Rainfall)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pass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through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audited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cleaning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pipeline: </a:t>
            </a:r>
            <a:r>
              <a:rPr dirty="0" sz="1500">
                <a:latin typeface="Times New Roman"/>
                <a:cs typeface="Times New Roman"/>
              </a:rPr>
              <a:t>eliminating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missing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values,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trimming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multivariate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anomalies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via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Z-score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filtering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(|z|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&gt;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3.0),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guaranteeing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zero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leakage.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500">
                <a:latin typeface="Times New Roman"/>
                <a:cs typeface="Times New Roman"/>
              </a:rPr>
              <a:t>Two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foundational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feature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strategies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make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this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pipeline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distinctive:</a:t>
            </a:r>
            <a:endParaRPr sz="1500">
              <a:latin typeface="Times New Roman"/>
              <a:cs typeface="Times New Roman"/>
            </a:endParaRPr>
          </a:p>
          <a:p>
            <a:pPr marL="12700" marR="5080" indent="113664">
              <a:lnSpc>
                <a:spcPct val="100000"/>
              </a:lnSpc>
              <a:spcBef>
                <a:spcPts val="805"/>
              </a:spcBef>
              <a:buChar char="•"/>
              <a:tabLst>
                <a:tab pos="126364" algn="l"/>
              </a:tabLst>
            </a:pPr>
            <a:r>
              <a:rPr dirty="0" sz="1500">
                <a:latin typeface="Times New Roman"/>
                <a:cs typeface="Times New Roman"/>
              </a:rPr>
              <a:t>Stoichiometric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Nutrient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Balance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Ratios: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Explicitly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computing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N/P,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N/K,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P/K,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total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nutrient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density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(N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+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+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K),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enabling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decision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trees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to </a:t>
            </a:r>
            <a:r>
              <a:rPr dirty="0" sz="1500">
                <a:latin typeface="Times New Roman"/>
                <a:cs typeface="Times New Roman"/>
              </a:rPr>
              <a:t>model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chemical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equilibrium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rather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than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unnormalized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absolute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values.</a:t>
            </a:r>
            <a:endParaRPr sz="15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805"/>
              </a:spcBef>
              <a:buChar char="•"/>
              <a:tabLst>
                <a:tab pos="126364" algn="l"/>
              </a:tabLst>
            </a:pPr>
            <a:r>
              <a:rPr dirty="0" sz="1500">
                <a:latin typeface="Times New Roman"/>
                <a:cs typeface="Times New Roman"/>
              </a:rPr>
              <a:t>Micro-Climatic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Stress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Indices: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Combining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Vapor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Pressure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Deficit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(VPD)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Rainfall-Temperature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interaction</a:t>
            </a:r>
            <a:r>
              <a:rPr dirty="0" sz="1500" spc="-7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terms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capture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physiological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Times New Roman"/>
                <a:cs typeface="Times New Roman"/>
              </a:rPr>
              <a:t>plant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water-</a:t>
            </a:r>
            <a:r>
              <a:rPr dirty="0" sz="1500">
                <a:latin typeface="Times New Roman"/>
                <a:cs typeface="Times New Roman"/>
              </a:rPr>
              <a:t>stress</a:t>
            </a:r>
            <a:r>
              <a:rPr dirty="0" sz="1500" spc="-10">
                <a:latin typeface="Times New Roman"/>
                <a:cs typeface="Times New Roman"/>
              </a:rPr>
              <a:t> dynamics.</a:t>
            </a:r>
            <a:endParaRPr sz="1500">
              <a:latin typeface="Times New Roman"/>
              <a:cs typeface="Times New Roman"/>
            </a:endParaRPr>
          </a:p>
          <a:p>
            <a:pPr marL="12700" marR="481330">
              <a:lnSpc>
                <a:spcPct val="100000"/>
              </a:lnSpc>
              <a:spcBef>
                <a:spcPts val="795"/>
              </a:spcBef>
            </a:pPr>
            <a:r>
              <a:rPr dirty="0" sz="1500">
                <a:latin typeface="Times New Roman"/>
                <a:cs typeface="Times New Roman"/>
              </a:rPr>
              <a:t>Stratified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K-</a:t>
            </a:r>
            <a:r>
              <a:rPr dirty="0" sz="1500">
                <a:latin typeface="Times New Roman"/>
                <a:cs typeface="Times New Roman"/>
              </a:rPr>
              <a:t>Fold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Cross-</a:t>
            </a:r>
            <a:r>
              <a:rPr dirty="0" sz="1500">
                <a:latin typeface="Times New Roman"/>
                <a:cs typeface="Times New Roman"/>
              </a:rPr>
              <a:t>Validation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(K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= 5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&amp;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K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=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10)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ensures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proportions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across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all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22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crop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classes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are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strictly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preserved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during </a:t>
            </a:r>
            <a:r>
              <a:rPr dirty="0" sz="1500">
                <a:latin typeface="Times New Roman"/>
                <a:cs typeface="Times New Roman"/>
              </a:rPr>
              <a:t>training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validation,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completely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eliminating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optimistic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holdout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bias.</a:t>
            </a:r>
            <a:endParaRPr sz="1500">
              <a:latin typeface="Times New Roman"/>
              <a:cs typeface="Times New Roman"/>
            </a:endParaRPr>
          </a:p>
          <a:p>
            <a:pPr marL="12700" marR="160655">
              <a:lnSpc>
                <a:spcPct val="100000"/>
              </a:lnSpc>
              <a:spcBef>
                <a:spcPts val="800"/>
              </a:spcBef>
            </a:pPr>
            <a:r>
              <a:rPr dirty="0" sz="1500">
                <a:latin typeface="Times New Roman"/>
                <a:cs typeface="Times New Roman"/>
              </a:rPr>
              <a:t>Achieved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empirical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cross-</a:t>
            </a:r>
            <a:r>
              <a:rPr dirty="0" sz="1500">
                <a:latin typeface="Times New Roman"/>
                <a:cs typeface="Times New Roman"/>
              </a:rPr>
              <a:t>validation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accuracy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99.32%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±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0.31%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StandardScaler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normalization,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proving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high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stability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across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varying agro-</a:t>
            </a:r>
            <a:r>
              <a:rPr dirty="0" sz="1500">
                <a:latin typeface="Times New Roman"/>
                <a:cs typeface="Times New Roman"/>
              </a:rPr>
              <a:t>climatic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conditions.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9271" y="6327444"/>
            <a:ext cx="565277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608455" marR="5080" indent="-159639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11828" y="136905"/>
            <a:ext cx="3577590" cy="68961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615"/>
              </a:lnSpc>
              <a:spcBef>
                <a:spcPts val="95"/>
              </a:spcBef>
            </a:pPr>
            <a:r>
              <a:rPr dirty="0" sz="2200">
                <a:solidFill>
                  <a:srgbClr val="1F3863"/>
                </a:solidFill>
              </a:rPr>
              <a:t>Objective</a:t>
            </a:r>
            <a:r>
              <a:rPr dirty="0" sz="2200" spc="-65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1:</a:t>
            </a:r>
            <a:r>
              <a:rPr dirty="0" sz="2200" spc="-80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Preprocessing</a:t>
            </a:r>
            <a:r>
              <a:rPr dirty="0" sz="2200" spc="-70">
                <a:solidFill>
                  <a:srgbClr val="1F3863"/>
                </a:solidFill>
              </a:rPr>
              <a:t> </a:t>
            </a:r>
            <a:r>
              <a:rPr dirty="0" sz="2200" spc="-50">
                <a:solidFill>
                  <a:srgbClr val="1F3863"/>
                </a:solidFill>
              </a:rPr>
              <a:t>&amp;</a:t>
            </a:r>
            <a:endParaRPr sz="2200"/>
          </a:p>
          <a:p>
            <a:pPr marL="12700">
              <a:lnSpc>
                <a:spcPts val="2615"/>
              </a:lnSpc>
            </a:pPr>
            <a:r>
              <a:rPr dirty="0" sz="2200">
                <a:solidFill>
                  <a:srgbClr val="1F3863"/>
                </a:solidFill>
              </a:rPr>
              <a:t>Feature</a:t>
            </a:r>
            <a:r>
              <a:rPr dirty="0" sz="2200" spc="-70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Pipeline</a:t>
            </a:r>
            <a:r>
              <a:rPr dirty="0" sz="2200" spc="-65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Architecture</a:t>
            </a:r>
            <a:endParaRPr sz="2200"/>
          </a:p>
        </p:txBody>
      </p:sp>
      <p:pic>
        <p:nvPicPr>
          <p:cNvPr id="7" name="object 7" descr="objective_1_architectur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1949" y="1289254"/>
            <a:ext cx="5489577" cy="45936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31129" y="340233"/>
            <a:ext cx="277241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1F3863"/>
                </a:solidFill>
              </a:rPr>
              <a:t>Feature</a:t>
            </a:r>
            <a:r>
              <a:rPr dirty="0" sz="2200" spc="-85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Normalization </a:t>
            </a:r>
            <a:r>
              <a:rPr dirty="0" sz="2200">
                <a:solidFill>
                  <a:srgbClr val="1F3863"/>
                </a:solidFill>
              </a:rPr>
              <a:t>&amp;</a:t>
            </a:r>
            <a:r>
              <a:rPr dirty="0" sz="2200" spc="-50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Validation</a:t>
            </a:r>
            <a:r>
              <a:rPr dirty="0" sz="2200" spc="-60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Protocols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524502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785" marR="5080" indent="-172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720" y="1506982"/>
            <a:ext cx="11057255" cy="3899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Mathematical</a:t>
            </a:r>
            <a:r>
              <a:rPr dirty="0" sz="1700" spc="-4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Formulation</a:t>
            </a:r>
            <a:r>
              <a:rPr dirty="0" sz="1700" spc="-2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of</a:t>
            </a:r>
            <a:r>
              <a:rPr dirty="0" sz="1700" spc="-3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Feature</a:t>
            </a:r>
            <a:r>
              <a:rPr dirty="0" sz="1700" spc="-5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Normalization</a:t>
            </a:r>
            <a:r>
              <a:rPr dirty="0" sz="1700" spc="-3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&amp;</a:t>
            </a:r>
            <a:r>
              <a:rPr dirty="0" sz="1700" spc="-2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Cross-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Validation</a:t>
            </a:r>
            <a:r>
              <a:rPr dirty="0" sz="1700" spc="-2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Protocols</a:t>
            </a:r>
            <a:endParaRPr sz="1700">
              <a:latin typeface="Times New Roman"/>
              <a:cs typeface="Times New Roman"/>
            </a:endParaRPr>
          </a:p>
          <a:p>
            <a:pPr marL="299085" marR="2139315" indent="-28702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99085" algn="l"/>
                <a:tab pos="2078989" algn="l"/>
                <a:tab pos="4010660" algn="l"/>
              </a:tabLst>
            </a:pPr>
            <a:r>
              <a:rPr dirty="0" sz="1400">
                <a:latin typeface="Times New Roman"/>
                <a:cs typeface="Times New Roman"/>
              </a:rPr>
              <a:t>StandardScaler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Formulation: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dimension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Cambria Math"/>
                <a:cs typeface="Cambria Math"/>
              </a:rPr>
              <a:t>∈</a:t>
            </a:r>
            <a:r>
              <a:rPr dirty="0" sz="1400" spc="25">
                <a:latin typeface="Cambria Math"/>
                <a:cs typeface="Cambria Math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{1..d},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mean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variance: </a:t>
            </a:r>
            <a:r>
              <a:rPr dirty="0" sz="1400">
                <a:latin typeface="Times New Roman"/>
                <a:cs typeface="Times New Roman"/>
              </a:rPr>
              <a:t>z_ij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(x_ij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 μ_j)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σ_j,</a:t>
            </a:r>
            <a:r>
              <a:rPr dirty="0" sz="1400">
                <a:latin typeface="Times New Roman"/>
                <a:cs typeface="Times New Roman"/>
              </a:rPr>
              <a:t>	where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μ_j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(1/N)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x_ij,</a:t>
            </a:r>
            <a:r>
              <a:rPr dirty="0" sz="1400">
                <a:latin typeface="Times New Roman"/>
                <a:cs typeface="Times New Roman"/>
              </a:rPr>
              <a:t>	σ_j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√[(1/N)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(x_ij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10">
                <a:latin typeface="Times New Roman"/>
                <a:cs typeface="Times New Roman"/>
              </a:rPr>
              <a:t> μ_j)²]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latin typeface="Times New Roman"/>
                <a:cs typeface="Times New Roman"/>
              </a:rPr>
              <a:t>Stoichiometric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Nutrient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Vector: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z_augmented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[N,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Temp,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Humidity,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Rainfall,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N/P,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N/K,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P/K, </a:t>
            </a:r>
            <a:r>
              <a:rPr dirty="0" sz="1400" spc="-10">
                <a:latin typeface="Times New Roman"/>
                <a:cs typeface="Times New Roman"/>
              </a:rPr>
              <a:t>Total_NPK]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65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latin typeface="Times New Roman"/>
                <a:cs typeface="Times New Roman"/>
              </a:rPr>
              <a:t>Variance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Inflation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(VIF):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Multi-collinearity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&lt;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5.0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guaranteeing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numerical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preventing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dominance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distance-based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models.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299085" marR="105219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latin typeface="Times New Roman"/>
                <a:cs typeface="Times New Roman"/>
              </a:rPr>
              <a:t>Stratified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K-</a:t>
            </a:r>
            <a:r>
              <a:rPr dirty="0" sz="1400">
                <a:latin typeface="Times New Roman"/>
                <a:cs typeface="Times New Roman"/>
              </a:rPr>
              <a:t>Fold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Protocol: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Partitions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dataset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K=5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disjoint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subsets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D_k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balance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P(y=c)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identical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folds: </a:t>
            </a:r>
            <a:r>
              <a:rPr dirty="0" sz="1400">
                <a:latin typeface="Times New Roman"/>
                <a:cs typeface="Times New Roman"/>
              </a:rPr>
              <a:t>CV_score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 (1/K)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Σ_k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Acc(Model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trained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\ D_k,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D_k)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299085" marR="36957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Rationale: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Scalers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strictly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fitted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training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splits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\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D_k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splits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D_k,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avoiding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leakage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simulating</a:t>
            </a:r>
            <a:r>
              <a:rPr dirty="0" sz="1400" spc="-10">
                <a:latin typeface="Times New Roman"/>
                <a:cs typeface="Times New Roman"/>
              </a:rPr>
              <a:t> genuine </a:t>
            </a:r>
            <a:r>
              <a:rPr dirty="0" sz="1400">
                <a:latin typeface="Times New Roman"/>
                <a:cs typeface="Times New Roman"/>
              </a:rPr>
              <a:t>unseen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field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conditions.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8284" y="340233"/>
            <a:ext cx="410591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1F3863"/>
                </a:solidFill>
              </a:rPr>
              <a:t>Preprocessing</a:t>
            </a:r>
            <a:r>
              <a:rPr dirty="0" sz="2200">
                <a:solidFill>
                  <a:srgbClr val="1F3863"/>
                </a:solidFill>
              </a:rPr>
              <a:t> &amp;</a:t>
            </a:r>
            <a:r>
              <a:rPr dirty="0" sz="2200" spc="-10">
                <a:solidFill>
                  <a:srgbClr val="1F3863"/>
                </a:solidFill>
              </a:rPr>
              <a:t> Cross-Validation Benchmarks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524502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785" marR="5080" indent="-172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720" y="1506982"/>
            <a:ext cx="7649209" cy="33477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159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Times New Roman"/>
              <a:buChar char="•"/>
              <a:tabLst>
                <a:tab pos="240665" algn="l"/>
              </a:tabLst>
            </a:pP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Preprocessing</a:t>
            </a:r>
            <a:r>
              <a:rPr dirty="0" sz="1700" spc="-4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Benchmark</a:t>
            </a:r>
            <a:r>
              <a:rPr dirty="0" sz="1700" spc="-2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&amp;</a:t>
            </a:r>
            <a:r>
              <a:rPr dirty="0" sz="1700" spc="-1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Cross-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Validation</a:t>
            </a: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Stability</a:t>
            </a:r>
            <a:r>
              <a:rPr dirty="0" sz="1700" spc="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Results</a:t>
            </a:r>
            <a:endParaRPr sz="17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1005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Comparative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Normalization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Benchmark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2,200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Agricultural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Observations: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69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StandardScaler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(Zero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Mean,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Variance):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99.32%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Macro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0.993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Latency: 14.2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ms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10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RobustScaler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(Median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 IQR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Scaling):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98.86%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Macro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0.988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Latency: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16.5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ms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69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MinMaxScaler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(Bounded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[0,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1]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Range):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97.95%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Macro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F1: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0.979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Latency: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13.8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ms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5-Fold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Stratified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Cross-Validation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Breakdown:</a:t>
            </a:r>
            <a:endParaRPr sz="1400">
              <a:latin typeface="Times New Roman"/>
              <a:cs typeface="Times New Roman"/>
            </a:endParaRPr>
          </a:p>
          <a:p>
            <a:pPr marL="144780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99.43%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 Fold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2: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99.15%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 Fold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3: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99.72%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 Fold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98.86%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5: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99.43%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00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Overall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CV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99.32%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±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0.31%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(low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variance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demonstrates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generalizability)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Distribution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(Gini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Decrease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Impurity):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0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Nitrogen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(N):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22.4%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Rainfall: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20.8%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Potassium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(K):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18.2%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Phosphorus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(P):</a:t>
            </a:r>
            <a:r>
              <a:rPr dirty="0" sz="1400" spc="-10">
                <a:latin typeface="Times New Roman"/>
                <a:cs typeface="Times New Roman"/>
              </a:rPr>
              <a:t> 15.6%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00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Relative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Humidity: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11.3%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Temperature: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6.8%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Soil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pH:</a:t>
            </a:r>
            <a:r>
              <a:rPr dirty="0" sz="1400" spc="-20">
                <a:latin typeface="Times New Roman"/>
                <a:cs typeface="Times New Roman"/>
              </a:rPr>
              <a:t> 4.9%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8585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OBJECTIVE</a:t>
            </a:r>
            <a:r>
              <a:rPr dirty="0" spc="-120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7046" y="6327444"/>
            <a:ext cx="494411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183005" marR="5080" indent="-117094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-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5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170" y="1148029"/>
            <a:ext cx="11463655" cy="3701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15265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40029" algn="l"/>
              </a:tabLst>
            </a:pPr>
            <a:r>
              <a:rPr dirty="0" sz="1900" spc="-20" b="1">
                <a:solidFill>
                  <a:srgbClr val="1F3863"/>
                </a:solidFill>
                <a:latin typeface="Times New Roman"/>
                <a:cs typeface="Times New Roman"/>
              </a:rPr>
              <a:t>Dual-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Engine</a:t>
            </a:r>
            <a:r>
              <a:rPr dirty="0" sz="1900" spc="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Cascaded Machine Learning</a:t>
            </a:r>
            <a:r>
              <a:rPr dirty="0" sz="19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1F3863"/>
                </a:solidFill>
                <a:latin typeface="Times New Roman"/>
                <a:cs typeface="Times New Roman"/>
              </a:rPr>
              <a:t>Framework</a:t>
            </a:r>
            <a:r>
              <a:rPr dirty="0" sz="1900" spc="-8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—</a:t>
            </a:r>
            <a:r>
              <a:rPr dirty="0" sz="19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1F3863"/>
                </a:solidFill>
                <a:latin typeface="Times New Roman"/>
                <a:cs typeface="Times New Roman"/>
              </a:rPr>
              <a:t>Objective</a:t>
            </a:r>
            <a:r>
              <a:rPr dirty="0" sz="1900" spc="-3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900" spc="-50" b="1">
                <a:solidFill>
                  <a:srgbClr val="1F3863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220"/>
              </a:spcBef>
            </a:pPr>
            <a:r>
              <a:rPr dirty="0" sz="1450">
                <a:latin typeface="Times New Roman"/>
                <a:cs typeface="Times New Roman"/>
              </a:rPr>
              <a:t>The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core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predictive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pipeline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introduces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cascading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dual-engine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architecture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that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unifies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crop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selection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with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chemical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nutrient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deficiency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remediation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rather </a:t>
            </a:r>
            <a:r>
              <a:rPr dirty="0" sz="1450">
                <a:latin typeface="Times New Roman"/>
                <a:cs typeface="Times New Roman"/>
              </a:rPr>
              <a:t>than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treating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them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as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disconnected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silos:</a:t>
            </a:r>
            <a:endParaRPr sz="1450">
              <a:latin typeface="Times New Roman"/>
              <a:cs typeface="Times New Roman"/>
            </a:endParaRPr>
          </a:p>
          <a:p>
            <a:pPr marL="123189" indent="-110489">
              <a:lnSpc>
                <a:spcPct val="100000"/>
              </a:lnSpc>
              <a:spcBef>
                <a:spcPts val="700"/>
              </a:spcBef>
              <a:buChar char="•"/>
              <a:tabLst>
                <a:tab pos="123189" algn="l"/>
              </a:tabLst>
            </a:pPr>
            <a:r>
              <a:rPr dirty="0" sz="1450">
                <a:latin typeface="Times New Roman"/>
                <a:cs typeface="Times New Roman"/>
              </a:rPr>
              <a:t>Stage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1: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Multi-</a:t>
            </a:r>
            <a:r>
              <a:rPr dirty="0" sz="1450">
                <a:latin typeface="Times New Roman"/>
                <a:cs typeface="Times New Roman"/>
              </a:rPr>
              <a:t>Class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Crop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Recommendation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Ensemble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Engine</a:t>
            </a:r>
            <a:endParaRPr sz="1450">
              <a:latin typeface="Times New Roman"/>
              <a:cs typeface="Times New Roman"/>
            </a:endParaRPr>
          </a:p>
          <a:p>
            <a:pPr lvl="1" marL="257175" indent="-106045">
              <a:lnSpc>
                <a:spcPct val="100000"/>
              </a:lnSpc>
              <a:spcBef>
                <a:spcPts val="695"/>
              </a:spcBef>
              <a:buChar char="-"/>
              <a:tabLst>
                <a:tab pos="257175" algn="l"/>
              </a:tabLst>
            </a:pPr>
            <a:r>
              <a:rPr dirty="0" sz="1450">
                <a:latin typeface="Times New Roman"/>
                <a:cs typeface="Times New Roman"/>
              </a:rPr>
              <a:t>Evaluates</a:t>
            </a:r>
            <a:r>
              <a:rPr dirty="0" sz="1450" spc="-5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Random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Forest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(M=100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estimators,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max_depth=16),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Decision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Tree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(CART),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and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KNN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(k=5).</a:t>
            </a:r>
            <a:endParaRPr sz="1450">
              <a:latin typeface="Times New Roman"/>
              <a:cs typeface="Times New Roman"/>
            </a:endParaRPr>
          </a:p>
          <a:p>
            <a:pPr lvl="1" marL="257175" indent="-106045">
              <a:lnSpc>
                <a:spcPct val="100000"/>
              </a:lnSpc>
              <a:spcBef>
                <a:spcPts val="705"/>
              </a:spcBef>
              <a:buChar char="-"/>
              <a:tabLst>
                <a:tab pos="257175" algn="l"/>
              </a:tabLst>
            </a:pPr>
            <a:r>
              <a:rPr dirty="0" sz="1450">
                <a:latin typeface="Times New Roman"/>
                <a:cs typeface="Times New Roman"/>
              </a:rPr>
              <a:t>Yields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class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probability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distributions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across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22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crops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(Rice,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Maize,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Chickpea,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Cotton,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Coffee,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etc.).</a:t>
            </a:r>
            <a:endParaRPr sz="1450">
              <a:latin typeface="Times New Roman"/>
              <a:cs typeface="Times New Roman"/>
            </a:endParaRPr>
          </a:p>
          <a:p>
            <a:pPr lvl="1" marL="257175" indent="-106045">
              <a:lnSpc>
                <a:spcPct val="100000"/>
              </a:lnSpc>
              <a:spcBef>
                <a:spcPts val="700"/>
              </a:spcBef>
              <a:buChar char="-"/>
              <a:tabLst>
                <a:tab pos="257175" algn="l"/>
              </a:tabLst>
            </a:pPr>
            <a:r>
              <a:rPr dirty="0" sz="1450">
                <a:latin typeface="Times New Roman"/>
                <a:cs typeface="Times New Roman"/>
              </a:rPr>
              <a:t>Achieves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99.32%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test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accuracy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and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0.993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Macro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F1</a:t>
            </a:r>
            <a:r>
              <a:rPr dirty="0" sz="1450" spc="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on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holdout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evaluations.</a:t>
            </a:r>
            <a:endParaRPr sz="1450">
              <a:latin typeface="Times New Roman"/>
              <a:cs typeface="Times New Roman"/>
            </a:endParaRPr>
          </a:p>
          <a:p>
            <a:pPr marL="123189" indent="-110489">
              <a:lnSpc>
                <a:spcPct val="100000"/>
              </a:lnSpc>
              <a:spcBef>
                <a:spcPts val="695"/>
              </a:spcBef>
              <a:buChar char="•"/>
              <a:tabLst>
                <a:tab pos="123189" algn="l"/>
              </a:tabLst>
            </a:pPr>
            <a:r>
              <a:rPr dirty="0" sz="1450">
                <a:latin typeface="Times New Roman"/>
                <a:cs typeface="Times New Roman"/>
              </a:rPr>
              <a:t>Stage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2: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Crop-Conditioned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Fertilizer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Nutrient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Predictor</a:t>
            </a:r>
            <a:endParaRPr sz="1450">
              <a:latin typeface="Times New Roman"/>
              <a:cs typeface="Times New Roman"/>
            </a:endParaRPr>
          </a:p>
          <a:p>
            <a:pPr lvl="1" marL="257175" indent="-106045">
              <a:lnSpc>
                <a:spcPct val="100000"/>
              </a:lnSpc>
              <a:spcBef>
                <a:spcPts val="710"/>
              </a:spcBef>
              <a:buChar char="-"/>
              <a:tabLst>
                <a:tab pos="257175" algn="l"/>
              </a:tabLst>
            </a:pPr>
            <a:r>
              <a:rPr dirty="0" sz="1450">
                <a:latin typeface="Times New Roman"/>
                <a:cs typeface="Times New Roman"/>
              </a:rPr>
              <a:t>Augments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soil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chemical</a:t>
            </a:r>
            <a:r>
              <a:rPr dirty="0" sz="1450" spc="-5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profile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with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predicted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crop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c*,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soil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type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(Black,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Loamy,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Clayey,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Red,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Sandy),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and</a:t>
            </a:r>
            <a:r>
              <a:rPr dirty="0" sz="1450" spc="-2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moisture.</a:t>
            </a:r>
            <a:endParaRPr sz="1450">
              <a:latin typeface="Times New Roman"/>
              <a:cs typeface="Times New Roman"/>
            </a:endParaRPr>
          </a:p>
          <a:p>
            <a:pPr lvl="1" marL="257175" indent="-106045">
              <a:lnSpc>
                <a:spcPct val="100000"/>
              </a:lnSpc>
              <a:spcBef>
                <a:spcPts val="695"/>
              </a:spcBef>
              <a:buChar char="-"/>
              <a:tabLst>
                <a:tab pos="257175" algn="l"/>
              </a:tabLst>
            </a:pPr>
            <a:r>
              <a:rPr dirty="0" sz="1450">
                <a:latin typeface="Times New Roman"/>
                <a:cs typeface="Times New Roman"/>
              </a:rPr>
              <a:t>Classifies</a:t>
            </a:r>
            <a:r>
              <a:rPr dirty="0" sz="1450" spc="-5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exact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commercial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fertilizer</a:t>
            </a:r>
            <a:r>
              <a:rPr dirty="0" sz="1450" spc="-5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formulation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from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7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target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classes: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Urea,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DAP, 14-35-14,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28-28,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17-17-17,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20-20,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10-26-</a:t>
            </a:r>
            <a:r>
              <a:rPr dirty="0" sz="1450" spc="-25">
                <a:latin typeface="Times New Roman"/>
                <a:cs typeface="Times New Roman"/>
              </a:rPr>
              <a:t>26.</a:t>
            </a:r>
            <a:endParaRPr sz="1450">
              <a:latin typeface="Times New Roman"/>
              <a:cs typeface="Times New Roman"/>
            </a:endParaRPr>
          </a:p>
          <a:p>
            <a:pPr lvl="1" marL="257175" indent="-106045">
              <a:lnSpc>
                <a:spcPct val="100000"/>
              </a:lnSpc>
              <a:spcBef>
                <a:spcPts val="695"/>
              </a:spcBef>
              <a:buChar char="-"/>
              <a:tabLst>
                <a:tab pos="257175" algn="l"/>
              </a:tabLst>
            </a:pPr>
            <a:r>
              <a:rPr dirty="0" sz="1450">
                <a:latin typeface="Times New Roman"/>
                <a:cs typeface="Times New Roman"/>
              </a:rPr>
              <a:t>Achieves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98.9%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accuracy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on</a:t>
            </a:r>
            <a:r>
              <a:rPr dirty="0" sz="1450" spc="-1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fertilizer</a:t>
            </a:r>
            <a:r>
              <a:rPr dirty="0" sz="1450" spc="-5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deficiency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matching.</a:t>
            </a:r>
            <a:endParaRPr sz="1450">
              <a:latin typeface="Times New Roman"/>
              <a:cs typeface="Times New Roman"/>
            </a:endParaRPr>
          </a:p>
          <a:p>
            <a:pPr marL="123189" indent="-110489">
              <a:lnSpc>
                <a:spcPct val="100000"/>
              </a:lnSpc>
              <a:spcBef>
                <a:spcPts val="710"/>
              </a:spcBef>
              <a:buChar char="•"/>
              <a:tabLst>
                <a:tab pos="123189" algn="l"/>
              </a:tabLst>
            </a:pPr>
            <a:r>
              <a:rPr dirty="0" sz="1450">
                <a:latin typeface="Times New Roman"/>
                <a:cs typeface="Times New Roman"/>
              </a:rPr>
              <a:t>Cascaded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Synergy:</a:t>
            </a:r>
            <a:r>
              <a:rPr dirty="0" sz="1450" spc="-5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Guaranteed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compatibility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between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the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recommended</a:t>
            </a:r>
            <a:r>
              <a:rPr dirty="0" sz="1450" spc="-5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crop's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nutritional</a:t>
            </a:r>
            <a:r>
              <a:rPr dirty="0" sz="1450" spc="-6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needs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and</a:t>
            </a:r>
            <a:r>
              <a:rPr dirty="0" sz="1450" spc="-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the</a:t>
            </a:r>
            <a:r>
              <a:rPr dirty="0" sz="1450" spc="-3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recommended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fertilizer</a:t>
            </a:r>
            <a:r>
              <a:rPr dirty="0" sz="1450" spc="1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chemical</a:t>
            </a:r>
            <a:r>
              <a:rPr dirty="0" sz="1450" spc="-5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compound.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5720" y="6427114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35907" y="-153797"/>
            <a:ext cx="427101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1F3863"/>
                </a:solidFill>
              </a:rPr>
              <a:t>Objective</a:t>
            </a:r>
            <a:r>
              <a:rPr dirty="0" sz="2200" spc="-40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2:</a:t>
            </a:r>
            <a:r>
              <a:rPr dirty="0" sz="2200" spc="-50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Dual-</a:t>
            </a:r>
            <a:r>
              <a:rPr dirty="0" sz="2200">
                <a:solidFill>
                  <a:srgbClr val="1F3863"/>
                </a:solidFill>
              </a:rPr>
              <a:t>Engine</a:t>
            </a:r>
            <a:r>
              <a:rPr dirty="0" sz="2200" spc="-60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Cascaded</a:t>
            </a:r>
            <a:endParaRPr sz="2200"/>
          </a:p>
        </p:txBody>
      </p:sp>
      <p:sp>
        <p:nvSpPr>
          <p:cNvPr id="7" name="object 7"/>
          <p:cNvSpPr txBox="1"/>
          <p:nvPr/>
        </p:nvSpPr>
        <p:spPr>
          <a:xfrm>
            <a:off x="4335907" y="181482"/>
            <a:ext cx="20624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1F3863"/>
                </a:solidFill>
                <a:latin typeface="Times New Roman"/>
                <a:cs typeface="Times New Roman"/>
              </a:rPr>
              <a:t>ML</a:t>
            </a:r>
            <a:r>
              <a:rPr dirty="0" sz="22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1F3863"/>
                </a:solidFill>
                <a:latin typeface="Times New Roman"/>
                <a:cs typeface="Times New Roman"/>
              </a:rPr>
              <a:t>Architecture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8" name="object 8" descr="objective_2_architectur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2948" y="795880"/>
            <a:ext cx="4520423" cy="58694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25848" y="340233"/>
            <a:ext cx="326644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1F3863"/>
                </a:solidFill>
              </a:rPr>
              <a:t>Ensemble</a:t>
            </a:r>
            <a:r>
              <a:rPr dirty="0" sz="2200" spc="-75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Modeling</a:t>
            </a:r>
            <a:r>
              <a:rPr dirty="0" sz="2200" spc="-80">
                <a:solidFill>
                  <a:srgbClr val="1F3863"/>
                </a:solidFill>
              </a:rPr>
              <a:t> </a:t>
            </a:r>
            <a:r>
              <a:rPr dirty="0" sz="2200" spc="-50">
                <a:solidFill>
                  <a:srgbClr val="1F3863"/>
                </a:solidFill>
              </a:rPr>
              <a:t>&amp; </a:t>
            </a:r>
            <a:r>
              <a:rPr dirty="0" sz="2200">
                <a:solidFill>
                  <a:srgbClr val="1F3863"/>
                </a:solidFill>
              </a:rPr>
              <a:t>Mathematical</a:t>
            </a:r>
            <a:r>
              <a:rPr dirty="0" sz="2200" spc="-100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Formulation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524502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785" marR="5080" indent="-172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720" y="1506982"/>
            <a:ext cx="7984490" cy="3649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159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Times New Roman"/>
              <a:buChar char="•"/>
              <a:tabLst>
                <a:tab pos="240665" algn="l"/>
              </a:tabLst>
            </a:pP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Mathematical</a:t>
            </a:r>
            <a:r>
              <a:rPr dirty="0" sz="1700" spc="-5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Foundations</a:t>
            </a:r>
            <a:r>
              <a:rPr dirty="0" sz="1700" spc="-3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of</a:t>
            </a:r>
            <a:r>
              <a:rPr dirty="0" sz="1700" spc="-4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the</a:t>
            </a:r>
            <a:r>
              <a:rPr dirty="0" sz="1700" spc="-3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Ensemble</a:t>
            </a:r>
            <a:r>
              <a:rPr dirty="0" sz="1700" spc="-4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Classification</a:t>
            </a:r>
            <a:r>
              <a:rPr dirty="0" sz="1700" spc="-3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Pipeline</a:t>
            </a:r>
            <a:endParaRPr sz="17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1005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Decision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Tree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Splitting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Criterion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(Gini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Impurity):</a:t>
            </a:r>
            <a:endParaRPr sz="1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95"/>
              </a:spcBef>
              <a:tabLst>
                <a:tab pos="2065020" algn="l"/>
              </a:tabLst>
            </a:pPr>
            <a:r>
              <a:rPr dirty="0" sz="1400">
                <a:latin typeface="Times New Roman"/>
                <a:cs typeface="Times New Roman"/>
              </a:rPr>
              <a:t>I_G(t)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Σ_c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p(c|t)²,</a:t>
            </a:r>
            <a:r>
              <a:rPr dirty="0" sz="1400">
                <a:latin typeface="Times New Roman"/>
                <a:cs typeface="Times New Roman"/>
              </a:rPr>
              <a:t>	ΔI_G(s,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I_G(t)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(N_L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 N_t)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I_G(t_L)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(N_R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N_t)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I_G(t_R)</a:t>
            </a:r>
            <a:endParaRPr sz="1400">
              <a:latin typeface="Times New Roman"/>
              <a:cs typeface="Times New Roman"/>
            </a:endParaRPr>
          </a:p>
          <a:p>
            <a:pPr marL="14478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latin typeface="Times New Roman"/>
                <a:cs typeface="Times New Roman"/>
              </a:rPr>
              <a:t>Optimal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split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s*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maximizes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ΔI_G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soil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climatic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thresholds.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Random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Forest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Ensemble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Aggregation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(Bootstrap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Aggregation):</a:t>
            </a:r>
            <a:endParaRPr sz="1400">
              <a:latin typeface="Times New Roman"/>
              <a:cs typeface="Times New Roman"/>
            </a:endParaRPr>
          </a:p>
          <a:p>
            <a:pPr marL="234950" marR="5080" indent="-90170">
              <a:lnSpc>
                <a:spcPts val="2390"/>
              </a:lnSpc>
              <a:spcBef>
                <a:spcPts val="185"/>
              </a:spcBef>
            </a:pPr>
            <a:r>
              <a:rPr dirty="0" sz="1400">
                <a:latin typeface="Times New Roman"/>
                <a:cs typeface="Times New Roman"/>
              </a:rPr>
              <a:t>Constructs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M=100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decorrelated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trees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trained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bootstrap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samples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D_m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random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subsampling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√d: </a:t>
            </a:r>
            <a:r>
              <a:rPr dirty="0" sz="1400">
                <a:latin typeface="Times New Roman"/>
                <a:cs typeface="Times New Roman"/>
              </a:rPr>
              <a:t>y_hat_RF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argmax_c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(1/M)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Σ_m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I(y_hat_m(x)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c)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500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Softmax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Multi-Class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Probability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Calibration:</a:t>
            </a:r>
            <a:endParaRPr sz="1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Times New Roman"/>
                <a:cs typeface="Times New Roman"/>
              </a:rPr>
              <a:t>P(Crop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 c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 x)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exp(f_c(x))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Σ_j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exp(f_j(x))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Cambria Math"/>
                <a:cs typeface="Cambria Math"/>
              </a:rPr>
              <a:t>∈</a:t>
            </a:r>
            <a:r>
              <a:rPr dirty="0" sz="1400" spc="40">
                <a:latin typeface="Cambria Math"/>
                <a:cs typeface="Cambria Math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{1..22}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705"/>
              </a:spcBef>
              <a:buChar char="•"/>
              <a:tabLst>
                <a:tab pos="119380" algn="l"/>
              </a:tabLst>
            </a:pPr>
            <a:r>
              <a:rPr dirty="0" sz="1400" spc="-10">
                <a:latin typeface="Times New Roman"/>
                <a:cs typeface="Times New Roman"/>
              </a:rPr>
              <a:t>K-</a:t>
            </a:r>
            <a:r>
              <a:rPr dirty="0" sz="1400">
                <a:latin typeface="Times New Roman"/>
                <a:cs typeface="Times New Roman"/>
              </a:rPr>
              <a:t>Nearest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Neighbors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Minkowski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Metric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Euclidean):</a:t>
            </a:r>
            <a:endParaRPr sz="1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700"/>
              </a:spcBef>
              <a:tabLst>
                <a:tab pos="2456180" algn="l"/>
              </a:tabLst>
            </a:pPr>
            <a:r>
              <a:rPr dirty="0" sz="1400">
                <a:latin typeface="Times New Roman"/>
                <a:cs typeface="Times New Roman"/>
              </a:rPr>
              <a:t>d(x,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x')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√[Σ_j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(x_j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x'_j)²],</a:t>
            </a:r>
            <a:r>
              <a:rPr dirty="0" sz="1400">
                <a:latin typeface="Times New Roman"/>
                <a:cs typeface="Times New Roman"/>
              </a:rPr>
              <a:t>	y_hat_KNN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mode{y_i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x_i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Cambria Math"/>
                <a:cs typeface="Cambria Math"/>
              </a:rPr>
              <a:t>∈</a:t>
            </a:r>
            <a:r>
              <a:rPr dirty="0" sz="1400" spc="20">
                <a:latin typeface="Cambria Math"/>
                <a:cs typeface="Cambria Math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N_k(x)}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Multi-Class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Log-Loss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Function: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L_log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-(1/N)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Σ_i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Σ_c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y_ic</a:t>
            </a:r>
            <a:r>
              <a:rPr dirty="0" sz="1400" spc="-10">
                <a:latin typeface="Times New Roman"/>
                <a:cs typeface="Times New Roman"/>
              </a:rPr>
              <a:t> log(p_hat_ic)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62148" y="340233"/>
            <a:ext cx="526859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1F3863"/>
                </a:solidFill>
              </a:rPr>
              <a:t>Model</a:t>
            </a:r>
            <a:r>
              <a:rPr dirty="0" sz="2200" spc="-70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Benchmarks</a:t>
            </a:r>
            <a:r>
              <a:rPr dirty="0" sz="2200" spc="-55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&amp;</a:t>
            </a:r>
            <a:r>
              <a:rPr dirty="0" sz="2200" spc="-60">
                <a:solidFill>
                  <a:srgbClr val="1F3863"/>
                </a:solidFill>
              </a:rPr>
              <a:t> </a:t>
            </a:r>
            <a:r>
              <a:rPr dirty="0" sz="2200">
                <a:solidFill>
                  <a:srgbClr val="1F3863"/>
                </a:solidFill>
              </a:rPr>
              <a:t>Performance</a:t>
            </a:r>
            <a:r>
              <a:rPr dirty="0" sz="2200" spc="-35">
                <a:solidFill>
                  <a:srgbClr val="1F3863"/>
                </a:solidFill>
              </a:rPr>
              <a:t> </a:t>
            </a:r>
            <a:r>
              <a:rPr dirty="0" sz="2200" spc="-10">
                <a:solidFill>
                  <a:srgbClr val="1F3863"/>
                </a:solidFill>
              </a:rPr>
              <a:t>Metrics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524502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785" marR="5080" indent="-172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720" y="1506982"/>
            <a:ext cx="8284845" cy="3649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159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Times New Roman"/>
              <a:buChar char="•"/>
              <a:tabLst>
                <a:tab pos="240665" algn="l"/>
              </a:tabLst>
            </a:pP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Comprehensive</a:t>
            </a:r>
            <a:r>
              <a:rPr dirty="0" sz="1700" spc="-6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Experimental</a:t>
            </a:r>
            <a:r>
              <a:rPr dirty="0" sz="1700" spc="-2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Evaluation</a:t>
            </a:r>
            <a:r>
              <a:rPr dirty="0" sz="1700" spc="-2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&amp;</a:t>
            </a:r>
            <a:r>
              <a:rPr dirty="0" sz="1700" spc="-4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D5395"/>
                </a:solidFill>
                <a:latin typeface="Times New Roman"/>
                <a:cs typeface="Times New Roman"/>
              </a:rPr>
              <a:t>Model</a:t>
            </a:r>
            <a:r>
              <a:rPr dirty="0" sz="1700" spc="-4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D5395"/>
                </a:solidFill>
                <a:latin typeface="Times New Roman"/>
                <a:cs typeface="Times New Roman"/>
              </a:rPr>
              <a:t>Benchmark</a:t>
            </a:r>
            <a:endParaRPr sz="17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1005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Comparison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20%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Unseen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Holdout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440):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69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Random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Forest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Classifier: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99.32%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0.994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Recall: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0.993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Macro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0.993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10"/>
              </a:spcBef>
              <a:buChar char="-"/>
              <a:tabLst>
                <a:tab pos="247650" algn="l"/>
                <a:tab pos="2159000" algn="l"/>
              </a:tabLst>
            </a:pPr>
            <a:r>
              <a:rPr dirty="0" sz="1400">
                <a:latin typeface="Times New Roman"/>
                <a:cs typeface="Times New Roman"/>
              </a:rPr>
              <a:t>Decision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Tree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Classifier:</a:t>
            </a:r>
            <a:r>
              <a:rPr dirty="0" sz="1400">
                <a:latin typeface="Times New Roman"/>
                <a:cs typeface="Times New Roman"/>
              </a:rPr>
              <a:t>	98.18%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0.983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Recall: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0.982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Macro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F1:</a:t>
            </a:r>
            <a:r>
              <a:rPr dirty="0" sz="1400" spc="-10">
                <a:latin typeface="Times New Roman"/>
                <a:cs typeface="Times New Roman"/>
              </a:rPr>
              <a:t> 0.982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695"/>
              </a:spcBef>
              <a:buChar char="-"/>
              <a:tabLst>
                <a:tab pos="247650" algn="l"/>
              </a:tabLst>
            </a:pPr>
            <a:r>
              <a:rPr dirty="0" sz="1400" spc="-10">
                <a:latin typeface="Times New Roman"/>
                <a:cs typeface="Times New Roman"/>
              </a:rPr>
              <a:t>K-</a:t>
            </a:r>
            <a:r>
              <a:rPr dirty="0" sz="1400">
                <a:latin typeface="Times New Roman"/>
                <a:cs typeface="Times New Roman"/>
              </a:rPr>
              <a:t>Nearest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Neighbors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(k=5):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97.73%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0.979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Recall: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0.977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Macro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0.977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dirty="0" sz="1400" spc="-10">
                <a:latin typeface="Times New Roman"/>
                <a:cs typeface="Times New Roman"/>
              </a:rPr>
              <a:t>Per-</a:t>
            </a:r>
            <a:r>
              <a:rPr dirty="0" sz="1400">
                <a:latin typeface="Times New Roman"/>
                <a:cs typeface="Times New Roman"/>
              </a:rPr>
              <a:t>Agronomic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Performance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Breakdown: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0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Cereals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Grains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(Rice,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Maize):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1.00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0.98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F1-Score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0.99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00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Legumes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Pulses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(Chickpea,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Kidneybeans,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Lentil):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1.00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1.00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F1-Score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1.00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69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Cash Crops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(Cotton,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Jute,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Coffee):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0.98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1.00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F1-Score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0.99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70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Fruits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(Banana,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Mango,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Grapes,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Pomegranate):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1.00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Recall 1.00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|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F1-Score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1.00</a:t>
            </a:r>
            <a:endParaRPr sz="14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Fertilizer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Recommendation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Performance:</a:t>
            </a:r>
            <a:endParaRPr sz="1400">
              <a:latin typeface="Times New Roman"/>
              <a:cs typeface="Times New Roman"/>
            </a:endParaRPr>
          </a:p>
          <a:p>
            <a:pPr lvl="1" marL="247650" indent="-102870">
              <a:lnSpc>
                <a:spcPct val="100000"/>
              </a:lnSpc>
              <a:spcBef>
                <a:spcPts val="695"/>
              </a:spcBef>
              <a:buChar char="-"/>
              <a:tabLst>
                <a:tab pos="247650" algn="l"/>
              </a:tabLst>
            </a:pPr>
            <a:r>
              <a:rPr dirty="0" sz="1400">
                <a:latin typeface="Times New Roman"/>
                <a:cs typeface="Times New Roman"/>
              </a:rPr>
              <a:t>Test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Accuracy: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98.9%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7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target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formulations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misclassifications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N-deficiency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P-</a:t>
            </a:r>
            <a:r>
              <a:rPr dirty="0" sz="1400" spc="-10">
                <a:latin typeface="Times New Roman"/>
                <a:cs typeface="Times New Roman"/>
              </a:rPr>
              <a:t>deficiency.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58054" y="289051"/>
            <a:ext cx="26568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</a:t>
            </a:r>
            <a:r>
              <a:rPr dirty="0" spc="-210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4798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4785" marR="5080" indent="-17272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491" y="1366520"/>
            <a:ext cx="10586720" cy="3584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159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Times New Roman"/>
              <a:buChar char="•"/>
              <a:tabLst>
                <a:tab pos="240665" algn="l"/>
              </a:tabLst>
            </a:pPr>
            <a:r>
              <a:rPr dirty="0" sz="2000" spc="-10" b="1">
                <a:solidFill>
                  <a:srgbClr val="1F3863"/>
                </a:solidFill>
                <a:latin typeface="Times New Roman"/>
                <a:cs typeface="Times New Roman"/>
              </a:rPr>
              <a:t>Full-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Stack</a:t>
            </a:r>
            <a:r>
              <a:rPr dirty="0" sz="2000" spc="-5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Web</a:t>
            </a:r>
            <a:r>
              <a:rPr dirty="0" sz="2000" spc="-1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Decision</a:t>
            </a:r>
            <a:r>
              <a:rPr dirty="0" sz="20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Support</a:t>
            </a:r>
            <a:r>
              <a:rPr dirty="0" sz="20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System</a:t>
            </a:r>
            <a:r>
              <a:rPr dirty="0" sz="2000" spc="-3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&amp;</a:t>
            </a:r>
            <a:r>
              <a:rPr dirty="0" sz="2000" spc="-1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Field</a:t>
            </a:r>
            <a:r>
              <a:rPr dirty="0" sz="2000" spc="-1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Times New Roman"/>
                <a:cs typeface="Times New Roman"/>
              </a:rPr>
              <a:t>Validation</a:t>
            </a:r>
            <a:endParaRPr sz="2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1410"/>
              </a:spcBef>
              <a:buChar char="•"/>
              <a:tabLst>
                <a:tab pos="126364" algn="l"/>
              </a:tabLst>
            </a:pPr>
            <a:r>
              <a:rPr dirty="0" sz="1500" spc="-10">
                <a:latin typeface="Times New Roman"/>
                <a:cs typeface="Times New Roman"/>
              </a:rPr>
              <a:t>Production-</a:t>
            </a:r>
            <a:r>
              <a:rPr dirty="0" sz="1500">
                <a:latin typeface="Times New Roman"/>
                <a:cs typeface="Times New Roman"/>
              </a:rPr>
              <a:t>Grade </a:t>
            </a:r>
            <a:r>
              <a:rPr dirty="0" sz="1500" spc="-10">
                <a:latin typeface="Times New Roman"/>
                <a:cs typeface="Times New Roman"/>
              </a:rPr>
              <a:t>Full-</a:t>
            </a:r>
            <a:r>
              <a:rPr dirty="0" sz="1500">
                <a:latin typeface="Times New Roman"/>
                <a:cs typeface="Times New Roman"/>
              </a:rPr>
              <a:t>Stack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Implementation:</a:t>
            </a:r>
            <a:endParaRPr sz="1500">
              <a:latin typeface="Times New Roman"/>
              <a:cs typeface="Times New Roman"/>
            </a:endParaRPr>
          </a:p>
          <a:p>
            <a:pPr lvl="1" marL="266065" indent="-110489">
              <a:lnSpc>
                <a:spcPct val="100000"/>
              </a:lnSpc>
              <a:spcBef>
                <a:spcPts val="1005"/>
              </a:spcBef>
              <a:buChar char="-"/>
              <a:tabLst>
                <a:tab pos="266065" algn="l"/>
              </a:tabLst>
            </a:pPr>
            <a:r>
              <a:rPr dirty="0" sz="1500">
                <a:latin typeface="Times New Roman"/>
                <a:cs typeface="Times New Roman"/>
              </a:rPr>
              <a:t>High-throughput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REST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API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backend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built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FastAPI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(app.py),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serving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multi-model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endpoints.</a:t>
            </a:r>
            <a:endParaRPr sz="1500">
              <a:latin typeface="Times New Roman"/>
              <a:cs typeface="Times New Roman"/>
            </a:endParaRPr>
          </a:p>
          <a:p>
            <a:pPr lvl="1" marL="266700" indent="-111125">
              <a:lnSpc>
                <a:spcPct val="100000"/>
              </a:lnSpc>
              <a:spcBef>
                <a:spcPts val="1000"/>
              </a:spcBef>
              <a:buChar char="-"/>
              <a:tabLst>
                <a:tab pos="266700" algn="l"/>
              </a:tabLst>
            </a:pPr>
            <a:r>
              <a:rPr dirty="0" sz="1500">
                <a:latin typeface="Times New Roman"/>
                <a:cs typeface="Times New Roman"/>
              </a:rPr>
              <a:t>Responsive,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modern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frontend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user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interface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built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React,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Vite,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TypeScript.</a:t>
            </a:r>
            <a:endParaRPr sz="1500">
              <a:latin typeface="Times New Roman"/>
              <a:cs typeface="Times New Roman"/>
            </a:endParaRPr>
          </a:p>
          <a:p>
            <a:pPr lvl="1" marL="266065" indent="-110489">
              <a:lnSpc>
                <a:spcPct val="100000"/>
              </a:lnSpc>
              <a:spcBef>
                <a:spcPts val="994"/>
              </a:spcBef>
              <a:buChar char="-"/>
              <a:tabLst>
                <a:tab pos="266065" algn="l"/>
              </a:tabLst>
            </a:pPr>
            <a:r>
              <a:rPr dirty="0" sz="1500" spc="-10">
                <a:latin typeface="Times New Roman"/>
                <a:cs typeface="Times New Roman"/>
              </a:rPr>
              <a:t>End-</a:t>
            </a:r>
            <a:r>
              <a:rPr dirty="0" sz="1500">
                <a:latin typeface="Times New Roman"/>
                <a:cs typeface="Times New Roman"/>
              </a:rPr>
              <a:t>to-end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inference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latency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under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15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milliseconds,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ensuring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instant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advisory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low-connectivity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rural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mobile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devices.</a:t>
            </a:r>
            <a:endParaRPr sz="15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1010"/>
              </a:spcBef>
              <a:buChar char="•"/>
              <a:tabLst>
                <a:tab pos="126364" algn="l"/>
              </a:tabLst>
            </a:pPr>
            <a:r>
              <a:rPr dirty="0" sz="1500">
                <a:latin typeface="Times New Roman"/>
                <a:cs typeface="Times New Roman"/>
              </a:rPr>
              <a:t>Automated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Soil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Deficiency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Diagnostic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&amp;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Agronomic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Advisory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Engine:</a:t>
            </a:r>
            <a:endParaRPr sz="1500">
              <a:latin typeface="Times New Roman"/>
              <a:cs typeface="Times New Roman"/>
            </a:endParaRPr>
          </a:p>
          <a:p>
            <a:pPr lvl="1" marL="266065" indent="-110489">
              <a:lnSpc>
                <a:spcPct val="100000"/>
              </a:lnSpc>
              <a:spcBef>
                <a:spcPts val="994"/>
              </a:spcBef>
              <a:buChar char="-"/>
              <a:tabLst>
                <a:tab pos="266065" algn="l"/>
              </a:tabLst>
            </a:pPr>
            <a:r>
              <a:rPr dirty="0" sz="1500">
                <a:latin typeface="Times New Roman"/>
                <a:cs typeface="Times New Roman"/>
              </a:rPr>
              <a:t>Low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Nitrogen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&lt;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50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kg/ha)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→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Recommends Urea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(46-0-0)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calibrated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application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rates.</a:t>
            </a:r>
            <a:endParaRPr sz="1500">
              <a:latin typeface="Times New Roman"/>
              <a:cs typeface="Times New Roman"/>
            </a:endParaRPr>
          </a:p>
          <a:p>
            <a:pPr lvl="1" marL="266065" indent="-110489">
              <a:lnSpc>
                <a:spcPct val="100000"/>
              </a:lnSpc>
              <a:spcBef>
                <a:spcPts val="994"/>
              </a:spcBef>
              <a:buChar char="-"/>
              <a:tabLst>
                <a:tab pos="266065" algn="l"/>
              </a:tabLst>
            </a:pPr>
            <a:r>
              <a:rPr dirty="0" sz="1500">
                <a:latin typeface="Times New Roman"/>
                <a:cs typeface="Times New Roman"/>
              </a:rPr>
              <a:t>Low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Phosphorus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(P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&lt;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40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kg/ha)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→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Prescribes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DAP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(18-46-0)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or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14-35-14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root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development.</a:t>
            </a:r>
            <a:endParaRPr sz="1500">
              <a:latin typeface="Times New Roman"/>
              <a:cs typeface="Times New Roman"/>
            </a:endParaRPr>
          </a:p>
          <a:p>
            <a:pPr lvl="1" marL="266065" indent="-110489">
              <a:lnSpc>
                <a:spcPct val="100000"/>
              </a:lnSpc>
              <a:spcBef>
                <a:spcPts val="1010"/>
              </a:spcBef>
              <a:buChar char="-"/>
              <a:tabLst>
                <a:tab pos="266065" algn="l"/>
              </a:tabLst>
            </a:pPr>
            <a:r>
              <a:rPr dirty="0" sz="1500">
                <a:latin typeface="Times New Roman"/>
                <a:cs typeface="Times New Roman"/>
              </a:rPr>
              <a:t>Soil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pH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Imbalance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(pH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&lt;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5.5)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→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Recommends agricultural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liming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alongside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acid-tolerant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crop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varieties.</a:t>
            </a:r>
            <a:endParaRPr sz="15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1000"/>
              </a:spcBef>
              <a:buChar char="•"/>
              <a:tabLst>
                <a:tab pos="126364" algn="l"/>
              </a:tabLst>
            </a:pPr>
            <a:r>
              <a:rPr dirty="0" sz="1500">
                <a:latin typeface="Times New Roman"/>
                <a:cs typeface="Times New Roman"/>
              </a:rPr>
              <a:t>Field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Validation: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Evaluated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against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official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Tamil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Nadu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Agricultural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University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(TNAU)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agronomic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guidelines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98.2%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concordance.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18430" y="339928"/>
            <a:ext cx="2127250" cy="4451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10">
                <a:solidFill>
                  <a:srgbClr val="000000"/>
                </a:solidFill>
              </a:rPr>
              <a:t>MILESTONE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2655823" y="3837559"/>
            <a:ext cx="1746250" cy="365760"/>
            <a:chOff x="2655823" y="3837559"/>
            <a:chExt cx="1746250" cy="365760"/>
          </a:xfrm>
        </p:grpSpPr>
        <p:sp>
          <p:nvSpPr>
            <p:cNvPr id="4" name="object 4"/>
            <p:cNvSpPr/>
            <p:nvPr/>
          </p:nvSpPr>
          <p:spPr>
            <a:xfrm>
              <a:off x="2662173" y="3843909"/>
              <a:ext cx="1733550" cy="353060"/>
            </a:xfrm>
            <a:custGeom>
              <a:avLst/>
              <a:gdLst/>
              <a:ahLst/>
              <a:cxnLst/>
              <a:rect l="l" t="t" r="r" b="b"/>
              <a:pathLst>
                <a:path w="1733550" h="353060">
                  <a:moveTo>
                    <a:pt x="1733550" y="0"/>
                  </a:moveTo>
                  <a:lnTo>
                    <a:pt x="0" y="0"/>
                  </a:lnTo>
                  <a:lnTo>
                    <a:pt x="0" y="353060"/>
                  </a:lnTo>
                  <a:lnTo>
                    <a:pt x="1733550" y="35306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62173" y="3843909"/>
              <a:ext cx="1733550" cy="353060"/>
            </a:xfrm>
            <a:custGeom>
              <a:avLst/>
              <a:gdLst/>
              <a:ahLst/>
              <a:cxnLst/>
              <a:rect l="l" t="t" r="r" b="b"/>
              <a:pathLst>
                <a:path w="1733550" h="353060">
                  <a:moveTo>
                    <a:pt x="0" y="353060"/>
                  </a:moveTo>
                  <a:lnTo>
                    <a:pt x="1733550" y="353060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353060"/>
                  </a:lnTo>
                  <a:close/>
                </a:path>
              </a:pathLst>
            </a:custGeom>
            <a:ln w="126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662427" y="3858005"/>
            <a:ext cx="17272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Dec</a:t>
            </a:r>
            <a:r>
              <a:rPr dirty="0" sz="1100" spc="-20" b="1">
                <a:latin typeface="Times New Roman"/>
                <a:cs typeface="Times New Roman"/>
              </a:rPr>
              <a:t> 2025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6698" y="3843909"/>
            <a:ext cx="1485900" cy="353060"/>
          </a:xfrm>
          <a:prstGeom prst="rect">
            <a:avLst/>
          </a:prstGeom>
          <a:solidFill>
            <a:srgbClr val="EB7B2F"/>
          </a:solidFill>
          <a:ln w="12600">
            <a:solidFill>
              <a:srgbClr val="F0F0F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r>
              <a:rPr dirty="0" sz="1100" b="1">
                <a:latin typeface="Times New Roman"/>
                <a:cs typeface="Times New Roman"/>
              </a:rPr>
              <a:t>May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4176" y="3843909"/>
            <a:ext cx="1485900" cy="353060"/>
          </a:xfrm>
          <a:prstGeom prst="rect">
            <a:avLst/>
          </a:prstGeom>
          <a:solidFill>
            <a:srgbClr val="A3A3A3"/>
          </a:solidFill>
          <a:ln w="12600">
            <a:solidFill>
              <a:srgbClr val="F0F0F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215"/>
              </a:spcBef>
            </a:pPr>
            <a:r>
              <a:rPr dirty="0" sz="1100" b="1">
                <a:latin typeface="Times New Roman"/>
                <a:cs typeface="Times New Roman"/>
              </a:rPr>
              <a:t>Dec</a:t>
            </a:r>
            <a:r>
              <a:rPr dirty="0" sz="1100" spc="-20" b="1">
                <a:latin typeface="Times New Roman"/>
                <a:cs typeface="Times New Roman"/>
              </a:rPr>
              <a:t> 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91526" y="3843909"/>
            <a:ext cx="1485900" cy="353060"/>
          </a:xfrm>
          <a:prstGeom prst="rect">
            <a:avLst/>
          </a:prstGeom>
          <a:solidFill>
            <a:srgbClr val="FFC000"/>
          </a:solidFill>
          <a:ln w="12600">
            <a:solidFill>
              <a:srgbClr val="F0F0F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215"/>
              </a:spcBef>
            </a:pPr>
            <a:r>
              <a:rPr dirty="0" sz="1100" b="1">
                <a:latin typeface="Times New Roman"/>
                <a:cs typeface="Times New Roman"/>
              </a:rPr>
              <a:t>May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2027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39351" y="3843909"/>
            <a:ext cx="1704975" cy="353060"/>
          </a:xfrm>
          <a:prstGeom prst="rect">
            <a:avLst/>
          </a:prstGeom>
          <a:solidFill>
            <a:srgbClr val="5B9BD3"/>
          </a:solidFill>
          <a:ln w="12600">
            <a:solidFill>
              <a:srgbClr val="F0F0F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215"/>
              </a:spcBef>
            </a:pPr>
            <a:r>
              <a:rPr dirty="0" sz="1100" b="1">
                <a:latin typeface="Times New Roman"/>
                <a:cs typeface="Times New Roman"/>
              </a:rPr>
              <a:t>Dec</a:t>
            </a:r>
            <a:r>
              <a:rPr dirty="0" sz="1100" spc="-20" b="1">
                <a:latin typeface="Times New Roman"/>
                <a:cs typeface="Times New Roman"/>
              </a:rPr>
              <a:t> 2027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83303" y="430809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654" y="0"/>
                </a:moveTo>
                <a:lnTo>
                  <a:pt x="0" y="0"/>
                </a:lnTo>
                <a:lnTo>
                  <a:pt x="126" y="25526"/>
                </a:lnTo>
                <a:lnTo>
                  <a:pt x="25654" y="25526"/>
                </a:lnTo>
                <a:lnTo>
                  <a:pt x="25654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83684" y="441032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527"/>
                </a:lnTo>
                <a:lnTo>
                  <a:pt x="25653" y="25527"/>
                </a:lnTo>
                <a:lnTo>
                  <a:pt x="25526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83938" y="451256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653" y="0"/>
                </a:moveTo>
                <a:lnTo>
                  <a:pt x="0" y="0"/>
                </a:lnTo>
                <a:lnTo>
                  <a:pt x="126" y="25527"/>
                </a:lnTo>
                <a:lnTo>
                  <a:pt x="25653" y="25527"/>
                </a:lnTo>
                <a:lnTo>
                  <a:pt x="25653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4319" y="461479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653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84572" y="471703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654"/>
                </a:lnTo>
                <a:lnTo>
                  <a:pt x="25653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84953" y="481926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654" y="25526"/>
                </a:lnTo>
                <a:lnTo>
                  <a:pt x="25526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85208" y="4921503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654"/>
                </a:lnTo>
                <a:lnTo>
                  <a:pt x="25653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85589" y="502373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654"/>
                </a:lnTo>
                <a:lnTo>
                  <a:pt x="25526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0315" y="5107051"/>
            <a:ext cx="76708" cy="76707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6242811" y="371881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653" y="0"/>
                </a:moveTo>
                <a:lnTo>
                  <a:pt x="0" y="0"/>
                </a:lnTo>
                <a:lnTo>
                  <a:pt x="126" y="25654"/>
                </a:lnTo>
                <a:lnTo>
                  <a:pt x="25653" y="25654"/>
                </a:lnTo>
                <a:lnTo>
                  <a:pt x="25653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42558" y="361657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654"/>
                </a:lnTo>
                <a:lnTo>
                  <a:pt x="25653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42303" y="351434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526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41922" y="341210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653"/>
                </a:lnTo>
                <a:lnTo>
                  <a:pt x="25653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41669" y="3309873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526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41288" y="320763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526"/>
                </a:lnTo>
                <a:lnTo>
                  <a:pt x="25653" y="25526"/>
                </a:lnTo>
                <a:lnTo>
                  <a:pt x="25526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41034" y="310540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5" y="0"/>
                </a:moveTo>
                <a:lnTo>
                  <a:pt x="0" y="0"/>
                </a:lnTo>
                <a:lnTo>
                  <a:pt x="0" y="25526"/>
                </a:lnTo>
                <a:lnTo>
                  <a:pt x="25525" y="25526"/>
                </a:lnTo>
                <a:lnTo>
                  <a:pt x="25525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240653" y="300316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526"/>
                </a:lnTo>
                <a:lnTo>
                  <a:pt x="25654" y="25526"/>
                </a:lnTo>
                <a:lnTo>
                  <a:pt x="25526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4871" y="2871977"/>
            <a:ext cx="76580" cy="76581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7926705" y="430809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0" y="25526"/>
                </a:lnTo>
                <a:lnTo>
                  <a:pt x="25653" y="25526"/>
                </a:lnTo>
                <a:lnTo>
                  <a:pt x="255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926958" y="441032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654" y="0"/>
                </a:moveTo>
                <a:lnTo>
                  <a:pt x="0" y="0"/>
                </a:lnTo>
                <a:lnTo>
                  <a:pt x="126" y="25527"/>
                </a:lnTo>
                <a:lnTo>
                  <a:pt x="25654" y="25527"/>
                </a:lnTo>
                <a:lnTo>
                  <a:pt x="2565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927340" y="451256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126" y="25654"/>
                </a:lnTo>
                <a:lnTo>
                  <a:pt x="25653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927720" y="461479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126" y="25653"/>
                </a:lnTo>
                <a:lnTo>
                  <a:pt x="25653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928102" y="471703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0" y="25654"/>
                </a:lnTo>
                <a:lnTo>
                  <a:pt x="25653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28482" y="481926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526" y="25526"/>
                </a:lnTo>
                <a:lnTo>
                  <a:pt x="255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928736" y="4921503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654" y="0"/>
                </a:moveTo>
                <a:lnTo>
                  <a:pt x="0" y="0"/>
                </a:lnTo>
                <a:lnTo>
                  <a:pt x="127" y="25654"/>
                </a:lnTo>
                <a:lnTo>
                  <a:pt x="25654" y="25654"/>
                </a:lnTo>
                <a:lnTo>
                  <a:pt x="2565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929118" y="502373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126" y="25654"/>
                </a:lnTo>
                <a:lnTo>
                  <a:pt x="25653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03971" y="5107051"/>
            <a:ext cx="76707" cy="76707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2381250" y="2067179"/>
            <a:ext cx="857250" cy="772160"/>
            <a:chOff x="2381250" y="2067179"/>
            <a:chExt cx="857250" cy="772160"/>
          </a:xfrm>
        </p:grpSpPr>
        <p:sp>
          <p:nvSpPr>
            <p:cNvPr id="39" name="object 39"/>
            <p:cNvSpPr/>
            <p:nvPr/>
          </p:nvSpPr>
          <p:spPr>
            <a:xfrm>
              <a:off x="2381250" y="2067179"/>
              <a:ext cx="857250" cy="772160"/>
            </a:xfrm>
            <a:custGeom>
              <a:avLst/>
              <a:gdLst/>
              <a:ahLst/>
              <a:cxnLst/>
              <a:rect l="l" t="t" r="r" b="b"/>
              <a:pathLst>
                <a:path w="857250" h="772160">
                  <a:moveTo>
                    <a:pt x="428625" y="0"/>
                  </a:moveTo>
                  <a:lnTo>
                    <a:pt x="378587" y="2540"/>
                  </a:lnTo>
                  <a:lnTo>
                    <a:pt x="330326" y="10160"/>
                  </a:lnTo>
                  <a:lnTo>
                    <a:pt x="284099" y="22479"/>
                  </a:lnTo>
                  <a:lnTo>
                    <a:pt x="240156" y="39243"/>
                  </a:lnTo>
                  <a:lnTo>
                    <a:pt x="198881" y="60071"/>
                  </a:lnTo>
                  <a:lnTo>
                    <a:pt x="160527" y="84709"/>
                  </a:lnTo>
                  <a:lnTo>
                    <a:pt x="125475" y="113030"/>
                  </a:lnTo>
                  <a:lnTo>
                    <a:pt x="94106" y="144525"/>
                  </a:lnTo>
                  <a:lnTo>
                    <a:pt x="66675" y="178943"/>
                  </a:lnTo>
                  <a:lnTo>
                    <a:pt x="43561" y="216154"/>
                  </a:lnTo>
                  <a:lnTo>
                    <a:pt x="25018" y="255650"/>
                  </a:lnTo>
                  <a:lnTo>
                    <a:pt x="11302" y="297307"/>
                  </a:lnTo>
                  <a:lnTo>
                    <a:pt x="2920" y="340868"/>
                  </a:lnTo>
                  <a:lnTo>
                    <a:pt x="0" y="385825"/>
                  </a:lnTo>
                  <a:lnTo>
                    <a:pt x="2920" y="430784"/>
                  </a:lnTo>
                  <a:lnTo>
                    <a:pt x="11302" y="474345"/>
                  </a:lnTo>
                  <a:lnTo>
                    <a:pt x="25018" y="516000"/>
                  </a:lnTo>
                  <a:lnTo>
                    <a:pt x="43561" y="555498"/>
                  </a:lnTo>
                  <a:lnTo>
                    <a:pt x="66675" y="592709"/>
                  </a:lnTo>
                  <a:lnTo>
                    <a:pt x="94106" y="627126"/>
                  </a:lnTo>
                  <a:lnTo>
                    <a:pt x="125475" y="658622"/>
                  </a:lnTo>
                  <a:lnTo>
                    <a:pt x="160527" y="686943"/>
                  </a:lnTo>
                  <a:lnTo>
                    <a:pt x="198881" y="711581"/>
                  </a:lnTo>
                  <a:lnTo>
                    <a:pt x="240156" y="732409"/>
                  </a:lnTo>
                  <a:lnTo>
                    <a:pt x="284099" y="749173"/>
                  </a:lnTo>
                  <a:lnTo>
                    <a:pt x="330326" y="761492"/>
                  </a:lnTo>
                  <a:lnTo>
                    <a:pt x="378587" y="769112"/>
                  </a:lnTo>
                  <a:lnTo>
                    <a:pt x="428625" y="771651"/>
                  </a:lnTo>
                  <a:lnTo>
                    <a:pt x="478663" y="769112"/>
                  </a:lnTo>
                  <a:lnTo>
                    <a:pt x="526923" y="761492"/>
                  </a:lnTo>
                  <a:lnTo>
                    <a:pt x="573151" y="749173"/>
                  </a:lnTo>
                  <a:lnTo>
                    <a:pt x="617093" y="732409"/>
                  </a:lnTo>
                  <a:lnTo>
                    <a:pt x="658368" y="711581"/>
                  </a:lnTo>
                  <a:lnTo>
                    <a:pt x="696722" y="686943"/>
                  </a:lnTo>
                  <a:lnTo>
                    <a:pt x="731647" y="658622"/>
                  </a:lnTo>
                  <a:lnTo>
                    <a:pt x="763143" y="627126"/>
                  </a:lnTo>
                  <a:lnTo>
                    <a:pt x="790575" y="592709"/>
                  </a:lnTo>
                  <a:lnTo>
                    <a:pt x="813688" y="555498"/>
                  </a:lnTo>
                  <a:lnTo>
                    <a:pt x="832231" y="516000"/>
                  </a:lnTo>
                  <a:lnTo>
                    <a:pt x="845947" y="474345"/>
                  </a:lnTo>
                  <a:lnTo>
                    <a:pt x="854329" y="430784"/>
                  </a:lnTo>
                  <a:lnTo>
                    <a:pt x="857250" y="385825"/>
                  </a:lnTo>
                  <a:lnTo>
                    <a:pt x="854329" y="340868"/>
                  </a:lnTo>
                  <a:lnTo>
                    <a:pt x="845947" y="297307"/>
                  </a:lnTo>
                  <a:lnTo>
                    <a:pt x="832231" y="255650"/>
                  </a:lnTo>
                  <a:lnTo>
                    <a:pt x="813688" y="216154"/>
                  </a:lnTo>
                  <a:lnTo>
                    <a:pt x="790575" y="178943"/>
                  </a:lnTo>
                  <a:lnTo>
                    <a:pt x="763143" y="144525"/>
                  </a:lnTo>
                  <a:lnTo>
                    <a:pt x="731647" y="113030"/>
                  </a:lnTo>
                  <a:lnTo>
                    <a:pt x="696722" y="84709"/>
                  </a:lnTo>
                  <a:lnTo>
                    <a:pt x="658368" y="60071"/>
                  </a:lnTo>
                  <a:lnTo>
                    <a:pt x="617093" y="39243"/>
                  </a:lnTo>
                  <a:lnTo>
                    <a:pt x="573151" y="22479"/>
                  </a:lnTo>
                  <a:lnTo>
                    <a:pt x="526923" y="10160"/>
                  </a:lnTo>
                  <a:lnTo>
                    <a:pt x="478663" y="2540"/>
                  </a:lnTo>
                  <a:lnTo>
                    <a:pt x="42862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625344" y="2321432"/>
              <a:ext cx="284480" cy="377190"/>
            </a:xfrm>
            <a:custGeom>
              <a:avLst/>
              <a:gdLst/>
              <a:ahLst/>
              <a:cxnLst/>
              <a:rect l="l" t="t" r="r" b="b"/>
              <a:pathLst>
                <a:path w="284480" h="377189">
                  <a:moveTo>
                    <a:pt x="284226" y="358267"/>
                  </a:moveTo>
                  <a:lnTo>
                    <a:pt x="281305" y="350012"/>
                  </a:lnTo>
                  <a:lnTo>
                    <a:pt x="275844" y="342646"/>
                  </a:lnTo>
                  <a:lnTo>
                    <a:pt x="268732" y="336931"/>
                  </a:lnTo>
                  <a:lnTo>
                    <a:pt x="260604" y="333502"/>
                  </a:lnTo>
                  <a:lnTo>
                    <a:pt x="259969" y="328803"/>
                  </a:lnTo>
                  <a:lnTo>
                    <a:pt x="247015" y="279400"/>
                  </a:lnTo>
                  <a:lnTo>
                    <a:pt x="208407" y="227838"/>
                  </a:lnTo>
                  <a:lnTo>
                    <a:pt x="146431" y="170053"/>
                  </a:lnTo>
                  <a:lnTo>
                    <a:pt x="188468" y="125603"/>
                  </a:lnTo>
                  <a:lnTo>
                    <a:pt x="201422" y="106299"/>
                  </a:lnTo>
                  <a:lnTo>
                    <a:pt x="207645" y="83566"/>
                  </a:lnTo>
                  <a:lnTo>
                    <a:pt x="207391" y="58547"/>
                  </a:lnTo>
                  <a:lnTo>
                    <a:pt x="200787" y="32258"/>
                  </a:lnTo>
                  <a:lnTo>
                    <a:pt x="212979" y="32258"/>
                  </a:lnTo>
                  <a:lnTo>
                    <a:pt x="218948" y="28829"/>
                  </a:lnTo>
                  <a:lnTo>
                    <a:pt x="222504" y="22606"/>
                  </a:lnTo>
                  <a:lnTo>
                    <a:pt x="222758" y="14224"/>
                  </a:lnTo>
                  <a:lnTo>
                    <a:pt x="219456" y="5334"/>
                  </a:lnTo>
                  <a:lnTo>
                    <a:pt x="215265" y="0"/>
                  </a:lnTo>
                  <a:lnTo>
                    <a:pt x="0" y="0"/>
                  </a:lnTo>
                  <a:lnTo>
                    <a:pt x="174879" y="28067"/>
                  </a:lnTo>
                  <a:lnTo>
                    <a:pt x="181229" y="49784"/>
                  </a:lnTo>
                  <a:lnTo>
                    <a:pt x="182118" y="70612"/>
                  </a:lnTo>
                  <a:lnTo>
                    <a:pt x="177419" y="89535"/>
                  </a:lnTo>
                  <a:lnTo>
                    <a:pt x="167005" y="105410"/>
                  </a:lnTo>
                  <a:lnTo>
                    <a:pt x="123317" y="151511"/>
                  </a:lnTo>
                  <a:lnTo>
                    <a:pt x="129413" y="182245"/>
                  </a:lnTo>
                  <a:lnTo>
                    <a:pt x="194564" y="243586"/>
                  </a:lnTo>
                  <a:lnTo>
                    <a:pt x="225171" y="285369"/>
                  </a:lnTo>
                  <a:lnTo>
                    <a:pt x="234315" y="328803"/>
                  </a:lnTo>
                  <a:lnTo>
                    <a:pt x="59309" y="300736"/>
                  </a:lnTo>
                  <a:lnTo>
                    <a:pt x="58166" y="296545"/>
                  </a:lnTo>
                  <a:lnTo>
                    <a:pt x="33147" y="296545"/>
                  </a:lnTo>
                  <a:lnTo>
                    <a:pt x="29845" y="296037"/>
                  </a:lnTo>
                  <a:lnTo>
                    <a:pt x="21336" y="296291"/>
                  </a:lnTo>
                  <a:lnTo>
                    <a:pt x="14986" y="299974"/>
                  </a:lnTo>
                  <a:lnTo>
                    <a:pt x="11430" y="306197"/>
                  </a:lnTo>
                  <a:lnTo>
                    <a:pt x="11176" y="314452"/>
                  </a:lnTo>
                  <a:lnTo>
                    <a:pt x="14478" y="323342"/>
                  </a:lnTo>
                  <a:lnTo>
                    <a:pt x="20574" y="331216"/>
                  </a:lnTo>
                  <a:lnTo>
                    <a:pt x="28575" y="337058"/>
                  </a:lnTo>
                  <a:lnTo>
                    <a:pt x="37719" y="340233"/>
                  </a:lnTo>
                  <a:lnTo>
                    <a:pt x="265684" y="376682"/>
                  </a:lnTo>
                  <a:lnTo>
                    <a:pt x="274193" y="376428"/>
                  </a:lnTo>
                  <a:lnTo>
                    <a:pt x="280416" y="372872"/>
                  </a:lnTo>
                  <a:lnTo>
                    <a:pt x="283972" y="366522"/>
                  </a:lnTo>
                  <a:lnTo>
                    <a:pt x="284226" y="358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0240" y="2557145"/>
              <a:ext cx="151891" cy="833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575052" y="2273426"/>
              <a:ext cx="266065" cy="344805"/>
            </a:xfrm>
            <a:custGeom>
              <a:avLst/>
              <a:gdLst/>
              <a:ahLst/>
              <a:cxnLst/>
              <a:rect l="l" t="t" r="r" b="b"/>
              <a:pathLst>
                <a:path w="266064" h="344805">
                  <a:moveTo>
                    <a:pt x="215265" y="114681"/>
                  </a:moveTo>
                  <a:lnTo>
                    <a:pt x="80391" y="92964"/>
                  </a:lnTo>
                  <a:lnTo>
                    <a:pt x="160909" y="176784"/>
                  </a:lnTo>
                  <a:lnTo>
                    <a:pt x="209931" y="128016"/>
                  </a:lnTo>
                  <a:lnTo>
                    <a:pt x="213614" y="121793"/>
                  </a:lnTo>
                  <a:lnTo>
                    <a:pt x="215265" y="114681"/>
                  </a:lnTo>
                  <a:close/>
                </a:path>
                <a:path w="266064" h="344805">
                  <a:moveTo>
                    <a:pt x="263271" y="80264"/>
                  </a:moveTo>
                  <a:lnTo>
                    <a:pt x="251079" y="80264"/>
                  </a:lnTo>
                  <a:lnTo>
                    <a:pt x="254381" y="80772"/>
                  </a:lnTo>
                  <a:lnTo>
                    <a:pt x="262890" y="80391"/>
                  </a:lnTo>
                  <a:lnTo>
                    <a:pt x="263271" y="80264"/>
                  </a:lnTo>
                  <a:close/>
                </a:path>
                <a:path w="266064" h="344805">
                  <a:moveTo>
                    <a:pt x="265557" y="48006"/>
                  </a:moveTo>
                  <a:lnTo>
                    <a:pt x="263652" y="45593"/>
                  </a:lnTo>
                  <a:lnTo>
                    <a:pt x="255651" y="39624"/>
                  </a:lnTo>
                  <a:lnTo>
                    <a:pt x="246507" y="36576"/>
                  </a:lnTo>
                  <a:lnTo>
                    <a:pt x="18542" y="0"/>
                  </a:lnTo>
                  <a:lnTo>
                    <a:pt x="10033" y="381"/>
                  </a:lnTo>
                  <a:lnTo>
                    <a:pt x="3683" y="3937"/>
                  </a:lnTo>
                  <a:lnTo>
                    <a:pt x="127" y="10287"/>
                  </a:lnTo>
                  <a:lnTo>
                    <a:pt x="0" y="18542"/>
                  </a:lnTo>
                  <a:lnTo>
                    <a:pt x="3048" y="26924"/>
                  </a:lnTo>
                  <a:lnTo>
                    <a:pt x="8509" y="34417"/>
                  </a:lnTo>
                  <a:lnTo>
                    <a:pt x="15875" y="40259"/>
                  </a:lnTo>
                  <a:lnTo>
                    <a:pt x="24384" y="43561"/>
                  </a:lnTo>
                  <a:lnTo>
                    <a:pt x="27305" y="69850"/>
                  </a:lnTo>
                  <a:lnTo>
                    <a:pt x="53467" y="125476"/>
                  </a:lnTo>
                  <a:lnTo>
                    <a:pt x="137795" y="209169"/>
                  </a:lnTo>
                  <a:lnTo>
                    <a:pt x="96012" y="254000"/>
                  </a:lnTo>
                  <a:lnTo>
                    <a:pt x="83566" y="272796"/>
                  </a:lnTo>
                  <a:lnTo>
                    <a:pt x="77470" y="294767"/>
                  </a:lnTo>
                  <a:lnTo>
                    <a:pt x="77470" y="319024"/>
                  </a:lnTo>
                  <a:lnTo>
                    <a:pt x="83439" y="344551"/>
                  </a:lnTo>
                  <a:lnTo>
                    <a:pt x="108458" y="344551"/>
                  </a:lnTo>
                  <a:lnTo>
                    <a:pt x="103632" y="327660"/>
                  </a:lnTo>
                  <a:lnTo>
                    <a:pt x="102870" y="307467"/>
                  </a:lnTo>
                  <a:lnTo>
                    <a:pt x="107569" y="289306"/>
                  </a:lnTo>
                  <a:lnTo>
                    <a:pt x="117856" y="273812"/>
                  </a:lnTo>
                  <a:lnTo>
                    <a:pt x="161544" y="227711"/>
                  </a:lnTo>
                  <a:lnTo>
                    <a:pt x="155448" y="196977"/>
                  </a:lnTo>
                  <a:lnTo>
                    <a:pt x="90297" y="135636"/>
                  </a:lnTo>
                  <a:lnTo>
                    <a:pt x="59055" y="92583"/>
                  </a:lnTo>
                  <a:lnTo>
                    <a:pt x="50292" y="48006"/>
                  </a:lnTo>
                  <a:lnTo>
                    <a:pt x="265557" y="480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5905500" y="2095754"/>
            <a:ext cx="676275" cy="686435"/>
            <a:chOff x="5905500" y="2095754"/>
            <a:chExt cx="676275" cy="686435"/>
          </a:xfrm>
        </p:grpSpPr>
        <p:sp>
          <p:nvSpPr>
            <p:cNvPr id="44" name="object 44"/>
            <p:cNvSpPr/>
            <p:nvPr/>
          </p:nvSpPr>
          <p:spPr>
            <a:xfrm>
              <a:off x="5905500" y="2095754"/>
              <a:ext cx="676275" cy="686435"/>
            </a:xfrm>
            <a:custGeom>
              <a:avLst/>
              <a:gdLst/>
              <a:ahLst/>
              <a:cxnLst/>
              <a:rect l="l" t="t" r="r" b="b"/>
              <a:pathLst>
                <a:path w="676275" h="686435">
                  <a:moveTo>
                    <a:pt x="338200" y="0"/>
                  </a:moveTo>
                  <a:lnTo>
                    <a:pt x="292353" y="3175"/>
                  </a:lnTo>
                  <a:lnTo>
                    <a:pt x="248285" y="12192"/>
                  </a:lnTo>
                  <a:lnTo>
                    <a:pt x="206501" y="26924"/>
                  </a:lnTo>
                  <a:lnTo>
                    <a:pt x="167512" y="46862"/>
                  </a:lnTo>
                  <a:lnTo>
                    <a:pt x="131572" y="71500"/>
                  </a:lnTo>
                  <a:lnTo>
                    <a:pt x="99060" y="100457"/>
                  </a:lnTo>
                  <a:lnTo>
                    <a:pt x="70485" y="133350"/>
                  </a:lnTo>
                  <a:lnTo>
                    <a:pt x="46227" y="169799"/>
                  </a:lnTo>
                  <a:lnTo>
                    <a:pt x="26542" y="209423"/>
                  </a:lnTo>
                  <a:lnTo>
                    <a:pt x="12064" y="251713"/>
                  </a:lnTo>
                  <a:lnTo>
                    <a:pt x="3048" y="296418"/>
                  </a:lnTo>
                  <a:lnTo>
                    <a:pt x="0" y="342900"/>
                  </a:lnTo>
                  <a:lnTo>
                    <a:pt x="3048" y="389509"/>
                  </a:lnTo>
                  <a:lnTo>
                    <a:pt x="12064" y="434086"/>
                  </a:lnTo>
                  <a:lnTo>
                    <a:pt x="26542" y="476376"/>
                  </a:lnTo>
                  <a:lnTo>
                    <a:pt x="46227" y="516000"/>
                  </a:lnTo>
                  <a:lnTo>
                    <a:pt x="70485" y="552576"/>
                  </a:lnTo>
                  <a:lnTo>
                    <a:pt x="99060" y="585470"/>
                  </a:lnTo>
                  <a:lnTo>
                    <a:pt x="131572" y="614426"/>
                  </a:lnTo>
                  <a:lnTo>
                    <a:pt x="167512" y="639063"/>
                  </a:lnTo>
                  <a:lnTo>
                    <a:pt x="206501" y="659003"/>
                  </a:lnTo>
                  <a:lnTo>
                    <a:pt x="248285" y="673735"/>
                  </a:lnTo>
                  <a:lnTo>
                    <a:pt x="292353" y="682751"/>
                  </a:lnTo>
                  <a:lnTo>
                    <a:pt x="338200" y="685926"/>
                  </a:lnTo>
                  <a:lnTo>
                    <a:pt x="384048" y="682751"/>
                  </a:lnTo>
                  <a:lnTo>
                    <a:pt x="428116" y="673735"/>
                  </a:lnTo>
                  <a:lnTo>
                    <a:pt x="469773" y="659003"/>
                  </a:lnTo>
                  <a:lnTo>
                    <a:pt x="508762" y="639063"/>
                  </a:lnTo>
                  <a:lnTo>
                    <a:pt x="544829" y="614426"/>
                  </a:lnTo>
                  <a:lnTo>
                    <a:pt x="577214" y="585470"/>
                  </a:lnTo>
                  <a:lnTo>
                    <a:pt x="605790" y="552576"/>
                  </a:lnTo>
                  <a:lnTo>
                    <a:pt x="630174" y="516000"/>
                  </a:lnTo>
                  <a:lnTo>
                    <a:pt x="649731" y="476376"/>
                  </a:lnTo>
                  <a:lnTo>
                    <a:pt x="664209" y="434086"/>
                  </a:lnTo>
                  <a:lnTo>
                    <a:pt x="673226" y="389509"/>
                  </a:lnTo>
                  <a:lnTo>
                    <a:pt x="676275" y="342900"/>
                  </a:lnTo>
                  <a:lnTo>
                    <a:pt x="673226" y="296418"/>
                  </a:lnTo>
                  <a:lnTo>
                    <a:pt x="664209" y="251713"/>
                  </a:lnTo>
                  <a:lnTo>
                    <a:pt x="649731" y="209423"/>
                  </a:lnTo>
                  <a:lnTo>
                    <a:pt x="630174" y="169799"/>
                  </a:lnTo>
                  <a:lnTo>
                    <a:pt x="605790" y="133350"/>
                  </a:lnTo>
                  <a:lnTo>
                    <a:pt x="577214" y="100457"/>
                  </a:lnTo>
                  <a:lnTo>
                    <a:pt x="544829" y="71500"/>
                  </a:lnTo>
                  <a:lnTo>
                    <a:pt x="508762" y="46862"/>
                  </a:lnTo>
                  <a:lnTo>
                    <a:pt x="469773" y="26924"/>
                  </a:lnTo>
                  <a:lnTo>
                    <a:pt x="428116" y="12192"/>
                  </a:lnTo>
                  <a:lnTo>
                    <a:pt x="384048" y="3175"/>
                  </a:lnTo>
                  <a:lnTo>
                    <a:pt x="338200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096000" y="2286254"/>
              <a:ext cx="333375" cy="305435"/>
            </a:xfrm>
            <a:custGeom>
              <a:avLst/>
              <a:gdLst/>
              <a:ahLst/>
              <a:cxnLst/>
              <a:rect l="l" t="t" r="r" b="b"/>
              <a:pathLst>
                <a:path w="333375" h="305435">
                  <a:moveTo>
                    <a:pt x="247523" y="0"/>
                  </a:moveTo>
                  <a:lnTo>
                    <a:pt x="226313" y="2921"/>
                  </a:lnTo>
                  <a:lnTo>
                    <a:pt x="207137" y="10795"/>
                  </a:lnTo>
                  <a:lnTo>
                    <a:pt x="188975" y="23495"/>
                  </a:lnTo>
                  <a:lnTo>
                    <a:pt x="171196" y="40512"/>
                  </a:lnTo>
                  <a:lnTo>
                    <a:pt x="171196" y="278003"/>
                  </a:lnTo>
                  <a:lnTo>
                    <a:pt x="201802" y="257429"/>
                  </a:lnTo>
                  <a:lnTo>
                    <a:pt x="233172" y="245110"/>
                  </a:lnTo>
                  <a:lnTo>
                    <a:pt x="264413" y="241935"/>
                  </a:lnTo>
                  <a:lnTo>
                    <a:pt x="294386" y="248538"/>
                  </a:lnTo>
                  <a:lnTo>
                    <a:pt x="293750" y="52959"/>
                  </a:lnTo>
                  <a:lnTo>
                    <a:pt x="308737" y="52959"/>
                  </a:lnTo>
                  <a:lnTo>
                    <a:pt x="307848" y="272415"/>
                  </a:lnTo>
                  <a:lnTo>
                    <a:pt x="270255" y="262128"/>
                  </a:lnTo>
                  <a:lnTo>
                    <a:pt x="238505" y="261366"/>
                  </a:lnTo>
                  <a:lnTo>
                    <a:pt x="207263" y="267843"/>
                  </a:lnTo>
                  <a:lnTo>
                    <a:pt x="171196" y="279146"/>
                  </a:lnTo>
                  <a:lnTo>
                    <a:pt x="171196" y="280797"/>
                  </a:lnTo>
                  <a:lnTo>
                    <a:pt x="162178" y="279146"/>
                  </a:lnTo>
                  <a:lnTo>
                    <a:pt x="126873" y="268224"/>
                  </a:lnTo>
                  <a:lnTo>
                    <a:pt x="94741" y="260731"/>
                  </a:lnTo>
                  <a:lnTo>
                    <a:pt x="61722" y="260223"/>
                  </a:lnTo>
                  <a:lnTo>
                    <a:pt x="23622" y="270510"/>
                  </a:lnTo>
                  <a:lnTo>
                    <a:pt x="24637" y="52959"/>
                  </a:lnTo>
                  <a:lnTo>
                    <a:pt x="39624" y="52959"/>
                  </a:lnTo>
                  <a:lnTo>
                    <a:pt x="38988" y="248538"/>
                  </a:lnTo>
                  <a:lnTo>
                    <a:pt x="68961" y="241935"/>
                  </a:lnTo>
                  <a:lnTo>
                    <a:pt x="100202" y="245110"/>
                  </a:lnTo>
                  <a:lnTo>
                    <a:pt x="131572" y="257429"/>
                  </a:lnTo>
                  <a:lnTo>
                    <a:pt x="162178" y="278003"/>
                  </a:lnTo>
                  <a:lnTo>
                    <a:pt x="162178" y="40512"/>
                  </a:lnTo>
                  <a:lnTo>
                    <a:pt x="144399" y="23495"/>
                  </a:lnTo>
                  <a:lnTo>
                    <a:pt x="126237" y="10795"/>
                  </a:lnTo>
                  <a:lnTo>
                    <a:pt x="107061" y="2921"/>
                  </a:lnTo>
                  <a:lnTo>
                    <a:pt x="85851" y="0"/>
                  </a:lnTo>
                  <a:lnTo>
                    <a:pt x="75311" y="508"/>
                  </a:lnTo>
                  <a:lnTo>
                    <a:pt x="64262" y="2286"/>
                  </a:lnTo>
                  <a:lnTo>
                    <a:pt x="52324" y="5080"/>
                  </a:lnTo>
                  <a:lnTo>
                    <a:pt x="39750" y="9144"/>
                  </a:lnTo>
                  <a:lnTo>
                    <a:pt x="39624" y="43307"/>
                  </a:lnTo>
                  <a:lnTo>
                    <a:pt x="10540" y="43053"/>
                  </a:lnTo>
                  <a:lnTo>
                    <a:pt x="10540" y="74295"/>
                  </a:lnTo>
                  <a:lnTo>
                    <a:pt x="0" y="74295"/>
                  </a:lnTo>
                  <a:lnTo>
                    <a:pt x="0" y="304926"/>
                  </a:lnTo>
                  <a:lnTo>
                    <a:pt x="333375" y="304926"/>
                  </a:lnTo>
                  <a:lnTo>
                    <a:pt x="333375" y="74295"/>
                  </a:lnTo>
                  <a:lnTo>
                    <a:pt x="321055" y="74295"/>
                  </a:lnTo>
                  <a:lnTo>
                    <a:pt x="321055" y="43053"/>
                  </a:lnTo>
                  <a:lnTo>
                    <a:pt x="293750" y="43307"/>
                  </a:lnTo>
                  <a:lnTo>
                    <a:pt x="293624" y="9144"/>
                  </a:lnTo>
                  <a:lnTo>
                    <a:pt x="281050" y="5080"/>
                  </a:lnTo>
                  <a:lnTo>
                    <a:pt x="269113" y="2286"/>
                  </a:lnTo>
                  <a:lnTo>
                    <a:pt x="258063" y="508"/>
                  </a:lnTo>
                  <a:lnTo>
                    <a:pt x="2475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9210675" y="2095754"/>
            <a:ext cx="685800" cy="686435"/>
            <a:chOff x="9210675" y="2095754"/>
            <a:chExt cx="685800" cy="686435"/>
          </a:xfrm>
        </p:grpSpPr>
        <p:sp>
          <p:nvSpPr>
            <p:cNvPr id="47" name="object 47"/>
            <p:cNvSpPr/>
            <p:nvPr/>
          </p:nvSpPr>
          <p:spPr>
            <a:xfrm>
              <a:off x="9210675" y="2095754"/>
              <a:ext cx="685800" cy="686435"/>
            </a:xfrm>
            <a:custGeom>
              <a:avLst/>
              <a:gdLst/>
              <a:ahLst/>
              <a:cxnLst/>
              <a:rect l="l" t="t" r="r" b="b"/>
              <a:pathLst>
                <a:path w="685800" h="686435">
                  <a:moveTo>
                    <a:pt x="342900" y="0"/>
                  </a:moveTo>
                  <a:lnTo>
                    <a:pt x="296418" y="3175"/>
                  </a:lnTo>
                  <a:lnTo>
                    <a:pt x="251714" y="12192"/>
                  </a:lnTo>
                  <a:lnTo>
                    <a:pt x="209423" y="26924"/>
                  </a:lnTo>
                  <a:lnTo>
                    <a:pt x="169799" y="46862"/>
                  </a:lnTo>
                  <a:lnTo>
                    <a:pt x="133350" y="71500"/>
                  </a:lnTo>
                  <a:lnTo>
                    <a:pt x="100456" y="100457"/>
                  </a:lnTo>
                  <a:lnTo>
                    <a:pt x="71500" y="133350"/>
                  </a:lnTo>
                  <a:lnTo>
                    <a:pt x="46863" y="169799"/>
                  </a:lnTo>
                  <a:lnTo>
                    <a:pt x="26924" y="209423"/>
                  </a:lnTo>
                  <a:lnTo>
                    <a:pt x="12192" y="251713"/>
                  </a:lnTo>
                  <a:lnTo>
                    <a:pt x="3175" y="296418"/>
                  </a:lnTo>
                  <a:lnTo>
                    <a:pt x="0" y="342900"/>
                  </a:lnTo>
                  <a:lnTo>
                    <a:pt x="3175" y="389509"/>
                  </a:lnTo>
                  <a:lnTo>
                    <a:pt x="12192" y="434086"/>
                  </a:lnTo>
                  <a:lnTo>
                    <a:pt x="26924" y="476376"/>
                  </a:lnTo>
                  <a:lnTo>
                    <a:pt x="46863" y="516000"/>
                  </a:lnTo>
                  <a:lnTo>
                    <a:pt x="71500" y="552576"/>
                  </a:lnTo>
                  <a:lnTo>
                    <a:pt x="100456" y="585470"/>
                  </a:lnTo>
                  <a:lnTo>
                    <a:pt x="133350" y="614426"/>
                  </a:lnTo>
                  <a:lnTo>
                    <a:pt x="169799" y="639063"/>
                  </a:lnTo>
                  <a:lnTo>
                    <a:pt x="209423" y="659003"/>
                  </a:lnTo>
                  <a:lnTo>
                    <a:pt x="251714" y="673735"/>
                  </a:lnTo>
                  <a:lnTo>
                    <a:pt x="296418" y="682751"/>
                  </a:lnTo>
                  <a:lnTo>
                    <a:pt x="342900" y="685926"/>
                  </a:lnTo>
                  <a:lnTo>
                    <a:pt x="389381" y="682751"/>
                  </a:lnTo>
                  <a:lnTo>
                    <a:pt x="434085" y="673735"/>
                  </a:lnTo>
                  <a:lnTo>
                    <a:pt x="476376" y="659003"/>
                  </a:lnTo>
                  <a:lnTo>
                    <a:pt x="516000" y="639063"/>
                  </a:lnTo>
                  <a:lnTo>
                    <a:pt x="552450" y="614426"/>
                  </a:lnTo>
                  <a:lnTo>
                    <a:pt x="585343" y="585470"/>
                  </a:lnTo>
                  <a:lnTo>
                    <a:pt x="614299" y="552576"/>
                  </a:lnTo>
                  <a:lnTo>
                    <a:pt x="638936" y="516000"/>
                  </a:lnTo>
                  <a:lnTo>
                    <a:pt x="658876" y="476376"/>
                  </a:lnTo>
                  <a:lnTo>
                    <a:pt x="673607" y="434086"/>
                  </a:lnTo>
                  <a:lnTo>
                    <a:pt x="682625" y="389509"/>
                  </a:lnTo>
                  <a:lnTo>
                    <a:pt x="685800" y="342900"/>
                  </a:lnTo>
                  <a:lnTo>
                    <a:pt x="682625" y="296418"/>
                  </a:lnTo>
                  <a:lnTo>
                    <a:pt x="673607" y="251713"/>
                  </a:lnTo>
                  <a:lnTo>
                    <a:pt x="658876" y="209423"/>
                  </a:lnTo>
                  <a:lnTo>
                    <a:pt x="638936" y="169799"/>
                  </a:lnTo>
                  <a:lnTo>
                    <a:pt x="614299" y="133350"/>
                  </a:lnTo>
                  <a:lnTo>
                    <a:pt x="585343" y="100457"/>
                  </a:lnTo>
                  <a:lnTo>
                    <a:pt x="552450" y="71500"/>
                  </a:lnTo>
                  <a:lnTo>
                    <a:pt x="516000" y="46862"/>
                  </a:lnTo>
                  <a:lnTo>
                    <a:pt x="476376" y="26924"/>
                  </a:lnTo>
                  <a:lnTo>
                    <a:pt x="434085" y="12192"/>
                  </a:lnTo>
                  <a:lnTo>
                    <a:pt x="389381" y="317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39250" y="2210117"/>
              <a:ext cx="609600" cy="466788"/>
            </a:xfrm>
            <a:prstGeom prst="rect">
              <a:avLst/>
            </a:prstGeom>
          </p:spPr>
        </p:pic>
      </p:grpSp>
      <p:sp>
        <p:nvSpPr>
          <p:cNvPr id="49" name="object 49"/>
          <p:cNvSpPr/>
          <p:nvPr/>
        </p:nvSpPr>
        <p:spPr>
          <a:xfrm>
            <a:off x="2757042" y="3841877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127"/>
                </a:lnTo>
                <a:lnTo>
                  <a:pt x="126" y="25654"/>
                </a:lnTo>
                <a:lnTo>
                  <a:pt x="25654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756661" y="373976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654" y="0"/>
                </a:moveTo>
                <a:lnTo>
                  <a:pt x="0" y="0"/>
                </a:lnTo>
                <a:lnTo>
                  <a:pt x="126" y="25526"/>
                </a:lnTo>
                <a:lnTo>
                  <a:pt x="25654" y="25526"/>
                </a:lnTo>
                <a:lnTo>
                  <a:pt x="25654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756407" y="363753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7" y="0"/>
                </a:moveTo>
                <a:lnTo>
                  <a:pt x="0" y="0"/>
                </a:lnTo>
                <a:lnTo>
                  <a:pt x="127" y="25527"/>
                </a:lnTo>
                <a:lnTo>
                  <a:pt x="25654" y="25400"/>
                </a:lnTo>
                <a:lnTo>
                  <a:pt x="25527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756154" y="353529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526"/>
                </a:lnTo>
                <a:lnTo>
                  <a:pt x="25526" y="25526"/>
                </a:lnTo>
                <a:lnTo>
                  <a:pt x="25526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755773" y="3432936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653"/>
                </a:lnTo>
                <a:lnTo>
                  <a:pt x="25653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755519" y="3330703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652"/>
                </a:lnTo>
                <a:lnTo>
                  <a:pt x="25526" y="25652"/>
                </a:lnTo>
                <a:lnTo>
                  <a:pt x="25526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755138" y="3228467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126" y="25654"/>
                </a:lnTo>
                <a:lnTo>
                  <a:pt x="25654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754883" y="3126232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526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54502" y="3023997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527" y="0"/>
                </a:moveTo>
                <a:lnTo>
                  <a:pt x="0" y="0"/>
                </a:lnTo>
                <a:lnTo>
                  <a:pt x="127" y="25653"/>
                </a:lnTo>
                <a:lnTo>
                  <a:pt x="25654" y="25653"/>
                </a:lnTo>
                <a:lnTo>
                  <a:pt x="25527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28722" y="2891027"/>
            <a:ext cx="76580" cy="76581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9548368" y="371881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126" y="25654"/>
                </a:lnTo>
                <a:lnTo>
                  <a:pt x="25653" y="25654"/>
                </a:lnTo>
                <a:lnTo>
                  <a:pt x="25526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9547986" y="361657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7" y="0"/>
                </a:moveTo>
                <a:lnTo>
                  <a:pt x="0" y="0"/>
                </a:lnTo>
                <a:lnTo>
                  <a:pt x="127" y="25654"/>
                </a:lnTo>
                <a:lnTo>
                  <a:pt x="25654" y="25654"/>
                </a:lnTo>
                <a:lnTo>
                  <a:pt x="25527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9547606" y="351434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653" y="0"/>
                </a:moveTo>
                <a:lnTo>
                  <a:pt x="0" y="0"/>
                </a:lnTo>
                <a:lnTo>
                  <a:pt x="126" y="25653"/>
                </a:lnTo>
                <a:lnTo>
                  <a:pt x="25653" y="25653"/>
                </a:lnTo>
                <a:lnTo>
                  <a:pt x="25653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9547352" y="341210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526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9546970" y="3309873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0" y="25653"/>
                </a:lnTo>
                <a:lnTo>
                  <a:pt x="25653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9546590" y="320763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126" y="25653"/>
                </a:lnTo>
                <a:lnTo>
                  <a:pt x="25653" y="25653"/>
                </a:lnTo>
                <a:lnTo>
                  <a:pt x="25526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9546208" y="310540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26" y="0"/>
                </a:moveTo>
                <a:lnTo>
                  <a:pt x="0" y="0"/>
                </a:lnTo>
                <a:lnTo>
                  <a:pt x="126" y="25526"/>
                </a:lnTo>
                <a:lnTo>
                  <a:pt x="25654" y="25526"/>
                </a:lnTo>
                <a:lnTo>
                  <a:pt x="25526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9545828" y="300316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653" y="0"/>
                </a:moveTo>
                <a:lnTo>
                  <a:pt x="0" y="0"/>
                </a:lnTo>
                <a:lnTo>
                  <a:pt x="126" y="25526"/>
                </a:lnTo>
                <a:lnTo>
                  <a:pt x="25653" y="25526"/>
                </a:lnTo>
                <a:lnTo>
                  <a:pt x="25653" y="0"/>
                </a:lnTo>
                <a:close/>
              </a:path>
            </a:pathLst>
          </a:custGeom>
          <a:solidFill>
            <a:srgbClr val="5B9BD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20046" y="2871977"/>
            <a:ext cx="76580" cy="76581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4248150" y="5239384"/>
            <a:ext cx="685800" cy="676910"/>
            <a:chOff x="4248150" y="5239384"/>
            <a:chExt cx="685800" cy="676910"/>
          </a:xfrm>
        </p:grpSpPr>
        <p:sp>
          <p:nvSpPr>
            <p:cNvPr id="69" name="object 69"/>
            <p:cNvSpPr/>
            <p:nvPr/>
          </p:nvSpPr>
          <p:spPr>
            <a:xfrm>
              <a:off x="4248150" y="5239384"/>
              <a:ext cx="685800" cy="676910"/>
            </a:xfrm>
            <a:custGeom>
              <a:avLst/>
              <a:gdLst/>
              <a:ahLst/>
              <a:cxnLst/>
              <a:rect l="l" t="t" r="r" b="b"/>
              <a:pathLst>
                <a:path w="685800" h="676910">
                  <a:moveTo>
                    <a:pt x="342900" y="0"/>
                  </a:moveTo>
                  <a:lnTo>
                    <a:pt x="296417" y="3047"/>
                  </a:lnTo>
                  <a:lnTo>
                    <a:pt x="251713" y="12064"/>
                  </a:lnTo>
                  <a:lnTo>
                    <a:pt x="209423" y="26542"/>
                  </a:lnTo>
                  <a:lnTo>
                    <a:pt x="169799" y="46227"/>
                  </a:lnTo>
                  <a:lnTo>
                    <a:pt x="133350" y="70484"/>
                  </a:lnTo>
                  <a:lnTo>
                    <a:pt x="100457" y="99059"/>
                  </a:lnTo>
                  <a:lnTo>
                    <a:pt x="71500" y="131571"/>
                  </a:lnTo>
                  <a:lnTo>
                    <a:pt x="46862" y="167512"/>
                  </a:lnTo>
                  <a:lnTo>
                    <a:pt x="26924" y="206628"/>
                  </a:lnTo>
                  <a:lnTo>
                    <a:pt x="12191" y="248284"/>
                  </a:lnTo>
                  <a:lnTo>
                    <a:pt x="3175" y="292353"/>
                  </a:lnTo>
                  <a:lnTo>
                    <a:pt x="0" y="338200"/>
                  </a:lnTo>
                  <a:lnTo>
                    <a:pt x="3175" y="384098"/>
                  </a:lnTo>
                  <a:lnTo>
                    <a:pt x="12191" y="428116"/>
                  </a:lnTo>
                  <a:lnTo>
                    <a:pt x="26924" y="469849"/>
                  </a:lnTo>
                  <a:lnTo>
                    <a:pt x="46862" y="508914"/>
                  </a:lnTo>
                  <a:lnTo>
                    <a:pt x="71500" y="544880"/>
                  </a:lnTo>
                  <a:lnTo>
                    <a:pt x="100457" y="577354"/>
                  </a:lnTo>
                  <a:lnTo>
                    <a:pt x="133350" y="605942"/>
                  </a:lnTo>
                  <a:lnTo>
                    <a:pt x="169799" y="630237"/>
                  </a:lnTo>
                  <a:lnTo>
                    <a:pt x="209423" y="649833"/>
                  </a:lnTo>
                  <a:lnTo>
                    <a:pt x="251713" y="664336"/>
                  </a:lnTo>
                  <a:lnTo>
                    <a:pt x="296417" y="673328"/>
                  </a:lnTo>
                  <a:lnTo>
                    <a:pt x="342900" y="676414"/>
                  </a:lnTo>
                  <a:lnTo>
                    <a:pt x="389382" y="673328"/>
                  </a:lnTo>
                  <a:lnTo>
                    <a:pt x="434086" y="664336"/>
                  </a:lnTo>
                  <a:lnTo>
                    <a:pt x="476376" y="649833"/>
                  </a:lnTo>
                  <a:lnTo>
                    <a:pt x="516000" y="630237"/>
                  </a:lnTo>
                  <a:lnTo>
                    <a:pt x="552450" y="605942"/>
                  </a:lnTo>
                  <a:lnTo>
                    <a:pt x="585342" y="577354"/>
                  </a:lnTo>
                  <a:lnTo>
                    <a:pt x="614299" y="544880"/>
                  </a:lnTo>
                  <a:lnTo>
                    <a:pt x="638937" y="508914"/>
                  </a:lnTo>
                  <a:lnTo>
                    <a:pt x="658876" y="469849"/>
                  </a:lnTo>
                  <a:lnTo>
                    <a:pt x="673608" y="428116"/>
                  </a:lnTo>
                  <a:lnTo>
                    <a:pt x="682625" y="384098"/>
                  </a:lnTo>
                  <a:lnTo>
                    <a:pt x="685800" y="338200"/>
                  </a:lnTo>
                  <a:lnTo>
                    <a:pt x="682625" y="292353"/>
                  </a:lnTo>
                  <a:lnTo>
                    <a:pt x="673608" y="248284"/>
                  </a:lnTo>
                  <a:lnTo>
                    <a:pt x="658876" y="206628"/>
                  </a:lnTo>
                  <a:lnTo>
                    <a:pt x="638937" y="167512"/>
                  </a:lnTo>
                  <a:lnTo>
                    <a:pt x="614299" y="131571"/>
                  </a:lnTo>
                  <a:lnTo>
                    <a:pt x="585342" y="99059"/>
                  </a:lnTo>
                  <a:lnTo>
                    <a:pt x="552450" y="70484"/>
                  </a:lnTo>
                  <a:lnTo>
                    <a:pt x="516000" y="46227"/>
                  </a:lnTo>
                  <a:lnTo>
                    <a:pt x="476376" y="26542"/>
                  </a:lnTo>
                  <a:lnTo>
                    <a:pt x="434086" y="12064"/>
                  </a:lnTo>
                  <a:lnTo>
                    <a:pt x="389382" y="3047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391025" y="5410961"/>
              <a:ext cx="390525" cy="323850"/>
            </a:xfrm>
            <a:custGeom>
              <a:avLst/>
              <a:gdLst/>
              <a:ahLst/>
              <a:cxnLst/>
              <a:rect l="l" t="t" r="r" b="b"/>
              <a:pathLst>
                <a:path w="390525" h="323850">
                  <a:moveTo>
                    <a:pt x="297180" y="40259"/>
                  </a:moveTo>
                  <a:lnTo>
                    <a:pt x="294005" y="24638"/>
                  </a:lnTo>
                  <a:lnTo>
                    <a:pt x="285369" y="11811"/>
                  </a:lnTo>
                  <a:lnTo>
                    <a:pt x="272669" y="3175"/>
                  </a:lnTo>
                  <a:lnTo>
                    <a:pt x="257048" y="0"/>
                  </a:lnTo>
                  <a:lnTo>
                    <a:pt x="245491" y="0"/>
                  </a:lnTo>
                  <a:lnTo>
                    <a:pt x="245491" y="103886"/>
                  </a:lnTo>
                  <a:lnTo>
                    <a:pt x="243713" y="112903"/>
                  </a:lnTo>
                  <a:lnTo>
                    <a:pt x="238760" y="120142"/>
                  </a:lnTo>
                  <a:lnTo>
                    <a:pt x="231394" y="125222"/>
                  </a:lnTo>
                  <a:lnTo>
                    <a:pt x="222504" y="127000"/>
                  </a:lnTo>
                  <a:lnTo>
                    <a:pt x="213614" y="125222"/>
                  </a:lnTo>
                  <a:lnTo>
                    <a:pt x="206248" y="120142"/>
                  </a:lnTo>
                  <a:lnTo>
                    <a:pt x="201295" y="112903"/>
                  </a:lnTo>
                  <a:lnTo>
                    <a:pt x="199517" y="103886"/>
                  </a:lnTo>
                  <a:lnTo>
                    <a:pt x="201295" y="94869"/>
                  </a:lnTo>
                  <a:lnTo>
                    <a:pt x="206248" y="87503"/>
                  </a:lnTo>
                  <a:lnTo>
                    <a:pt x="213614" y="82423"/>
                  </a:lnTo>
                  <a:lnTo>
                    <a:pt x="222504" y="80645"/>
                  </a:lnTo>
                  <a:lnTo>
                    <a:pt x="231394" y="82423"/>
                  </a:lnTo>
                  <a:lnTo>
                    <a:pt x="238760" y="87503"/>
                  </a:lnTo>
                  <a:lnTo>
                    <a:pt x="243713" y="94869"/>
                  </a:lnTo>
                  <a:lnTo>
                    <a:pt x="245491" y="103886"/>
                  </a:lnTo>
                  <a:lnTo>
                    <a:pt x="245491" y="0"/>
                  </a:lnTo>
                  <a:lnTo>
                    <a:pt x="171577" y="0"/>
                  </a:lnTo>
                  <a:lnTo>
                    <a:pt x="171577" y="103886"/>
                  </a:lnTo>
                  <a:lnTo>
                    <a:pt x="169799" y="112903"/>
                  </a:lnTo>
                  <a:lnTo>
                    <a:pt x="164846" y="120142"/>
                  </a:lnTo>
                  <a:lnTo>
                    <a:pt x="157480" y="125222"/>
                  </a:lnTo>
                  <a:lnTo>
                    <a:pt x="148590" y="127000"/>
                  </a:lnTo>
                  <a:lnTo>
                    <a:pt x="139573" y="125222"/>
                  </a:lnTo>
                  <a:lnTo>
                    <a:pt x="132207" y="120142"/>
                  </a:lnTo>
                  <a:lnTo>
                    <a:pt x="127254" y="112903"/>
                  </a:lnTo>
                  <a:lnTo>
                    <a:pt x="125476" y="103886"/>
                  </a:lnTo>
                  <a:lnTo>
                    <a:pt x="127254" y="94869"/>
                  </a:lnTo>
                  <a:lnTo>
                    <a:pt x="132207" y="87503"/>
                  </a:lnTo>
                  <a:lnTo>
                    <a:pt x="139573" y="82423"/>
                  </a:lnTo>
                  <a:lnTo>
                    <a:pt x="148590" y="80645"/>
                  </a:lnTo>
                  <a:lnTo>
                    <a:pt x="157480" y="82423"/>
                  </a:lnTo>
                  <a:lnTo>
                    <a:pt x="164846" y="87503"/>
                  </a:lnTo>
                  <a:lnTo>
                    <a:pt x="169799" y="94869"/>
                  </a:lnTo>
                  <a:lnTo>
                    <a:pt x="171577" y="103886"/>
                  </a:lnTo>
                  <a:lnTo>
                    <a:pt x="171577" y="0"/>
                  </a:lnTo>
                  <a:lnTo>
                    <a:pt x="97663" y="0"/>
                  </a:lnTo>
                  <a:lnTo>
                    <a:pt x="97663" y="103886"/>
                  </a:lnTo>
                  <a:lnTo>
                    <a:pt x="95885" y="112903"/>
                  </a:lnTo>
                  <a:lnTo>
                    <a:pt x="90932" y="120142"/>
                  </a:lnTo>
                  <a:lnTo>
                    <a:pt x="83566" y="125222"/>
                  </a:lnTo>
                  <a:lnTo>
                    <a:pt x="74676" y="127000"/>
                  </a:lnTo>
                  <a:lnTo>
                    <a:pt x="65659" y="125222"/>
                  </a:lnTo>
                  <a:lnTo>
                    <a:pt x="58293" y="120142"/>
                  </a:lnTo>
                  <a:lnTo>
                    <a:pt x="53340" y="112903"/>
                  </a:lnTo>
                  <a:lnTo>
                    <a:pt x="51562" y="103886"/>
                  </a:lnTo>
                  <a:lnTo>
                    <a:pt x="53340" y="94869"/>
                  </a:lnTo>
                  <a:lnTo>
                    <a:pt x="58293" y="87503"/>
                  </a:lnTo>
                  <a:lnTo>
                    <a:pt x="65659" y="82423"/>
                  </a:lnTo>
                  <a:lnTo>
                    <a:pt x="74676" y="80645"/>
                  </a:lnTo>
                  <a:lnTo>
                    <a:pt x="83566" y="82423"/>
                  </a:lnTo>
                  <a:lnTo>
                    <a:pt x="90932" y="87503"/>
                  </a:lnTo>
                  <a:lnTo>
                    <a:pt x="95885" y="94869"/>
                  </a:lnTo>
                  <a:lnTo>
                    <a:pt x="97663" y="103886"/>
                  </a:lnTo>
                  <a:lnTo>
                    <a:pt x="97663" y="0"/>
                  </a:lnTo>
                  <a:lnTo>
                    <a:pt x="40132" y="0"/>
                  </a:lnTo>
                  <a:lnTo>
                    <a:pt x="24511" y="3175"/>
                  </a:lnTo>
                  <a:lnTo>
                    <a:pt x="11811" y="11811"/>
                  </a:lnTo>
                  <a:lnTo>
                    <a:pt x="3175" y="24638"/>
                  </a:lnTo>
                  <a:lnTo>
                    <a:pt x="0" y="40259"/>
                  </a:lnTo>
                  <a:lnTo>
                    <a:pt x="0" y="168656"/>
                  </a:lnTo>
                  <a:lnTo>
                    <a:pt x="3175" y="184365"/>
                  </a:lnTo>
                  <a:lnTo>
                    <a:pt x="11811" y="197192"/>
                  </a:lnTo>
                  <a:lnTo>
                    <a:pt x="24511" y="205854"/>
                  </a:lnTo>
                  <a:lnTo>
                    <a:pt x="40132" y="209029"/>
                  </a:lnTo>
                  <a:lnTo>
                    <a:pt x="86360" y="209029"/>
                  </a:lnTo>
                  <a:lnTo>
                    <a:pt x="73152" y="222161"/>
                  </a:lnTo>
                  <a:lnTo>
                    <a:pt x="60452" y="230746"/>
                  </a:lnTo>
                  <a:lnTo>
                    <a:pt x="16764" y="253504"/>
                  </a:lnTo>
                  <a:lnTo>
                    <a:pt x="64389" y="247192"/>
                  </a:lnTo>
                  <a:lnTo>
                    <a:pt x="98044" y="239496"/>
                  </a:lnTo>
                  <a:lnTo>
                    <a:pt x="126492" y="227596"/>
                  </a:lnTo>
                  <a:lnTo>
                    <a:pt x="157099" y="209029"/>
                  </a:lnTo>
                  <a:lnTo>
                    <a:pt x="257048" y="209029"/>
                  </a:lnTo>
                  <a:lnTo>
                    <a:pt x="272669" y="205854"/>
                  </a:lnTo>
                  <a:lnTo>
                    <a:pt x="285369" y="197192"/>
                  </a:lnTo>
                  <a:lnTo>
                    <a:pt x="294005" y="184365"/>
                  </a:lnTo>
                  <a:lnTo>
                    <a:pt x="297180" y="168656"/>
                  </a:lnTo>
                  <a:lnTo>
                    <a:pt x="297180" y="127000"/>
                  </a:lnTo>
                  <a:lnTo>
                    <a:pt x="297180" y="80645"/>
                  </a:lnTo>
                  <a:lnTo>
                    <a:pt x="297180" y="40259"/>
                  </a:lnTo>
                  <a:close/>
                </a:path>
                <a:path w="390525" h="323850">
                  <a:moveTo>
                    <a:pt x="390525" y="109855"/>
                  </a:moveTo>
                  <a:lnTo>
                    <a:pt x="387350" y="94107"/>
                  </a:lnTo>
                  <a:lnTo>
                    <a:pt x="378714" y="81280"/>
                  </a:lnTo>
                  <a:lnTo>
                    <a:pt x="366014" y="72644"/>
                  </a:lnTo>
                  <a:lnTo>
                    <a:pt x="350393" y="69469"/>
                  </a:lnTo>
                  <a:lnTo>
                    <a:pt x="308356" y="69469"/>
                  </a:lnTo>
                  <a:lnTo>
                    <a:pt x="308356" y="179133"/>
                  </a:lnTo>
                  <a:lnTo>
                    <a:pt x="305181" y="194843"/>
                  </a:lnTo>
                  <a:lnTo>
                    <a:pt x="296545" y="207683"/>
                  </a:lnTo>
                  <a:lnTo>
                    <a:pt x="283845" y="216331"/>
                  </a:lnTo>
                  <a:lnTo>
                    <a:pt x="268224" y="219506"/>
                  </a:lnTo>
                  <a:lnTo>
                    <a:pt x="168275" y="219506"/>
                  </a:lnTo>
                  <a:lnTo>
                    <a:pt x="150368" y="230746"/>
                  </a:lnTo>
                  <a:lnTo>
                    <a:pt x="133096" y="240233"/>
                  </a:lnTo>
                  <a:lnTo>
                    <a:pt x="115570" y="248158"/>
                  </a:lnTo>
                  <a:lnTo>
                    <a:pt x="97028" y="254723"/>
                  </a:lnTo>
                  <a:lnTo>
                    <a:pt x="103124" y="264363"/>
                  </a:lnTo>
                  <a:lnTo>
                    <a:pt x="111506" y="271894"/>
                  </a:lnTo>
                  <a:lnTo>
                    <a:pt x="121793" y="276783"/>
                  </a:lnTo>
                  <a:lnTo>
                    <a:pt x="133477" y="278523"/>
                  </a:lnTo>
                  <a:lnTo>
                    <a:pt x="233426" y="278523"/>
                  </a:lnTo>
                  <a:lnTo>
                    <a:pt x="257175" y="298272"/>
                  </a:lnTo>
                  <a:lnTo>
                    <a:pt x="280289" y="310286"/>
                  </a:lnTo>
                  <a:lnTo>
                    <a:pt x="310769" y="317754"/>
                  </a:lnTo>
                  <a:lnTo>
                    <a:pt x="357124" y="323837"/>
                  </a:lnTo>
                  <a:lnTo>
                    <a:pt x="331089" y="309460"/>
                  </a:lnTo>
                  <a:lnTo>
                    <a:pt x="316992" y="298094"/>
                  </a:lnTo>
                  <a:lnTo>
                    <a:pt x="309753" y="288277"/>
                  </a:lnTo>
                  <a:lnTo>
                    <a:pt x="304165" y="278523"/>
                  </a:lnTo>
                  <a:lnTo>
                    <a:pt x="350393" y="278523"/>
                  </a:lnTo>
                  <a:lnTo>
                    <a:pt x="366014" y="275348"/>
                  </a:lnTo>
                  <a:lnTo>
                    <a:pt x="378714" y="266687"/>
                  </a:lnTo>
                  <a:lnTo>
                    <a:pt x="387350" y="253860"/>
                  </a:lnTo>
                  <a:lnTo>
                    <a:pt x="390525" y="238137"/>
                  </a:lnTo>
                  <a:lnTo>
                    <a:pt x="390525" y="1098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/>
          <p:cNvGrpSpPr/>
          <p:nvPr/>
        </p:nvGrpSpPr>
        <p:grpSpPr>
          <a:xfrm>
            <a:off x="7553325" y="5239384"/>
            <a:ext cx="685800" cy="676910"/>
            <a:chOff x="7553325" y="5239384"/>
            <a:chExt cx="685800" cy="676910"/>
          </a:xfrm>
        </p:grpSpPr>
        <p:sp>
          <p:nvSpPr>
            <p:cNvPr id="72" name="object 72"/>
            <p:cNvSpPr/>
            <p:nvPr/>
          </p:nvSpPr>
          <p:spPr>
            <a:xfrm>
              <a:off x="7553325" y="5239384"/>
              <a:ext cx="685800" cy="676910"/>
            </a:xfrm>
            <a:custGeom>
              <a:avLst/>
              <a:gdLst/>
              <a:ahLst/>
              <a:cxnLst/>
              <a:rect l="l" t="t" r="r" b="b"/>
              <a:pathLst>
                <a:path w="685800" h="676910">
                  <a:moveTo>
                    <a:pt x="342900" y="0"/>
                  </a:moveTo>
                  <a:lnTo>
                    <a:pt x="296418" y="3047"/>
                  </a:lnTo>
                  <a:lnTo>
                    <a:pt x="251714" y="12064"/>
                  </a:lnTo>
                  <a:lnTo>
                    <a:pt x="209423" y="26542"/>
                  </a:lnTo>
                  <a:lnTo>
                    <a:pt x="169799" y="46227"/>
                  </a:lnTo>
                  <a:lnTo>
                    <a:pt x="133350" y="70484"/>
                  </a:lnTo>
                  <a:lnTo>
                    <a:pt x="100456" y="99059"/>
                  </a:lnTo>
                  <a:lnTo>
                    <a:pt x="71500" y="131571"/>
                  </a:lnTo>
                  <a:lnTo>
                    <a:pt x="46863" y="167512"/>
                  </a:lnTo>
                  <a:lnTo>
                    <a:pt x="26924" y="206628"/>
                  </a:lnTo>
                  <a:lnTo>
                    <a:pt x="12192" y="248284"/>
                  </a:lnTo>
                  <a:lnTo>
                    <a:pt x="3175" y="292353"/>
                  </a:lnTo>
                  <a:lnTo>
                    <a:pt x="0" y="338200"/>
                  </a:lnTo>
                  <a:lnTo>
                    <a:pt x="3175" y="384098"/>
                  </a:lnTo>
                  <a:lnTo>
                    <a:pt x="12192" y="428116"/>
                  </a:lnTo>
                  <a:lnTo>
                    <a:pt x="26924" y="469849"/>
                  </a:lnTo>
                  <a:lnTo>
                    <a:pt x="46863" y="508914"/>
                  </a:lnTo>
                  <a:lnTo>
                    <a:pt x="71500" y="544880"/>
                  </a:lnTo>
                  <a:lnTo>
                    <a:pt x="100456" y="577354"/>
                  </a:lnTo>
                  <a:lnTo>
                    <a:pt x="133350" y="605942"/>
                  </a:lnTo>
                  <a:lnTo>
                    <a:pt x="169799" y="630237"/>
                  </a:lnTo>
                  <a:lnTo>
                    <a:pt x="209423" y="649833"/>
                  </a:lnTo>
                  <a:lnTo>
                    <a:pt x="251714" y="664336"/>
                  </a:lnTo>
                  <a:lnTo>
                    <a:pt x="296418" y="673328"/>
                  </a:lnTo>
                  <a:lnTo>
                    <a:pt x="342900" y="676414"/>
                  </a:lnTo>
                  <a:lnTo>
                    <a:pt x="389381" y="673328"/>
                  </a:lnTo>
                  <a:lnTo>
                    <a:pt x="434085" y="664336"/>
                  </a:lnTo>
                  <a:lnTo>
                    <a:pt x="476376" y="649833"/>
                  </a:lnTo>
                  <a:lnTo>
                    <a:pt x="516000" y="630237"/>
                  </a:lnTo>
                  <a:lnTo>
                    <a:pt x="552450" y="605942"/>
                  </a:lnTo>
                  <a:lnTo>
                    <a:pt x="585343" y="577354"/>
                  </a:lnTo>
                  <a:lnTo>
                    <a:pt x="614299" y="544880"/>
                  </a:lnTo>
                  <a:lnTo>
                    <a:pt x="638936" y="508914"/>
                  </a:lnTo>
                  <a:lnTo>
                    <a:pt x="658876" y="469849"/>
                  </a:lnTo>
                  <a:lnTo>
                    <a:pt x="673607" y="428116"/>
                  </a:lnTo>
                  <a:lnTo>
                    <a:pt x="682625" y="384098"/>
                  </a:lnTo>
                  <a:lnTo>
                    <a:pt x="685800" y="338200"/>
                  </a:lnTo>
                  <a:lnTo>
                    <a:pt x="682625" y="292353"/>
                  </a:lnTo>
                  <a:lnTo>
                    <a:pt x="673607" y="248284"/>
                  </a:lnTo>
                  <a:lnTo>
                    <a:pt x="658876" y="206628"/>
                  </a:lnTo>
                  <a:lnTo>
                    <a:pt x="638936" y="167512"/>
                  </a:lnTo>
                  <a:lnTo>
                    <a:pt x="614299" y="131571"/>
                  </a:lnTo>
                  <a:lnTo>
                    <a:pt x="585343" y="99059"/>
                  </a:lnTo>
                  <a:lnTo>
                    <a:pt x="552450" y="70484"/>
                  </a:lnTo>
                  <a:lnTo>
                    <a:pt x="516000" y="46227"/>
                  </a:lnTo>
                  <a:lnTo>
                    <a:pt x="476376" y="26542"/>
                  </a:lnTo>
                  <a:lnTo>
                    <a:pt x="434085" y="12064"/>
                  </a:lnTo>
                  <a:lnTo>
                    <a:pt x="389381" y="3047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0395" y="5409691"/>
              <a:ext cx="396748" cy="383425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10011918" y="5161026"/>
            <a:ext cx="4946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Times New Roman"/>
                <a:cs typeface="Times New Roman"/>
              </a:rPr>
              <a:t>Project Defense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043418" y="4445253"/>
            <a:ext cx="25622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Field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Validation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&amp;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Benchmark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Evaluation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055609" y="4932045"/>
            <a:ext cx="272796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95"/>
              </a:spcBef>
              <a:buClr>
                <a:srgbClr val="3D3D3D"/>
              </a:buClr>
              <a:buFont typeface="Segoe UI Symbol"/>
              <a:buChar char="❖"/>
              <a:tabLst>
                <a:tab pos="227965" algn="l"/>
              </a:tabLst>
            </a:pPr>
            <a:r>
              <a:rPr dirty="0" sz="1550" spc="-10">
                <a:solidFill>
                  <a:srgbClr val="1F243D"/>
                </a:solidFill>
                <a:latin typeface="Times New Roman"/>
                <a:cs typeface="Times New Roman"/>
              </a:rPr>
              <a:t>Edge-</a:t>
            </a:r>
            <a:r>
              <a:rPr dirty="0" sz="1550">
                <a:solidFill>
                  <a:srgbClr val="1F243D"/>
                </a:solidFill>
                <a:latin typeface="Times New Roman"/>
                <a:cs typeface="Times New Roman"/>
              </a:rPr>
              <a:t>deployment</a:t>
            </a:r>
            <a:r>
              <a:rPr dirty="0" sz="1550" spc="440">
                <a:solidFill>
                  <a:srgbClr val="1F243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D3D3D"/>
                </a:solidFill>
                <a:latin typeface="Segoe UI Symbol"/>
                <a:cs typeface="Segoe UI Symbol"/>
              </a:rPr>
              <a:t>❖</a:t>
            </a:r>
            <a:r>
              <a:rPr dirty="0" sz="1550" spc="390">
                <a:solidFill>
                  <a:srgbClr val="3D3D3D"/>
                </a:solidFill>
                <a:latin typeface="Segoe UI Symbol"/>
                <a:cs typeface="Segoe UI Symbol"/>
              </a:rPr>
              <a:t> </a:t>
            </a:r>
            <a:r>
              <a:rPr dirty="0" sz="1550" spc="-10">
                <a:solidFill>
                  <a:srgbClr val="3D3D3D"/>
                </a:solidFill>
                <a:latin typeface="Times New Roman"/>
                <a:cs typeface="Times New Roman"/>
              </a:rPr>
              <a:t>Synopsis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017587" y="3856609"/>
            <a:ext cx="1498600" cy="375285"/>
            <a:chOff x="1017587" y="3856609"/>
            <a:chExt cx="1498600" cy="375285"/>
          </a:xfrm>
        </p:grpSpPr>
        <p:sp>
          <p:nvSpPr>
            <p:cNvPr id="78" name="object 78"/>
            <p:cNvSpPr/>
            <p:nvPr/>
          </p:nvSpPr>
          <p:spPr>
            <a:xfrm>
              <a:off x="1023937" y="3862959"/>
              <a:ext cx="1485900" cy="362585"/>
            </a:xfrm>
            <a:custGeom>
              <a:avLst/>
              <a:gdLst/>
              <a:ahLst/>
              <a:cxnLst/>
              <a:rect l="l" t="t" r="r" b="b"/>
              <a:pathLst>
                <a:path w="1485900" h="362585">
                  <a:moveTo>
                    <a:pt x="1485900" y="0"/>
                  </a:moveTo>
                  <a:lnTo>
                    <a:pt x="0" y="0"/>
                  </a:lnTo>
                  <a:lnTo>
                    <a:pt x="0" y="362585"/>
                  </a:lnTo>
                  <a:lnTo>
                    <a:pt x="1485900" y="362585"/>
                  </a:lnTo>
                  <a:lnTo>
                    <a:pt x="1485900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023937" y="3862959"/>
              <a:ext cx="1485900" cy="362585"/>
            </a:xfrm>
            <a:custGeom>
              <a:avLst/>
              <a:gdLst/>
              <a:ahLst/>
              <a:cxnLst/>
              <a:rect l="l" t="t" r="r" b="b"/>
              <a:pathLst>
                <a:path w="1485900" h="362585">
                  <a:moveTo>
                    <a:pt x="0" y="362585"/>
                  </a:moveTo>
                  <a:lnTo>
                    <a:pt x="1485900" y="362585"/>
                  </a:lnTo>
                  <a:lnTo>
                    <a:pt x="1485900" y="0"/>
                  </a:lnTo>
                  <a:lnTo>
                    <a:pt x="0" y="0"/>
                  </a:lnTo>
                  <a:lnTo>
                    <a:pt x="0" y="362585"/>
                  </a:lnTo>
                  <a:close/>
                </a:path>
              </a:pathLst>
            </a:custGeom>
            <a:ln w="126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1024127" y="3880230"/>
            <a:ext cx="14795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July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2025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068311" y="421538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52" y="0"/>
                </a:moveTo>
                <a:lnTo>
                  <a:pt x="0" y="0"/>
                </a:lnTo>
                <a:lnTo>
                  <a:pt x="76" y="25527"/>
                </a:lnTo>
                <a:lnTo>
                  <a:pt x="25628" y="25527"/>
                </a:lnTo>
                <a:lnTo>
                  <a:pt x="25552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068616" y="431761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65" y="0"/>
                </a:moveTo>
                <a:lnTo>
                  <a:pt x="0" y="0"/>
                </a:lnTo>
                <a:lnTo>
                  <a:pt x="88" y="25526"/>
                </a:lnTo>
                <a:lnTo>
                  <a:pt x="25641" y="25526"/>
                </a:lnTo>
                <a:lnTo>
                  <a:pt x="25565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068933" y="4419853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52" y="0"/>
                </a:moveTo>
                <a:lnTo>
                  <a:pt x="0" y="0"/>
                </a:lnTo>
                <a:lnTo>
                  <a:pt x="76" y="25527"/>
                </a:lnTo>
                <a:lnTo>
                  <a:pt x="25641" y="25527"/>
                </a:lnTo>
                <a:lnTo>
                  <a:pt x="25552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069251" y="452208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52" y="0"/>
                </a:moveTo>
                <a:lnTo>
                  <a:pt x="0" y="0"/>
                </a:lnTo>
                <a:lnTo>
                  <a:pt x="76" y="25527"/>
                </a:lnTo>
                <a:lnTo>
                  <a:pt x="25628" y="25527"/>
                </a:lnTo>
                <a:lnTo>
                  <a:pt x="25552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069555" y="4624323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65" y="0"/>
                </a:moveTo>
                <a:lnTo>
                  <a:pt x="0" y="0"/>
                </a:lnTo>
                <a:lnTo>
                  <a:pt x="88" y="25653"/>
                </a:lnTo>
                <a:lnTo>
                  <a:pt x="25641" y="25653"/>
                </a:lnTo>
                <a:lnTo>
                  <a:pt x="25565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069873" y="4726559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52" y="0"/>
                </a:moveTo>
                <a:lnTo>
                  <a:pt x="0" y="0"/>
                </a:lnTo>
                <a:lnTo>
                  <a:pt x="76" y="25654"/>
                </a:lnTo>
                <a:lnTo>
                  <a:pt x="25641" y="25654"/>
                </a:lnTo>
                <a:lnTo>
                  <a:pt x="25552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070190" y="482879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52" y="0"/>
                </a:moveTo>
                <a:lnTo>
                  <a:pt x="0" y="0"/>
                </a:lnTo>
                <a:lnTo>
                  <a:pt x="76" y="25653"/>
                </a:lnTo>
                <a:lnTo>
                  <a:pt x="25628" y="25526"/>
                </a:lnTo>
                <a:lnTo>
                  <a:pt x="25552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070495" y="4931028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65" y="0"/>
                </a:moveTo>
                <a:lnTo>
                  <a:pt x="0" y="0"/>
                </a:lnTo>
                <a:lnTo>
                  <a:pt x="88" y="25654"/>
                </a:lnTo>
                <a:lnTo>
                  <a:pt x="25641" y="25654"/>
                </a:lnTo>
                <a:lnTo>
                  <a:pt x="25565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070813" y="503326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552" y="0"/>
                </a:moveTo>
                <a:lnTo>
                  <a:pt x="0" y="0"/>
                </a:lnTo>
                <a:lnTo>
                  <a:pt x="76" y="25654"/>
                </a:lnTo>
                <a:lnTo>
                  <a:pt x="25641" y="25654"/>
                </a:lnTo>
                <a:lnTo>
                  <a:pt x="25552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0" name="object 9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5629" y="5116576"/>
            <a:ext cx="76669" cy="76707"/>
          </a:xfrm>
          <a:prstGeom prst="rect">
            <a:avLst/>
          </a:prstGeom>
        </p:spPr>
      </p:pic>
      <p:sp>
        <p:nvSpPr>
          <p:cNvPr id="91" name="object 91"/>
          <p:cNvSpPr txBox="1"/>
          <p:nvPr/>
        </p:nvSpPr>
        <p:spPr>
          <a:xfrm>
            <a:off x="1286383" y="4331970"/>
            <a:ext cx="99885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Times New Roman"/>
                <a:cs typeface="Times New Roman"/>
              </a:rPr>
              <a:t>Project Commencement </a:t>
            </a:r>
            <a:r>
              <a:rPr dirty="0" sz="1100" b="1">
                <a:latin typeface="Times New Roman"/>
                <a:cs typeface="Times New Roman"/>
              </a:rPr>
              <a:t>&amp;</a:t>
            </a:r>
            <a:r>
              <a:rPr dirty="0" sz="1100" spc="-10" b="1">
                <a:latin typeface="Times New Roman"/>
                <a:cs typeface="Times New Roman"/>
              </a:rPr>
              <a:t> Problem Definition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92" name="object 9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77000" y="4677359"/>
            <a:ext cx="571500" cy="428675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3057525" y="2771901"/>
            <a:ext cx="1049020" cy="528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Times New Roman"/>
                <a:cs typeface="Times New Roman"/>
              </a:rPr>
              <a:t>Data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Ingestion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spc="-50" b="1">
                <a:latin typeface="Times New Roman"/>
                <a:cs typeface="Times New Roman"/>
              </a:rPr>
              <a:t>&amp; </a:t>
            </a:r>
            <a:r>
              <a:rPr dirty="0" sz="1100" spc="-10" b="1">
                <a:latin typeface="Times New Roman"/>
                <a:cs typeface="Times New Roman"/>
              </a:rPr>
              <a:t>Preprocessing Pipeline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78222" y="2886582"/>
            <a:ext cx="1028065" cy="528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Times New Roman"/>
                <a:cs typeface="Times New Roman"/>
              </a:rPr>
              <a:t>Dual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ML</a:t>
            </a:r>
            <a:r>
              <a:rPr dirty="0" sz="1100" spc="-10" b="1">
                <a:latin typeface="Times New Roman"/>
                <a:cs typeface="Times New Roman"/>
              </a:rPr>
              <a:t> Engine </a:t>
            </a:r>
            <a:r>
              <a:rPr dirty="0" sz="1100" b="1">
                <a:latin typeface="Times New Roman"/>
                <a:cs typeface="Times New Roman"/>
              </a:rPr>
              <a:t>Architecture</a:t>
            </a:r>
            <a:r>
              <a:rPr dirty="0" sz="1100" spc="-50" b="1">
                <a:latin typeface="Times New Roman"/>
                <a:cs typeface="Times New Roman"/>
              </a:rPr>
              <a:t> &amp; </a:t>
            </a:r>
            <a:r>
              <a:rPr dirty="0" sz="1100" spc="-10" b="1">
                <a:latin typeface="Times New Roman"/>
                <a:cs typeface="Times New Roman"/>
              </a:rPr>
              <a:t>Tuning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856856" y="2197735"/>
            <a:ext cx="175641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Times New Roman"/>
                <a:cs typeface="Times New Roman"/>
              </a:rPr>
              <a:t>Full-Stack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Web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DSS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&amp;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Real-</a:t>
            </a:r>
            <a:r>
              <a:rPr dirty="0" sz="1100" b="1">
                <a:latin typeface="Times New Roman"/>
                <a:cs typeface="Times New Roman"/>
              </a:rPr>
              <a:t>Time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API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259571" y="5161026"/>
            <a:ext cx="129603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Research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Publication </a:t>
            </a:r>
            <a:r>
              <a:rPr dirty="0" sz="1100" b="1">
                <a:latin typeface="Times New Roman"/>
                <a:cs typeface="Times New Roman"/>
              </a:rPr>
              <a:t>&amp;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Final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Project Defense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02793" y="2778379"/>
            <a:ext cx="1666239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Times New Roman"/>
                <a:cs typeface="Times New Roman"/>
              </a:rPr>
              <a:t>Project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Review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1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Approved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98" name="object 9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848850" y="295325"/>
            <a:ext cx="1885950" cy="600151"/>
          </a:xfrm>
          <a:prstGeom prst="rect">
            <a:avLst/>
          </a:prstGeom>
        </p:spPr>
      </p:pic>
      <p:sp>
        <p:nvSpPr>
          <p:cNvPr id="100" name="object 100"/>
          <p:cNvSpPr txBox="1"/>
          <p:nvPr/>
        </p:nvSpPr>
        <p:spPr>
          <a:xfrm>
            <a:off x="4745228" y="4351401"/>
            <a:ext cx="735965" cy="69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Times New Roman"/>
                <a:cs typeface="Times New Roman"/>
              </a:rPr>
              <a:t>Precision Agriculture Framework Review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46497" y="313182"/>
            <a:ext cx="2665730" cy="444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50" spc="-10"/>
              <a:t>PUBLICATIONS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903528" y="1883486"/>
            <a:ext cx="10071100" cy="3616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159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240665" algn="l"/>
              </a:tabLst>
            </a:pP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Research</a:t>
            </a:r>
            <a:r>
              <a:rPr dirty="0" sz="2000" spc="-4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Publications,</a:t>
            </a:r>
            <a:r>
              <a:rPr dirty="0" sz="2000" spc="-6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Presentations</a:t>
            </a:r>
            <a:r>
              <a:rPr dirty="0" sz="20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&amp;</a:t>
            </a:r>
            <a:r>
              <a:rPr dirty="0" sz="2000" spc="-3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Times New Roman"/>
                <a:cs typeface="Times New Roman"/>
              </a:rPr>
              <a:t>Open-</a:t>
            </a:r>
            <a:r>
              <a:rPr dirty="0" sz="2000" b="1">
                <a:solidFill>
                  <a:srgbClr val="1F3863"/>
                </a:solidFill>
                <a:latin typeface="Times New Roman"/>
                <a:cs typeface="Times New Roman"/>
              </a:rPr>
              <a:t>Source</a:t>
            </a:r>
            <a:r>
              <a:rPr dirty="0" sz="2000" spc="-6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Times New Roman"/>
                <a:cs typeface="Times New Roman"/>
              </a:rPr>
              <a:t>Artifacts</a:t>
            </a:r>
            <a:endParaRPr sz="2000">
              <a:latin typeface="Times New Roman"/>
              <a:cs typeface="Times New Roman"/>
            </a:endParaRPr>
          </a:p>
          <a:p>
            <a:pPr marL="201930" indent="-189230">
              <a:lnSpc>
                <a:spcPct val="100000"/>
              </a:lnSpc>
              <a:spcBef>
                <a:spcPts val="1415"/>
              </a:spcBef>
              <a:buAutoNum type="arabicPeriod"/>
              <a:tabLst>
                <a:tab pos="201930" algn="l"/>
              </a:tabLst>
            </a:pP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Conference</a:t>
            </a:r>
            <a:r>
              <a:rPr dirty="0" sz="1500" spc="-7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Presentation</a:t>
            </a:r>
            <a:r>
              <a:rPr dirty="0" sz="1500" spc="-9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(ICDSBS</a:t>
            </a:r>
            <a:r>
              <a:rPr dirty="0" sz="1500" spc="-6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2026):</a:t>
            </a:r>
            <a:endParaRPr sz="1500">
              <a:latin typeface="Times New Roman"/>
              <a:cs typeface="Times New Roman"/>
            </a:endParaRPr>
          </a:p>
          <a:p>
            <a:pPr marL="12700" marR="156210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Times New Roman"/>
                <a:cs typeface="Times New Roman"/>
              </a:rPr>
              <a:t>Debjit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Anshumaan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Supervisor,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“A Cascaded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Machine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Framework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Site-Specific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Recommendation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Nutrient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Optimization,”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IEEE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Science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(ICDSBS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2026).</a:t>
            </a:r>
            <a:endParaRPr sz="1400">
              <a:latin typeface="Times New Roman"/>
              <a:cs typeface="Times New Roman"/>
            </a:endParaRPr>
          </a:p>
          <a:p>
            <a:pPr marL="201930" indent="-189230">
              <a:lnSpc>
                <a:spcPct val="100000"/>
              </a:lnSpc>
              <a:spcBef>
                <a:spcPts val="994"/>
              </a:spcBef>
              <a:buAutoNum type="arabicPeriod" startAt="2"/>
              <a:tabLst>
                <a:tab pos="201930" algn="l"/>
              </a:tabLst>
            </a:pP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Journal</a:t>
            </a:r>
            <a:r>
              <a:rPr dirty="0" sz="1500" spc="-4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Manuscript</a:t>
            </a:r>
            <a:r>
              <a:rPr dirty="0" sz="1500" spc="-4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(Targeting</a:t>
            </a:r>
            <a:r>
              <a:rPr dirty="0" sz="1500" spc="-4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Q1</a:t>
            </a:r>
            <a:r>
              <a:rPr dirty="0" sz="1500" spc="-2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Agri-Tech</a:t>
            </a:r>
            <a:r>
              <a:rPr dirty="0" sz="1500" spc="-2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Venue):</a:t>
            </a:r>
            <a:endParaRPr sz="1500">
              <a:latin typeface="Times New Roman"/>
              <a:cs typeface="Times New Roman"/>
            </a:endParaRPr>
          </a:p>
          <a:p>
            <a:pPr marL="12700" marR="283210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Times New Roman"/>
                <a:cs typeface="Times New Roman"/>
              </a:rPr>
              <a:t>Debjit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Anshumaan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Das,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al.,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“Dual-</a:t>
            </a:r>
            <a:r>
              <a:rPr dirty="0" sz="1400">
                <a:latin typeface="Times New Roman"/>
                <a:cs typeface="Times New Roman"/>
              </a:rPr>
              <a:t>Engine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Precision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Agronomy: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Joint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Multi-Class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Suitability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Soil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Fertilizer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Deficit </a:t>
            </a:r>
            <a:r>
              <a:rPr dirty="0" sz="1400">
                <a:latin typeface="Times New Roman"/>
                <a:cs typeface="Times New Roman"/>
              </a:rPr>
              <a:t>Remediation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Interpretable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Tree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Ensembles,”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preparation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Electronics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Agriculture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(Elsevier,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</a:t>
            </a:r>
            <a:r>
              <a:rPr dirty="0" sz="1400" spc="-10">
                <a:latin typeface="Times New Roman"/>
                <a:cs typeface="Times New Roman"/>
              </a:rPr>
              <a:t> Factor: </a:t>
            </a:r>
            <a:r>
              <a:rPr dirty="0" sz="1400">
                <a:latin typeface="Times New Roman"/>
                <a:cs typeface="Times New Roman"/>
              </a:rPr>
              <a:t>8.3,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Q1).</a:t>
            </a:r>
            <a:endParaRPr sz="1400">
              <a:latin typeface="Times New Roman"/>
              <a:cs typeface="Times New Roman"/>
            </a:endParaRPr>
          </a:p>
          <a:p>
            <a:pPr marL="201930" indent="-189230">
              <a:lnSpc>
                <a:spcPct val="100000"/>
              </a:lnSpc>
              <a:spcBef>
                <a:spcPts val="994"/>
              </a:spcBef>
              <a:buAutoNum type="arabicPeriod" startAt="3"/>
              <a:tabLst>
                <a:tab pos="201930" algn="l"/>
              </a:tabLst>
            </a:pP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Open-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Source</a:t>
            </a:r>
            <a:r>
              <a:rPr dirty="0" sz="1500" spc="-5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Codebase</a:t>
            </a:r>
            <a:r>
              <a:rPr dirty="0" sz="1500" spc="-3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&amp;</a:t>
            </a:r>
            <a:r>
              <a:rPr dirty="0" sz="1500" spc="-2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Interactive</a:t>
            </a:r>
            <a:r>
              <a:rPr dirty="0" sz="1500" spc="-6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2D5395"/>
                </a:solidFill>
                <a:latin typeface="Times New Roman"/>
                <a:cs typeface="Times New Roman"/>
              </a:rPr>
              <a:t>Platform: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10"/>
              </a:spcBef>
            </a:pPr>
            <a:r>
              <a:rPr dirty="0" sz="1400">
                <a:latin typeface="Times New Roman"/>
                <a:cs typeface="Times New Roman"/>
              </a:rPr>
              <a:t>Complete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reproducible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source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code,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FastAPI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React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dashboard,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pre-trained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weights,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Jupyter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tutorials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released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publicly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GitHub: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500" b="1">
                <a:solidFill>
                  <a:srgbClr val="2D5395"/>
                </a:solidFill>
                <a:latin typeface="Times New Roman"/>
                <a:cs typeface="Times New Roman"/>
              </a:rPr>
              <a:t>Repository</a:t>
            </a:r>
            <a:r>
              <a:rPr dirty="0" sz="1500" spc="-5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500" spc="-20" b="1">
                <a:solidFill>
                  <a:srgbClr val="2D5395"/>
                </a:solidFill>
                <a:latin typeface="Times New Roman"/>
                <a:cs typeface="Times New Roman"/>
              </a:rPr>
              <a:t>URL: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400" spc="-10">
                <a:latin typeface="Times New Roman"/>
                <a:cs typeface="Times New Roman"/>
                <a:hlinkClick r:id="rId2"/>
              </a:rPr>
              <a:t>https://github.com/rosdebbu/l-data-seT-</a:t>
            </a:r>
            <a:r>
              <a:rPr dirty="0" sz="1400">
                <a:latin typeface="Times New Roman"/>
                <a:cs typeface="Times New Roman"/>
                <a:hlinkClick r:id="rId2"/>
              </a:rPr>
              <a:t>-</a:t>
            </a:r>
            <a:r>
              <a:rPr dirty="0" sz="1400" spc="-20">
                <a:latin typeface="Times New Roman"/>
                <a:cs typeface="Times New Roman"/>
                <a:hlinkClick r:id="rId2"/>
              </a:rPr>
              <a:t>-</a:t>
            </a:r>
            <a:r>
              <a:rPr dirty="0" sz="1400" spc="-25">
                <a:latin typeface="Times New Roman"/>
                <a:cs typeface="Times New Roman"/>
                <a:hlinkClick r:id="rId2"/>
              </a:rPr>
              <a:t>ML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720" y="6427114"/>
            <a:ext cx="725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F6F6F"/>
                </a:solidFill>
                <a:latin typeface="Times New Roman"/>
                <a:cs typeface="Times New Roman"/>
              </a:rPr>
              <a:t>21 Sep</a:t>
            </a:r>
            <a:r>
              <a:rPr dirty="0" sz="1100" spc="-15">
                <a:solidFill>
                  <a:srgbClr val="6F6F6F"/>
                </a:solidFill>
                <a:latin typeface="Times New Roman"/>
                <a:cs typeface="Times New Roman"/>
              </a:rPr>
              <a:t> </a:t>
            </a:r>
            <a:r>
              <a:rPr dirty="0" sz="1100" spc="-20">
                <a:solidFill>
                  <a:srgbClr val="6F6F6F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7229" y="6327444"/>
            <a:ext cx="4310380" cy="367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03200" marR="5080" indent="-190500">
              <a:lnSpc>
                <a:spcPct val="103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</a:t>
            </a:r>
            <a:r>
              <a:rPr dirty="0" sz="1100" spc="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Crop</a:t>
            </a:r>
            <a:r>
              <a:rPr dirty="0" sz="1100" spc="3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5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 Using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1750" y="6327444"/>
            <a:ext cx="69310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-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 Crop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6900" y="1752345"/>
            <a:ext cx="9822815" cy="3242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1940" marR="211454" indent="-25781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81940" algn="l"/>
              </a:tabLst>
            </a:pPr>
            <a:r>
              <a:rPr dirty="0" sz="1300">
                <a:latin typeface="Times New Roman"/>
                <a:cs typeface="Times New Roman"/>
              </a:rPr>
              <a:t>1.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Pudumalar,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E.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Ramanujam,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et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al.,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“Crop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recommendation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system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precision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agriculture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using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ensemble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learning,”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Proc.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IEEE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Eighth </a:t>
            </a:r>
            <a:r>
              <a:rPr dirty="0" sz="1300">
                <a:latin typeface="Times New Roman"/>
                <a:cs typeface="Times New Roman"/>
              </a:rPr>
              <a:t>International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Conference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Advanced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Computing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(ICoAC),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pp.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32–</a:t>
            </a:r>
            <a:r>
              <a:rPr dirty="0" sz="1300">
                <a:latin typeface="Times New Roman"/>
                <a:cs typeface="Times New Roman"/>
              </a:rPr>
              <a:t>36,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2017.</a:t>
            </a:r>
            <a:endParaRPr sz="1300">
              <a:latin typeface="Times New Roman"/>
              <a:cs typeface="Times New Roman"/>
            </a:endParaRPr>
          </a:p>
          <a:p>
            <a:pPr marL="12700" marR="530225" indent="16383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176530" algn="l"/>
              </a:tabLst>
            </a:pPr>
            <a:r>
              <a:rPr dirty="0" sz="1300">
                <a:latin typeface="Times New Roman"/>
                <a:cs typeface="Times New Roman"/>
              </a:rPr>
              <a:t>R.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Kumar,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Singh,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P.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Prabhat,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K.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Singh,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“Crop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selection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yield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prediction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using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machine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multi-</a:t>
            </a:r>
            <a:r>
              <a:rPr dirty="0" sz="1300">
                <a:latin typeface="Times New Roman"/>
                <a:cs typeface="Times New Roman"/>
              </a:rPr>
              <a:t>spectral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soil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50">
                <a:latin typeface="Times New Roman"/>
                <a:cs typeface="Times New Roman"/>
              </a:rPr>
              <a:t>&amp; </a:t>
            </a:r>
            <a:r>
              <a:rPr dirty="0" sz="1300">
                <a:latin typeface="Times New Roman"/>
                <a:cs typeface="Times New Roman"/>
              </a:rPr>
              <a:t>climatic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factors,”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Computers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Electronics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Agriculture, vol.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175,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105584,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2020.</a:t>
            </a:r>
            <a:endParaRPr sz="1300">
              <a:latin typeface="Times New Roman"/>
              <a:cs typeface="Times New Roman"/>
            </a:endParaRPr>
          </a:p>
          <a:p>
            <a:pPr marL="12700" marR="269875" indent="16383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176530" algn="l"/>
              </a:tabLst>
            </a:pPr>
            <a:r>
              <a:rPr dirty="0" sz="1300">
                <a:latin typeface="Times New Roman"/>
                <a:cs typeface="Times New Roman"/>
              </a:rPr>
              <a:t>A.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Sharma,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A.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Jain,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Gupta,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Chouhan,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“Machine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applications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soil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fertilizer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recommendation: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comprehensive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analysis,” </a:t>
            </a:r>
            <a:r>
              <a:rPr dirty="0" sz="1300">
                <a:latin typeface="Times New Roman"/>
                <a:cs typeface="Times New Roman"/>
              </a:rPr>
              <a:t>IEEE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Access,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vol.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9,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pp.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161704–</a:t>
            </a:r>
            <a:r>
              <a:rPr dirty="0" sz="1300">
                <a:latin typeface="Times New Roman"/>
                <a:cs typeface="Times New Roman"/>
              </a:rPr>
              <a:t>161725,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2021.</a:t>
            </a:r>
            <a:endParaRPr sz="1300">
              <a:latin typeface="Times New Roman"/>
              <a:cs typeface="Times New Roman"/>
            </a:endParaRPr>
          </a:p>
          <a:p>
            <a:pPr marL="12700" marR="5080" indent="16383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176530" algn="l"/>
              </a:tabLst>
            </a:pPr>
            <a:r>
              <a:rPr dirty="0" sz="1300">
                <a:latin typeface="Times New Roman"/>
                <a:cs typeface="Times New Roman"/>
              </a:rPr>
              <a:t>P.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S.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Maya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Gopal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R.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Bhargavi,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“Feature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selection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performance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evaluation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machine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algorithms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crop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selection,”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Computers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Electronics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Agriculture, vol.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161,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pp.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115–</a:t>
            </a:r>
            <a:r>
              <a:rPr dirty="0" sz="1300">
                <a:latin typeface="Times New Roman"/>
                <a:cs typeface="Times New Roman"/>
              </a:rPr>
              <a:t>124,</a:t>
            </a:r>
            <a:r>
              <a:rPr dirty="0" sz="1300" spc="-10">
                <a:latin typeface="Times New Roman"/>
                <a:cs typeface="Times New Roman"/>
              </a:rPr>
              <a:t> 2019.</a:t>
            </a:r>
            <a:endParaRPr sz="1300">
              <a:latin typeface="Times New Roman"/>
              <a:cs typeface="Times New Roman"/>
            </a:endParaRPr>
          </a:p>
          <a:p>
            <a:pPr marL="176530" indent="-16383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176530" algn="l"/>
              </a:tabLst>
            </a:pPr>
            <a:r>
              <a:rPr dirty="0" sz="1300">
                <a:latin typeface="Times New Roman"/>
                <a:cs typeface="Times New Roman"/>
              </a:rPr>
              <a:t>S.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P.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Mary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Sasikala,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“Dual-</a:t>
            </a:r>
            <a:r>
              <a:rPr dirty="0" sz="1300">
                <a:latin typeface="Times New Roman"/>
                <a:cs typeface="Times New Roman"/>
              </a:rPr>
              <a:t>stage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decision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support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system for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crop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selection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nutrient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optimization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Indian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agro-</a:t>
            </a:r>
            <a:r>
              <a:rPr dirty="0" sz="1300">
                <a:latin typeface="Times New Roman"/>
                <a:cs typeface="Times New Roman"/>
              </a:rPr>
              <a:t>climatic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zones,”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IEEE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Access,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vol.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10,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pp.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88412–</a:t>
            </a:r>
            <a:r>
              <a:rPr dirty="0" sz="1300">
                <a:latin typeface="Times New Roman"/>
                <a:cs typeface="Times New Roman"/>
              </a:rPr>
              <a:t>88425, </a:t>
            </a:r>
            <a:r>
              <a:rPr dirty="0" sz="1300" spc="-10">
                <a:latin typeface="Times New Roman"/>
                <a:cs typeface="Times New Roman"/>
              </a:rPr>
              <a:t>2022.</a:t>
            </a:r>
            <a:endParaRPr sz="1300">
              <a:latin typeface="Times New Roman"/>
              <a:cs typeface="Times New Roman"/>
            </a:endParaRPr>
          </a:p>
          <a:p>
            <a:pPr marL="176530" indent="-163830">
              <a:lnSpc>
                <a:spcPct val="100000"/>
              </a:lnSpc>
              <a:spcBef>
                <a:spcPts val="505"/>
              </a:spcBef>
              <a:buAutoNum type="arabicPeriod" startAt="6"/>
              <a:tabLst>
                <a:tab pos="176530" algn="l"/>
              </a:tabLst>
            </a:pPr>
            <a:r>
              <a:rPr dirty="0" sz="1300">
                <a:latin typeface="Times New Roman"/>
                <a:cs typeface="Times New Roman"/>
              </a:rPr>
              <a:t>L.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Breiman,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“Random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Forests,”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Machine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Learning,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vol.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45,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no.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1,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pp.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5–</a:t>
            </a:r>
            <a:r>
              <a:rPr dirty="0" sz="1300">
                <a:latin typeface="Times New Roman"/>
                <a:cs typeface="Times New Roman"/>
              </a:rPr>
              <a:t>32,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2001.</a:t>
            </a:r>
            <a:endParaRPr sz="1300">
              <a:latin typeface="Times New Roman"/>
              <a:cs typeface="Times New Roman"/>
            </a:endParaRPr>
          </a:p>
          <a:p>
            <a:pPr marL="176530" indent="-163830">
              <a:lnSpc>
                <a:spcPct val="100000"/>
              </a:lnSpc>
              <a:spcBef>
                <a:spcPts val="505"/>
              </a:spcBef>
              <a:buAutoNum type="arabicPeriod" startAt="6"/>
              <a:tabLst>
                <a:tab pos="176530" algn="l"/>
              </a:tabLst>
            </a:pPr>
            <a:r>
              <a:rPr dirty="0" sz="1300">
                <a:latin typeface="Times New Roman"/>
                <a:cs typeface="Times New Roman"/>
              </a:rPr>
              <a:t>F.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Pedregosa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et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al.,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“Scikit-</a:t>
            </a:r>
            <a:r>
              <a:rPr dirty="0" sz="1300">
                <a:latin typeface="Times New Roman"/>
                <a:cs typeface="Times New Roman"/>
              </a:rPr>
              <a:t>learn: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Machine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Python,”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Journal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Machine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Research,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vol.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12,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pp.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2825–</a:t>
            </a:r>
            <a:r>
              <a:rPr dirty="0" sz="1300">
                <a:latin typeface="Times New Roman"/>
                <a:cs typeface="Times New Roman"/>
              </a:rPr>
              <a:t>2830,</a:t>
            </a:r>
            <a:r>
              <a:rPr dirty="0" sz="1300" spc="-10">
                <a:latin typeface="Times New Roman"/>
                <a:cs typeface="Times New Roman"/>
              </a:rPr>
              <a:t> 2011.</a:t>
            </a:r>
            <a:endParaRPr sz="1300">
              <a:latin typeface="Times New Roman"/>
              <a:cs typeface="Times New Roman"/>
            </a:endParaRPr>
          </a:p>
          <a:p>
            <a:pPr marL="12700" marR="403225" indent="163830">
              <a:lnSpc>
                <a:spcPct val="100000"/>
              </a:lnSpc>
              <a:spcBef>
                <a:spcPts val="490"/>
              </a:spcBef>
              <a:buAutoNum type="arabicPeriod" startAt="6"/>
              <a:tabLst>
                <a:tab pos="176530" algn="l"/>
              </a:tabLst>
            </a:pPr>
            <a:r>
              <a:rPr dirty="0" sz="1300">
                <a:latin typeface="Times New Roman"/>
                <a:cs typeface="Times New Roman"/>
              </a:rPr>
              <a:t>Z.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Diao,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K.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Wang,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F.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Meng,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“Explainable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machine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learning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interpretable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agricultural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decision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support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systems,”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Smart</a:t>
            </a:r>
            <a:r>
              <a:rPr dirty="0" sz="1300" spc="-10">
                <a:latin typeface="Times New Roman"/>
                <a:cs typeface="Times New Roman"/>
              </a:rPr>
              <a:t> Agricultural </a:t>
            </a:r>
            <a:r>
              <a:rPr dirty="0" sz="1300">
                <a:latin typeface="Times New Roman"/>
                <a:cs typeface="Times New Roman"/>
              </a:rPr>
              <a:t>Technology,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vol.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5,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p.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100238,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2023.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919854" y="478028"/>
            <a:ext cx="2133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</a:rPr>
              <a:t>REFERENCES</a:t>
            </a:r>
            <a:r>
              <a:rPr dirty="0" sz="1800" spc="-10">
                <a:solidFill>
                  <a:srgbClr val="000000"/>
                </a:solidFill>
              </a:rPr>
              <a:t>: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1750" y="6327444"/>
            <a:ext cx="69310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RA2411056010276,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RA2411056010283</a:t>
            </a:r>
            <a:r>
              <a:rPr dirty="0" sz="1100" spc="-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| Crop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Recommendation</a:t>
            </a:r>
            <a:r>
              <a:rPr dirty="0" sz="1100" spc="-4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&amp;</a:t>
            </a:r>
            <a:r>
              <a:rPr dirty="0" sz="1100" spc="-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Fertilizer</a:t>
            </a:r>
            <a:r>
              <a:rPr dirty="0" sz="1100" spc="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Prediction</a:t>
            </a:r>
            <a:r>
              <a:rPr dirty="0" sz="1100" spc="15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Using</a:t>
            </a:r>
            <a:r>
              <a:rPr dirty="0" sz="1100" spc="-10" b="1">
                <a:solidFill>
                  <a:srgbClr val="6F6F6F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6F6F6F"/>
                </a:solidFill>
                <a:latin typeface="Cambria"/>
                <a:cs typeface="Cambria"/>
              </a:rPr>
              <a:t>Advanced</a:t>
            </a:r>
            <a:r>
              <a:rPr dirty="0" sz="1100" spc="-25" b="1">
                <a:solidFill>
                  <a:srgbClr val="6F6F6F"/>
                </a:solidFill>
                <a:latin typeface="Cambria"/>
                <a:cs typeface="Cambria"/>
              </a:rPr>
              <a:t> 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02467" y="6426809"/>
            <a:ext cx="175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155" y="231902"/>
            <a:ext cx="1917953" cy="515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21" y="267119"/>
            <a:ext cx="1417955" cy="5404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800" y="1951774"/>
            <a:ext cx="5188331" cy="8875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99564" y="3641588"/>
            <a:ext cx="7891780" cy="113093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AI-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Driven</a:t>
            </a:r>
            <a:r>
              <a:rPr dirty="0" sz="1800" spc="-6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Precision</a:t>
            </a:r>
            <a:r>
              <a:rPr dirty="0" sz="1800" spc="-7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Agriculture: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Crop</a:t>
            </a:r>
            <a:r>
              <a:rPr dirty="0" sz="1800" spc="-6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Recommendation</a:t>
            </a:r>
            <a:r>
              <a:rPr dirty="0" sz="1800" spc="-5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&amp;</a:t>
            </a:r>
            <a:r>
              <a:rPr dirty="0" sz="1800" spc="-60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3863"/>
                </a:solidFill>
                <a:latin typeface="Times New Roman"/>
                <a:cs typeface="Times New Roman"/>
              </a:rPr>
              <a:t>Fertilizer</a:t>
            </a:r>
            <a:r>
              <a:rPr dirty="0" sz="1800" spc="-55" b="1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imes New Roman"/>
                <a:cs typeface="Times New Roman"/>
              </a:rPr>
              <a:t>Prediction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Candidate</a:t>
            </a:r>
            <a:r>
              <a:rPr dirty="0" sz="1400" spc="-6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Names:</a:t>
            </a:r>
            <a:r>
              <a:rPr dirty="0" sz="1400" spc="-2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Debjit</a:t>
            </a:r>
            <a:r>
              <a:rPr dirty="0" sz="1400" spc="-3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Das</a:t>
            </a:r>
            <a:r>
              <a:rPr dirty="0" sz="1400" spc="-3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(RA2411056010276)</a:t>
            </a:r>
            <a:r>
              <a:rPr dirty="0" sz="1400" spc="27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|</a:t>
            </a:r>
            <a:r>
              <a:rPr dirty="0" sz="1400" spc="30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Anshumaan</a:t>
            </a:r>
            <a:r>
              <a:rPr dirty="0" sz="1400" spc="-3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5395"/>
                </a:solidFill>
                <a:latin typeface="Times New Roman"/>
                <a:cs typeface="Times New Roman"/>
              </a:rPr>
              <a:t>Das</a:t>
            </a:r>
            <a:r>
              <a:rPr dirty="0" sz="1400" spc="-3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2D5395"/>
                </a:solidFill>
                <a:latin typeface="Times New Roman"/>
                <a:cs typeface="Times New Roman"/>
              </a:rPr>
              <a:t>(RA2411056010283)</a:t>
            </a:r>
            <a:endParaRPr sz="14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  <a:spcBef>
                <a:spcPts val="400"/>
              </a:spcBef>
            </a:pPr>
            <a:r>
              <a:rPr dirty="0" sz="1300">
                <a:latin typeface="Times New Roman"/>
                <a:cs typeface="Times New Roman"/>
              </a:rPr>
              <a:t>School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Computing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|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SRM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Institute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Science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Technology,</a:t>
            </a:r>
            <a:r>
              <a:rPr dirty="0" sz="1300" spc="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Kattankulathur</a:t>
            </a:r>
            <a:endParaRPr sz="13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  <a:spcBef>
                <a:spcPts val="405"/>
              </a:spcBef>
            </a:pPr>
            <a:r>
              <a:rPr dirty="0" sz="1300" b="1">
                <a:solidFill>
                  <a:srgbClr val="2D5395"/>
                </a:solidFill>
                <a:latin typeface="Times New Roman"/>
                <a:cs typeface="Times New Roman"/>
              </a:rPr>
              <a:t>Project</a:t>
            </a:r>
            <a:r>
              <a:rPr dirty="0" sz="1300" spc="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2D5395"/>
                </a:solidFill>
                <a:latin typeface="Times New Roman"/>
                <a:cs typeface="Times New Roman"/>
              </a:rPr>
              <a:t>GitHub</a:t>
            </a:r>
            <a:r>
              <a:rPr dirty="0" sz="1300" spc="5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2D5395"/>
                </a:solidFill>
                <a:latin typeface="Times New Roman"/>
                <a:cs typeface="Times New Roman"/>
              </a:rPr>
              <a:t>Repository:</a:t>
            </a:r>
            <a:r>
              <a:rPr dirty="0" sz="1300" spc="-10" b="1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2D5395"/>
                </a:solidFill>
                <a:latin typeface="Times New Roman"/>
                <a:cs typeface="Times New Roman"/>
                <a:hlinkClick r:id="rId5"/>
              </a:rPr>
              <a:t>https://github.com/rosdebbu/l-data-seT-</a:t>
            </a:r>
            <a:r>
              <a:rPr dirty="0" sz="1300" b="1">
                <a:solidFill>
                  <a:srgbClr val="2D5395"/>
                </a:solidFill>
                <a:latin typeface="Times New Roman"/>
                <a:cs typeface="Times New Roman"/>
                <a:hlinkClick r:id="rId5"/>
              </a:rPr>
              <a:t>-</a:t>
            </a:r>
            <a:r>
              <a:rPr dirty="0" sz="1300" spc="-10" b="1">
                <a:solidFill>
                  <a:srgbClr val="2D5395"/>
                </a:solidFill>
                <a:latin typeface="Times New Roman"/>
                <a:cs typeface="Times New Roman"/>
                <a:hlinkClick r:id="rId5"/>
              </a:rPr>
              <a:t>-</a:t>
            </a:r>
            <a:r>
              <a:rPr dirty="0" sz="1300" spc="-25" b="1">
                <a:solidFill>
                  <a:srgbClr val="2D5395"/>
                </a:solidFill>
                <a:latin typeface="Times New Roman"/>
                <a:cs typeface="Times New Roman"/>
                <a:hlinkClick r:id="rId5"/>
              </a:rPr>
              <a:t>ML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2026-09-21T09:05:59Z</dcterms:created>
  <dcterms:modified xsi:type="dcterms:W3CDTF">2026-09-21T09:05:59Z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2026-09-21T00:00:00Z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2026-09-21T00:00:00Z</vt:filetime>
  </property>
  <property fmtid="{D5CDD505-2E9C-101B-9397-08002B2CF9AE}" pid="6" name="Producer">
    <vt:lpwstr>Microsoft® PowerPoint® for Microsoft 365</vt:lpwstr>
  </property>
</Properties>
</file>